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présenter le projet et l'équipe. UrbanHub = plateforme qui collecte et analyse les données d'une ville (météo, vélos, pollution). 4 parties, une par type de flux + une analyse croisée.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chacun se présente rapidement avec sa partie. Répartition provisoire, à ajuster.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une Smart City = beaucoup de sources différentes. Le projet reprend les 3 types de flux d'un vrai système Big Data : batch, streaming, 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reprendre le schéma du sujet (sources → ingestion → stockage → traitement → analyse → indicateurs) et dire quel outil on utilise à chaque étape. Annoncer les notions détaillées juste après : Data Lake, Data Warehouse, ELT, OLAP,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tout est dans docker-compose.yaml, une commande suffit. MinIO = Data Lake (un bucket par source : datalake-noaa, datalake-citybikes…), PostgreSQL = Data Warehouse, Metabase = outil de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1 : le Data Lake garde la donnée brute (on ne sait pas encore tout ce qu'on en fera), le Data Warehouse garde la donnée propre et structurée pour l'analyse. Le Lakehouse combine les deux en ajoutant une couche de tables (Delta Lake, Apache Iceberg) au-dessus des fichiers du lac. On ne l'utilise pas, mais MinIO + Iceberg serait l'évolution naturelle.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2 : ETL = Extract, Transform, Load (on transforme avant de charger, approche classique des entrepôts). ELT = Extract, Load, Transform (on charge brut dans le lac, on transforme ensuite). Nos scripts partie 1 et partie 2 font le E et le L ; le T (nettoyage puis chargement dans PostgreSQL) est l'étape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5 : OLTP (OnLine Transaction Processing) = bases qui font tourner un service, optimisées pour plein de petites écritures. OLAP (OnLine Analytical Processing) = bases pensées pour l'analyse, avec de grosses requêtes d'agrégation sur l'historique. La BI est la couche qui présente ces analyses aux décideurs : pour nous, Metabase branché sur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2 : le script partie-1/noaa-download.sh lance 5 copies en parallèle (une par année) depuis le S3 public de la NOAA vers le bucket datalake-noaa. Filtre sur les identifiants de stations françaises (préfixe 07). Reste : extraction et nettoyage.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2 : présenter les 4 questions et la méthode prévue. À remplacer par les vrais résultats (graphiques) une fois le nettoyage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3 : l'API ne donne que l'état actuel, donc on construit l'historique nous-mêmes en interrogeant toutes les 150 s. Script partie-2/citybikes-collector.py : 10 villes, un CSV par ville et par passage, déposé avec curl dans 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3 : montrer une ligne réelle du CSV. Pour les questions : utilisation = mouvements de vélos entre deux relevés, station critique = 0 vélo ou 0 place libre trop souvent. Graphiques à ajouter quand on aura plusieurs jours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4 : partie pas encore commencée. Expliquer le plan : variables sensor_id, pollutant, timestamp, latitude, longitude, value, unit. À compléter avec l'avancement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5 : c'est ici que le Data Warehouse prend tout son sens : les trois sources nettoyées sont rapprochées par ville et par heure dans PostgreSQL (requêtes OLAP), puis présentées dans Metabase (BI). Exemple d'hypothèse : moins de vélos utilisés quand il pleut.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Élève 5 (ou chef de projet) : point d'étape. Mettre à jour les barres avant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élève peut ajouter sa difficulté. Préciser que le bucket public est acceptable en local mais pas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Reprendre la liste des livrables du sujet et dire où on en est pour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secours pour les questions du jury : à garder à l'écran pendant les questions ou à sauter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Lancer la démo : collecteur vélos en direct + bucket MinIO dans la console (localhost:9001).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274320"/>
          </a:xfrm>
          <a:prstGeom prst="rect">
            <a:avLst/>
          </a:prstGeom>
          <a:noFill/>
          <a:ln/>
        </p:spPr>
        <p:txBody>
          <a:bodyPr wrap="square" lIns="0" tIns="0" rIns="0" bIns="0" rtlCol="0" anchor="t"/>
          <a:lstStyle/>
          <a:p>
            <a:pPr indent="0" marL="0">
              <a:buNone/>
            </a:pPr>
            <a:r>
              <a:rPr lang="en-US" sz="1200" b="1" spc="300" kern="0" dirty="0">
                <a:solidFill>
                  <a:srgbClr val="E0A10F"/>
                </a:solidFill>
                <a:latin typeface="Arial" pitchFamily="34" charset="0"/>
                <a:ea typeface="Arial" pitchFamily="34" charset="-122"/>
                <a:cs typeface="Arial" pitchFamily="34" charset="-120"/>
              </a:rPr>
              <a:t>PROJET BIG DATA · SMART CITY</a:t>
            </a:r>
            <a:endParaRPr lang="en-US" sz="1200" dirty="0"/>
          </a:p>
        </p:txBody>
      </p:sp>
      <p:sp>
        <p:nvSpPr>
          <p:cNvPr id="3" name="Text 1"/>
          <p:cNvSpPr txBox="1"/>
          <p:nvPr/>
        </p:nvSpPr>
        <p:spPr>
          <a:xfrm>
            <a:off x="548640" y="960120"/>
            <a:ext cx="8046720" cy="10058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UrbanHub</a:t>
            </a:r>
            <a:endParaRPr lang="en-US" sz="6000" dirty="0"/>
          </a:p>
        </p:txBody>
      </p:sp>
      <p:sp>
        <p:nvSpPr>
          <p:cNvPr id="4" name="Text 2"/>
          <p:cNvSpPr txBox="1"/>
          <p:nvPr/>
        </p:nvSpPr>
        <p:spPr>
          <a:xfrm>
            <a:off x="548640" y="2011680"/>
            <a:ext cx="6949440" cy="685800"/>
          </a:xfrm>
          <a:prstGeom prst="rect">
            <a:avLst/>
          </a:prstGeom>
          <a:noFill/>
          <a:ln/>
        </p:spPr>
        <p:txBody>
          <a:bodyPr wrap="square" lIns="0" tIns="0" rIns="0" bIns="0" rtlCol="0" anchor="t"/>
          <a:lstStyle/>
          <a:p>
            <a:pPr indent="0" marL="0">
              <a:buNone/>
            </a:pPr>
            <a:r>
              <a:rPr lang="en-US" sz="1700" dirty="0">
                <a:solidFill>
                  <a:srgbClr val="AFC0C8"/>
                </a:solidFill>
                <a:latin typeface="Arial" pitchFamily="34" charset="0"/>
                <a:ea typeface="Arial" pitchFamily="34" charset="-122"/>
                <a:cs typeface="Arial" pitchFamily="34" charset="-120"/>
              </a:rPr>
              <a:t>Concevoir un jumeau numérique urbain : collecter, stocker, analyser et exploiter les données d'une ville moderne</a:t>
            </a:r>
            <a:endParaRPr lang="en-US" sz="1700" dirty="0"/>
          </a:p>
        </p:txBody>
      </p:sp>
      <p:sp>
        <p:nvSpPr>
          <p:cNvPr id="5" name="Shape 3"/>
          <p:cNvSpPr/>
          <p:nvPr/>
        </p:nvSpPr>
        <p:spPr>
          <a:xfrm>
            <a:off x="548640" y="3246120"/>
            <a:ext cx="420624" cy="420624"/>
          </a:xfrm>
          <a:prstGeom prst="ellipse">
            <a:avLst/>
          </a:prstGeom>
          <a:solidFill>
            <a:srgbClr val="3A7BD5"/>
          </a:solidFill>
          <a:ln w="12700">
            <a:solidFill>
              <a:srgbClr val="3A7BD5"/>
            </a:solidFill>
            <a:prstDash val="solid"/>
          </a:ln>
        </p:spPr>
      </p:sp>
      <p:sp>
        <p:nvSpPr>
          <p:cNvPr id="6" name="Text 4"/>
          <p:cNvSpPr txBox="1"/>
          <p:nvPr/>
        </p:nvSpPr>
        <p:spPr>
          <a:xfrm>
            <a:off x="548640" y="32461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7" name="Text 5"/>
          <p:cNvSpPr txBox="1"/>
          <p:nvPr/>
        </p:nvSpPr>
        <p:spPr>
          <a:xfrm>
            <a:off x="1060704" y="3246120"/>
            <a:ext cx="1536192"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Batch · Météo</a:t>
            </a:r>
            <a:endParaRPr lang="en-US" sz="1200" dirty="0"/>
          </a:p>
        </p:txBody>
      </p:sp>
      <p:sp>
        <p:nvSpPr>
          <p:cNvPr id="8" name="Shape 6"/>
          <p:cNvSpPr/>
          <p:nvPr/>
        </p:nvSpPr>
        <p:spPr>
          <a:xfrm>
            <a:off x="2606040" y="3246120"/>
            <a:ext cx="420624" cy="420624"/>
          </a:xfrm>
          <a:prstGeom prst="ellipse">
            <a:avLst/>
          </a:prstGeom>
          <a:solidFill>
            <a:srgbClr val="E0A10F"/>
          </a:solidFill>
          <a:ln w="12700">
            <a:solidFill>
              <a:srgbClr val="E0A10F"/>
            </a:solidFill>
            <a:prstDash val="solid"/>
          </a:ln>
        </p:spPr>
      </p:sp>
      <p:sp>
        <p:nvSpPr>
          <p:cNvPr id="9" name="Text 7"/>
          <p:cNvSpPr txBox="1"/>
          <p:nvPr/>
        </p:nvSpPr>
        <p:spPr>
          <a:xfrm>
            <a:off x="2606040" y="32461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0" name="Text 8"/>
          <p:cNvSpPr txBox="1"/>
          <p:nvPr/>
        </p:nvSpPr>
        <p:spPr>
          <a:xfrm>
            <a:off x="3118104" y="3246120"/>
            <a:ext cx="1536192"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Streaming · Vélos</a:t>
            </a:r>
            <a:endParaRPr lang="en-US" sz="1200" dirty="0"/>
          </a:p>
        </p:txBody>
      </p:sp>
      <p:sp>
        <p:nvSpPr>
          <p:cNvPr id="11" name="Shape 9"/>
          <p:cNvSpPr/>
          <p:nvPr/>
        </p:nvSpPr>
        <p:spPr>
          <a:xfrm>
            <a:off x="4663440" y="3246120"/>
            <a:ext cx="420624" cy="420624"/>
          </a:xfrm>
          <a:prstGeom prst="ellipse">
            <a:avLst/>
          </a:prstGeom>
          <a:solidFill>
            <a:srgbClr val="8A5CC2"/>
          </a:solidFill>
          <a:ln w="12700">
            <a:solidFill>
              <a:srgbClr val="8A5CC2"/>
            </a:solidFill>
            <a:prstDash val="solid"/>
          </a:ln>
        </p:spPr>
      </p:sp>
      <p:sp>
        <p:nvSpPr>
          <p:cNvPr id="12" name="Text 10"/>
          <p:cNvSpPr txBox="1"/>
          <p:nvPr/>
        </p:nvSpPr>
        <p:spPr>
          <a:xfrm>
            <a:off x="4663440" y="32461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13" name="Text 11"/>
          <p:cNvSpPr txBox="1"/>
          <p:nvPr/>
        </p:nvSpPr>
        <p:spPr>
          <a:xfrm>
            <a:off x="5175504" y="3246120"/>
            <a:ext cx="1536192"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IoT · Pollution</a:t>
            </a:r>
            <a:endParaRPr lang="en-US" sz="1200" dirty="0"/>
          </a:p>
        </p:txBody>
      </p:sp>
      <p:sp>
        <p:nvSpPr>
          <p:cNvPr id="14" name="Shape 12"/>
          <p:cNvSpPr/>
          <p:nvPr/>
        </p:nvSpPr>
        <p:spPr>
          <a:xfrm>
            <a:off x="6720840" y="3246120"/>
            <a:ext cx="420624" cy="420624"/>
          </a:xfrm>
          <a:prstGeom prst="ellipse">
            <a:avLst/>
          </a:prstGeom>
          <a:solidFill>
            <a:srgbClr val="1C9A8A"/>
          </a:solidFill>
          <a:ln w="12700">
            <a:solidFill>
              <a:srgbClr val="1C9A8A"/>
            </a:solidFill>
            <a:prstDash val="solid"/>
          </a:ln>
        </p:spPr>
      </p:sp>
      <p:sp>
        <p:nvSpPr>
          <p:cNvPr id="15" name="Text 13"/>
          <p:cNvSpPr txBox="1"/>
          <p:nvPr/>
        </p:nvSpPr>
        <p:spPr>
          <a:xfrm>
            <a:off x="6720840" y="32461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16" name="Text 14"/>
          <p:cNvSpPr txBox="1"/>
          <p:nvPr/>
        </p:nvSpPr>
        <p:spPr>
          <a:xfrm>
            <a:off x="7232904" y="3246120"/>
            <a:ext cx="1536192"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Analyse croisée</a:t>
            </a:r>
            <a:endParaRPr lang="en-US" sz="1200" dirty="0"/>
          </a:p>
        </p:txBody>
      </p:sp>
      <p:sp>
        <p:nvSpPr>
          <p:cNvPr id="17" name="Text 15"/>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200" dirty="0">
                <a:solidFill>
                  <a:srgbClr val="AFC0C8"/>
                </a:solidFill>
                <a:latin typeface="Arial" pitchFamily="34" charset="0"/>
                <a:ea typeface="Arial" pitchFamily="34" charset="-122"/>
                <a:cs typeface="Arial" pitchFamily="34" charset="-120"/>
              </a:rPr>
              <a:t>Groupe [nom du groupe] · 5 élèves · [date de la soutenance]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L'ÉQUIPE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Cinq élèves, une partie chacun</a:t>
            </a:r>
            <a:endParaRPr lang="en-US" sz="2600" dirty="0"/>
          </a:p>
        </p:txBody>
      </p:sp>
      <p:sp>
        <p:nvSpPr>
          <p:cNvPr id="4" name="Shape 2"/>
          <p:cNvSpPr/>
          <p:nvPr/>
        </p:nvSpPr>
        <p:spPr>
          <a:xfrm>
            <a:off x="457200" y="1417320"/>
            <a:ext cx="1536192" cy="2606040"/>
          </a:xfrm>
          <a:prstGeom prst="roundRect">
            <a:avLst>
              <a:gd name="adj" fmla="val 4762"/>
            </a:avLst>
          </a:prstGeom>
          <a:solidFill>
            <a:srgbClr val="EEF2F4"/>
          </a:solidFill>
          <a:ln w="12700">
            <a:solidFill>
              <a:srgbClr val="EEF2F4"/>
            </a:solidFill>
            <a:prstDash val="solid"/>
          </a:ln>
        </p:spPr>
      </p:sp>
      <p:sp>
        <p:nvSpPr>
          <p:cNvPr id="5" name="Shape 3"/>
          <p:cNvSpPr/>
          <p:nvPr/>
        </p:nvSpPr>
        <p:spPr>
          <a:xfrm>
            <a:off x="859536" y="1691640"/>
            <a:ext cx="731520" cy="731520"/>
          </a:xfrm>
          <a:prstGeom prst="ellipse">
            <a:avLst/>
          </a:prstGeom>
          <a:solidFill>
            <a:srgbClr val="5B6B74"/>
          </a:solidFill>
          <a:ln w="12700">
            <a:solidFill>
              <a:srgbClr val="5B6B74"/>
            </a:solidFill>
            <a:prstDash val="solid"/>
          </a:ln>
        </p:spPr>
      </p:sp>
      <p:sp>
        <p:nvSpPr>
          <p:cNvPr id="6" name="Text 4"/>
          <p:cNvSpPr txBox="1"/>
          <p:nvPr/>
        </p:nvSpPr>
        <p:spPr>
          <a:xfrm>
            <a:off x="859536" y="1691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É1</a:t>
            </a:r>
            <a:endParaRPr lang="en-US" sz="1600" dirty="0"/>
          </a:p>
        </p:txBody>
      </p:sp>
      <p:sp>
        <p:nvSpPr>
          <p:cNvPr id="7" name="Text 5"/>
          <p:cNvSpPr txBox="1"/>
          <p:nvPr/>
        </p:nvSpPr>
        <p:spPr>
          <a:xfrm>
            <a:off x="548640" y="2560320"/>
            <a:ext cx="1353312" cy="274320"/>
          </a:xfrm>
          <a:prstGeom prst="rect">
            <a:avLst/>
          </a:prstGeom>
          <a:noFill/>
          <a:ln/>
        </p:spPr>
        <p:txBody>
          <a:bodyPr wrap="square" lIns="0" tIns="0" rIns="0" bIns="0" rtlCol="0" anchor="t"/>
          <a:lstStyle/>
          <a:p>
            <a:pPr algn="ctr" indent="0" marL="0">
              <a:buNone/>
            </a:pPr>
            <a:r>
              <a:rPr lang="en-US" sz="1400" b="1" dirty="0">
                <a:solidFill>
                  <a:srgbClr val="16222B"/>
                </a:solidFill>
                <a:latin typeface="Arial" pitchFamily="34" charset="0"/>
                <a:ea typeface="Arial" pitchFamily="34" charset="-122"/>
                <a:cs typeface="Arial" pitchFamily="34" charset="-120"/>
              </a:rPr>
              <a:t>Prénom Nom</a:t>
            </a:r>
            <a:endParaRPr lang="en-US" sz="1400" dirty="0"/>
          </a:p>
        </p:txBody>
      </p:sp>
      <p:sp>
        <p:nvSpPr>
          <p:cNvPr id="8" name="Text 6"/>
          <p:cNvSpPr txBox="1"/>
          <p:nvPr/>
        </p:nvSpPr>
        <p:spPr>
          <a:xfrm>
            <a:off x="548640" y="2880360"/>
            <a:ext cx="1353312" cy="457200"/>
          </a:xfrm>
          <a:prstGeom prst="rect">
            <a:avLst/>
          </a:prstGeom>
          <a:noFill/>
          <a:ln/>
        </p:spPr>
        <p:txBody>
          <a:bodyPr wrap="square" lIns="0" tIns="0" rIns="0" bIns="0" rtlCol="0" anchor="t"/>
          <a:lstStyle/>
          <a:p>
            <a:pPr algn="ctr" indent="0" marL="0">
              <a:buNone/>
            </a:pPr>
            <a:r>
              <a:rPr lang="en-US" sz="1200" b="1" dirty="0">
                <a:solidFill>
                  <a:srgbClr val="5B6B74"/>
                </a:solidFill>
                <a:latin typeface="Arial" pitchFamily="34" charset="0"/>
                <a:ea typeface="Arial" pitchFamily="34" charset="-122"/>
                <a:cs typeface="Arial" pitchFamily="34" charset="-120"/>
              </a:rPr>
              <a:t>Infrastructure</a:t>
            </a:r>
            <a:endParaRPr lang="en-US" sz="1200" dirty="0"/>
          </a:p>
          <a:p>
            <a:pPr algn="ctr" indent="0" marL="0">
              <a:buNone/>
            </a:pPr>
            <a:r>
              <a:rPr lang="en-US" sz="1200" b="1" dirty="0">
                <a:solidFill>
                  <a:srgbClr val="5B6B74"/>
                </a:solidFill>
                <a:latin typeface="Arial" pitchFamily="34" charset="0"/>
                <a:ea typeface="Arial" pitchFamily="34" charset="-122"/>
                <a:cs typeface="Arial" pitchFamily="34" charset="-120"/>
              </a:rPr>
              <a:t>Data Lake</a:t>
            </a:r>
            <a:endParaRPr lang="en-US" sz="1200" dirty="0"/>
          </a:p>
        </p:txBody>
      </p:sp>
      <p:sp>
        <p:nvSpPr>
          <p:cNvPr id="9" name="Text 7"/>
          <p:cNvSpPr txBox="1"/>
          <p:nvPr/>
        </p:nvSpPr>
        <p:spPr>
          <a:xfrm>
            <a:off x="548640" y="3337560"/>
            <a:ext cx="1353312" cy="502920"/>
          </a:xfrm>
          <a:prstGeom prst="rect">
            <a:avLst/>
          </a:prstGeom>
          <a:noFill/>
          <a:ln/>
        </p:spPr>
        <p:txBody>
          <a:bodyPr wrap="square" lIns="0" tIns="0" rIns="0" bIns="0" rtlCol="0" anchor="t"/>
          <a:lstStyle/>
          <a:p>
            <a:pPr algn="ctr" indent="0" marL="0">
              <a:buNone/>
            </a:pPr>
            <a:r>
              <a:rPr lang="en-US" sz="1100" dirty="0">
                <a:solidFill>
                  <a:srgbClr val="5B6B74"/>
                </a:solidFill>
                <a:latin typeface="Arial" pitchFamily="34" charset="0"/>
                <a:ea typeface="Arial" pitchFamily="34" charset="-122"/>
                <a:cs typeface="Arial" pitchFamily="34" charset="-120"/>
              </a:rPr>
              <a:t>Docker, MinIO, PostgreSQL, Metabase</a:t>
            </a:r>
            <a:endParaRPr lang="en-US" sz="1100" dirty="0"/>
          </a:p>
        </p:txBody>
      </p:sp>
      <p:sp>
        <p:nvSpPr>
          <p:cNvPr id="10" name="Shape 8"/>
          <p:cNvSpPr/>
          <p:nvPr/>
        </p:nvSpPr>
        <p:spPr>
          <a:xfrm>
            <a:off x="2130552" y="1417320"/>
            <a:ext cx="1536192" cy="2606040"/>
          </a:xfrm>
          <a:prstGeom prst="roundRect">
            <a:avLst>
              <a:gd name="adj" fmla="val 4762"/>
            </a:avLst>
          </a:prstGeom>
          <a:solidFill>
            <a:srgbClr val="EEF2F4"/>
          </a:solidFill>
          <a:ln w="12700">
            <a:solidFill>
              <a:srgbClr val="EEF2F4"/>
            </a:solidFill>
            <a:prstDash val="solid"/>
          </a:ln>
        </p:spPr>
      </p:sp>
      <p:sp>
        <p:nvSpPr>
          <p:cNvPr id="11" name="Shape 9"/>
          <p:cNvSpPr/>
          <p:nvPr/>
        </p:nvSpPr>
        <p:spPr>
          <a:xfrm>
            <a:off x="2532888" y="1691640"/>
            <a:ext cx="731520" cy="731520"/>
          </a:xfrm>
          <a:prstGeom prst="ellipse">
            <a:avLst/>
          </a:prstGeom>
          <a:solidFill>
            <a:srgbClr val="3A7BD5"/>
          </a:solidFill>
          <a:ln w="12700">
            <a:solidFill>
              <a:srgbClr val="3A7BD5"/>
            </a:solidFill>
            <a:prstDash val="solid"/>
          </a:ln>
        </p:spPr>
      </p:sp>
      <p:sp>
        <p:nvSpPr>
          <p:cNvPr id="12" name="Text 10"/>
          <p:cNvSpPr txBox="1"/>
          <p:nvPr/>
        </p:nvSpPr>
        <p:spPr>
          <a:xfrm>
            <a:off x="2532888" y="1691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É2</a:t>
            </a:r>
            <a:endParaRPr lang="en-US" sz="1600" dirty="0"/>
          </a:p>
        </p:txBody>
      </p:sp>
      <p:sp>
        <p:nvSpPr>
          <p:cNvPr id="13" name="Text 11"/>
          <p:cNvSpPr txBox="1"/>
          <p:nvPr/>
        </p:nvSpPr>
        <p:spPr>
          <a:xfrm>
            <a:off x="2221992" y="2560320"/>
            <a:ext cx="1353312" cy="274320"/>
          </a:xfrm>
          <a:prstGeom prst="rect">
            <a:avLst/>
          </a:prstGeom>
          <a:noFill/>
          <a:ln/>
        </p:spPr>
        <p:txBody>
          <a:bodyPr wrap="square" lIns="0" tIns="0" rIns="0" bIns="0" rtlCol="0" anchor="t"/>
          <a:lstStyle/>
          <a:p>
            <a:pPr algn="ctr" indent="0" marL="0">
              <a:buNone/>
            </a:pPr>
            <a:r>
              <a:rPr lang="en-US" sz="1400" b="1" dirty="0">
                <a:solidFill>
                  <a:srgbClr val="16222B"/>
                </a:solidFill>
                <a:latin typeface="Arial" pitchFamily="34" charset="0"/>
                <a:ea typeface="Arial" pitchFamily="34" charset="-122"/>
                <a:cs typeface="Arial" pitchFamily="34" charset="-120"/>
              </a:rPr>
              <a:t>Prénom Nom</a:t>
            </a:r>
            <a:endParaRPr lang="en-US" sz="1400" dirty="0"/>
          </a:p>
        </p:txBody>
      </p:sp>
      <p:sp>
        <p:nvSpPr>
          <p:cNvPr id="14" name="Text 12"/>
          <p:cNvSpPr txBox="1"/>
          <p:nvPr/>
        </p:nvSpPr>
        <p:spPr>
          <a:xfrm>
            <a:off x="2221992" y="2880360"/>
            <a:ext cx="1353312" cy="457200"/>
          </a:xfrm>
          <a:prstGeom prst="rect">
            <a:avLst/>
          </a:prstGeom>
          <a:noFill/>
          <a:ln/>
        </p:spPr>
        <p:txBody>
          <a:bodyPr wrap="square" lIns="0" tIns="0" rIns="0" bIns="0" rtlCol="0" anchor="t"/>
          <a:lstStyle/>
          <a:p>
            <a:pPr algn="ctr" indent="0" marL="0">
              <a:buNone/>
            </a:pPr>
            <a:r>
              <a:rPr lang="en-US" sz="1200" b="1" dirty="0">
                <a:solidFill>
                  <a:srgbClr val="3A7BD5"/>
                </a:solidFill>
                <a:latin typeface="Arial" pitchFamily="34" charset="0"/>
                <a:ea typeface="Arial" pitchFamily="34" charset="-122"/>
                <a:cs typeface="Arial" pitchFamily="34" charset="-120"/>
              </a:rPr>
              <a:t>Partie 1</a:t>
            </a:r>
            <a:endParaRPr lang="en-US" sz="1200" dirty="0"/>
          </a:p>
          <a:p>
            <a:pPr algn="ctr" indent="0" marL="0">
              <a:buNone/>
            </a:pPr>
            <a:r>
              <a:rPr lang="en-US" sz="1200" b="1" dirty="0">
                <a:solidFill>
                  <a:srgbClr val="3A7BD5"/>
                </a:solidFill>
                <a:latin typeface="Arial" pitchFamily="34" charset="0"/>
                <a:ea typeface="Arial" pitchFamily="34" charset="-122"/>
                <a:cs typeface="Arial" pitchFamily="34" charset="-120"/>
              </a:rPr>
              <a:t>Batch</a:t>
            </a:r>
            <a:endParaRPr lang="en-US" sz="1200" dirty="0"/>
          </a:p>
        </p:txBody>
      </p:sp>
      <p:sp>
        <p:nvSpPr>
          <p:cNvPr id="15" name="Text 13"/>
          <p:cNvSpPr txBox="1"/>
          <p:nvPr/>
        </p:nvSpPr>
        <p:spPr>
          <a:xfrm>
            <a:off x="2221992" y="3337560"/>
            <a:ext cx="1353312" cy="502920"/>
          </a:xfrm>
          <a:prstGeom prst="rect">
            <a:avLst/>
          </a:prstGeom>
          <a:noFill/>
          <a:ln/>
        </p:spPr>
        <p:txBody>
          <a:bodyPr wrap="square" lIns="0" tIns="0" rIns="0" bIns="0" rtlCol="0" anchor="t"/>
          <a:lstStyle/>
          <a:p>
            <a:pPr algn="ctr" indent="0" marL="0">
              <a:buNone/>
            </a:pPr>
            <a:r>
              <a:rPr lang="en-US" sz="1100" dirty="0">
                <a:solidFill>
                  <a:srgbClr val="5B6B74"/>
                </a:solidFill>
                <a:latin typeface="Arial" pitchFamily="34" charset="0"/>
                <a:ea typeface="Arial" pitchFamily="34" charset="-122"/>
                <a:cs typeface="Arial" pitchFamily="34" charset="-120"/>
              </a:rPr>
              <a:t>Données météo NOAA</a:t>
            </a:r>
            <a:endParaRPr lang="en-US" sz="1100" dirty="0"/>
          </a:p>
        </p:txBody>
      </p:sp>
      <p:sp>
        <p:nvSpPr>
          <p:cNvPr id="16" name="Shape 14"/>
          <p:cNvSpPr/>
          <p:nvPr/>
        </p:nvSpPr>
        <p:spPr>
          <a:xfrm>
            <a:off x="3803904" y="1417320"/>
            <a:ext cx="1536192" cy="2606040"/>
          </a:xfrm>
          <a:prstGeom prst="roundRect">
            <a:avLst>
              <a:gd name="adj" fmla="val 4762"/>
            </a:avLst>
          </a:prstGeom>
          <a:solidFill>
            <a:srgbClr val="EEF2F4"/>
          </a:solidFill>
          <a:ln w="12700">
            <a:solidFill>
              <a:srgbClr val="EEF2F4"/>
            </a:solidFill>
            <a:prstDash val="solid"/>
          </a:ln>
        </p:spPr>
      </p:sp>
      <p:sp>
        <p:nvSpPr>
          <p:cNvPr id="17" name="Shape 15"/>
          <p:cNvSpPr/>
          <p:nvPr/>
        </p:nvSpPr>
        <p:spPr>
          <a:xfrm>
            <a:off x="4206240" y="1691640"/>
            <a:ext cx="731520" cy="731520"/>
          </a:xfrm>
          <a:prstGeom prst="ellipse">
            <a:avLst/>
          </a:prstGeom>
          <a:solidFill>
            <a:srgbClr val="E0A10F"/>
          </a:solidFill>
          <a:ln w="12700">
            <a:solidFill>
              <a:srgbClr val="E0A10F"/>
            </a:solidFill>
            <a:prstDash val="solid"/>
          </a:ln>
        </p:spPr>
      </p:sp>
      <p:sp>
        <p:nvSpPr>
          <p:cNvPr id="18" name="Text 16"/>
          <p:cNvSpPr txBox="1"/>
          <p:nvPr/>
        </p:nvSpPr>
        <p:spPr>
          <a:xfrm>
            <a:off x="4206240" y="1691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É3</a:t>
            </a:r>
            <a:endParaRPr lang="en-US" sz="1600" dirty="0"/>
          </a:p>
        </p:txBody>
      </p:sp>
      <p:sp>
        <p:nvSpPr>
          <p:cNvPr id="19" name="Text 17"/>
          <p:cNvSpPr txBox="1"/>
          <p:nvPr/>
        </p:nvSpPr>
        <p:spPr>
          <a:xfrm>
            <a:off x="3895344" y="2560320"/>
            <a:ext cx="1353312" cy="274320"/>
          </a:xfrm>
          <a:prstGeom prst="rect">
            <a:avLst/>
          </a:prstGeom>
          <a:noFill/>
          <a:ln/>
        </p:spPr>
        <p:txBody>
          <a:bodyPr wrap="square" lIns="0" tIns="0" rIns="0" bIns="0" rtlCol="0" anchor="t"/>
          <a:lstStyle/>
          <a:p>
            <a:pPr algn="ctr" indent="0" marL="0">
              <a:buNone/>
            </a:pPr>
            <a:r>
              <a:rPr lang="en-US" sz="1400" b="1" dirty="0">
                <a:solidFill>
                  <a:srgbClr val="16222B"/>
                </a:solidFill>
                <a:latin typeface="Arial" pitchFamily="34" charset="0"/>
                <a:ea typeface="Arial" pitchFamily="34" charset="-122"/>
                <a:cs typeface="Arial" pitchFamily="34" charset="-120"/>
              </a:rPr>
              <a:t>Prénom Nom</a:t>
            </a:r>
            <a:endParaRPr lang="en-US" sz="1400" dirty="0"/>
          </a:p>
        </p:txBody>
      </p:sp>
      <p:sp>
        <p:nvSpPr>
          <p:cNvPr id="20" name="Text 18"/>
          <p:cNvSpPr txBox="1"/>
          <p:nvPr/>
        </p:nvSpPr>
        <p:spPr>
          <a:xfrm>
            <a:off x="3895344" y="2880360"/>
            <a:ext cx="1353312" cy="457200"/>
          </a:xfrm>
          <a:prstGeom prst="rect">
            <a:avLst/>
          </a:prstGeom>
          <a:noFill/>
          <a:ln/>
        </p:spPr>
        <p:txBody>
          <a:bodyPr wrap="square" lIns="0" tIns="0" rIns="0" bIns="0" rtlCol="0" anchor="t"/>
          <a:lstStyle/>
          <a:p>
            <a:pPr algn="ctr" indent="0" marL="0">
              <a:buNone/>
            </a:pPr>
            <a:r>
              <a:rPr lang="en-US" sz="1200" b="1" dirty="0">
                <a:solidFill>
                  <a:srgbClr val="E0A10F"/>
                </a:solidFill>
                <a:latin typeface="Arial" pitchFamily="34" charset="0"/>
                <a:ea typeface="Arial" pitchFamily="34" charset="-122"/>
                <a:cs typeface="Arial" pitchFamily="34" charset="-120"/>
              </a:rPr>
              <a:t>Partie 2</a:t>
            </a:r>
            <a:endParaRPr lang="en-US" sz="1200" dirty="0"/>
          </a:p>
          <a:p>
            <a:pPr algn="ctr" indent="0" marL="0">
              <a:buNone/>
            </a:pPr>
            <a:r>
              <a:rPr lang="en-US" sz="1200" b="1" dirty="0">
                <a:solidFill>
                  <a:srgbClr val="E0A10F"/>
                </a:solidFill>
                <a:latin typeface="Arial" pitchFamily="34" charset="0"/>
                <a:ea typeface="Arial" pitchFamily="34" charset="-122"/>
                <a:cs typeface="Arial" pitchFamily="34" charset="-120"/>
              </a:rPr>
              <a:t>Streaming</a:t>
            </a:r>
            <a:endParaRPr lang="en-US" sz="1200" dirty="0"/>
          </a:p>
        </p:txBody>
      </p:sp>
      <p:sp>
        <p:nvSpPr>
          <p:cNvPr id="21" name="Text 19"/>
          <p:cNvSpPr txBox="1"/>
          <p:nvPr/>
        </p:nvSpPr>
        <p:spPr>
          <a:xfrm>
            <a:off x="3895344" y="3337560"/>
            <a:ext cx="1353312" cy="502920"/>
          </a:xfrm>
          <a:prstGeom prst="rect">
            <a:avLst/>
          </a:prstGeom>
          <a:noFill/>
          <a:ln/>
        </p:spPr>
        <p:txBody>
          <a:bodyPr wrap="square" lIns="0" tIns="0" rIns="0" bIns="0" rtlCol="0" anchor="t"/>
          <a:lstStyle/>
          <a:p>
            <a:pPr algn="ctr" indent="0" marL="0">
              <a:buNone/>
            </a:pPr>
            <a:r>
              <a:rPr lang="en-US" sz="1100" dirty="0">
                <a:solidFill>
                  <a:srgbClr val="5B6B74"/>
                </a:solidFill>
                <a:latin typeface="Arial" pitchFamily="34" charset="0"/>
                <a:ea typeface="Arial" pitchFamily="34" charset="-122"/>
                <a:cs typeface="Arial" pitchFamily="34" charset="-120"/>
              </a:rPr>
              <a:t>Vélos en libre-service</a:t>
            </a:r>
            <a:endParaRPr lang="en-US" sz="1100" dirty="0"/>
          </a:p>
        </p:txBody>
      </p:sp>
      <p:sp>
        <p:nvSpPr>
          <p:cNvPr id="22" name="Shape 20"/>
          <p:cNvSpPr/>
          <p:nvPr/>
        </p:nvSpPr>
        <p:spPr>
          <a:xfrm>
            <a:off x="5477256" y="1417320"/>
            <a:ext cx="1536192" cy="2606040"/>
          </a:xfrm>
          <a:prstGeom prst="roundRect">
            <a:avLst>
              <a:gd name="adj" fmla="val 4762"/>
            </a:avLst>
          </a:prstGeom>
          <a:solidFill>
            <a:srgbClr val="EEF2F4"/>
          </a:solidFill>
          <a:ln w="12700">
            <a:solidFill>
              <a:srgbClr val="EEF2F4"/>
            </a:solidFill>
            <a:prstDash val="solid"/>
          </a:ln>
        </p:spPr>
      </p:sp>
      <p:sp>
        <p:nvSpPr>
          <p:cNvPr id="23" name="Shape 21"/>
          <p:cNvSpPr/>
          <p:nvPr/>
        </p:nvSpPr>
        <p:spPr>
          <a:xfrm>
            <a:off x="5879592" y="1691640"/>
            <a:ext cx="731520" cy="731520"/>
          </a:xfrm>
          <a:prstGeom prst="ellipse">
            <a:avLst/>
          </a:prstGeom>
          <a:solidFill>
            <a:srgbClr val="8A5CC2"/>
          </a:solidFill>
          <a:ln w="12700">
            <a:solidFill>
              <a:srgbClr val="8A5CC2"/>
            </a:solidFill>
            <a:prstDash val="solid"/>
          </a:ln>
        </p:spPr>
      </p:sp>
      <p:sp>
        <p:nvSpPr>
          <p:cNvPr id="24" name="Text 22"/>
          <p:cNvSpPr txBox="1"/>
          <p:nvPr/>
        </p:nvSpPr>
        <p:spPr>
          <a:xfrm>
            <a:off x="5879592" y="1691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É4</a:t>
            </a:r>
            <a:endParaRPr lang="en-US" sz="1600" dirty="0"/>
          </a:p>
        </p:txBody>
      </p:sp>
      <p:sp>
        <p:nvSpPr>
          <p:cNvPr id="25" name="Text 23"/>
          <p:cNvSpPr txBox="1"/>
          <p:nvPr/>
        </p:nvSpPr>
        <p:spPr>
          <a:xfrm>
            <a:off x="5568696" y="2560320"/>
            <a:ext cx="1353312" cy="274320"/>
          </a:xfrm>
          <a:prstGeom prst="rect">
            <a:avLst/>
          </a:prstGeom>
          <a:noFill/>
          <a:ln/>
        </p:spPr>
        <p:txBody>
          <a:bodyPr wrap="square" lIns="0" tIns="0" rIns="0" bIns="0" rtlCol="0" anchor="t"/>
          <a:lstStyle/>
          <a:p>
            <a:pPr algn="ctr" indent="0" marL="0">
              <a:buNone/>
            </a:pPr>
            <a:r>
              <a:rPr lang="en-US" sz="1400" b="1" dirty="0">
                <a:solidFill>
                  <a:srgbClr val="16222B"/>
                </a:solidFill>
                <a:latin typeface="Arial" pitchFamily="34" charset="0"/>
                <a:ea typeface="Arial" pitchFamily="34" charset="-122"/>
                <a:cs typeface="Arial" pitchFamily="34" charset="-120"/>
              </a:rPr>
              <a:t>Prénom Nom</a:t>
            </a:r>
            <a:endParaRPr lang="en-US" sz="1400" dirty="0"/>
          </a:p>
        </p:txBody>
      </p:sp>
      <p:sp>
        <p:nvSpPr>
          <p:cNvPr id="26" name="Text 24"/>
          <p:cNvSpPr txBox="1"/>
          <p:nvPr/>
        </p:nvSpPr>
        <p:spPr>
          <a:xfrm>
            <a:off x="5568696" y="2880360"/>
            <a:ext cx="1353312" cy="457200"/>
          </a:xfrm>
          <a:prstGeom prst="rect">
            <a:avLst/>
          </a:prstGeom>
          <a:noFill/>
          <a:ln/>
        </p:spPr>
        <p:txBody>
          <a:bodyPr wrap="square" lIns="0" tIns="0" rIns="0" bIns="0" rtlCol="0" anchor="t"/>
          <a:lstStyle/>
          <a:p>
            <a:pPr algn="ctr" indent="0" marL="0">
              <a:buNone/>
            </a:pPr>
            <a:r>
              <a:rPr lang="en-US" sz="1200" b="1" dirty="0">
                <a:solidFill>
                  <a:srgbClr val="8A5CC2"/>
                </a:solidFill>
                <a:latin typeface="Arial" pitchFamily="34" charset="0"/>
                <a:ea typeface="Arial" pitchFamily="34" charset="-122"/>
                <a:cs typeface="Arial" pitchFamily="34" charset="-120"/>
              </a:rPr>
              <a:t>Partie 3</a:t>
            </a:r>
            <a:endParaRPr lang="en-US" sz="1200" dirty="0"/>
          </a:p>
          <a:p>
            <a:pPr algn="ctr" indent="0" marL="0">
              <a:buNone/>
            </a:pPr>
            <a:r>
              <a:rPr lang="en-US" sz="1200" b="1" dirty="0">
                <a:solidFill>
                  <a:srgbClr val="8A5CC2"/>
                </a:solidFill>
                <a:latin typeface="Arial" pitchFamily="34" charset="0"/>
                <a:ea typeface="Arial" pitchFamily="34" charset="-122"/>
                <a:cs typeface="Arial" pitchFamily="34" charset="-120"/>
              </a:rPr>
              <a:t>IoT</a:t>
            </a:r>
            <a:endParaRPr lang="en-US" sz="1200" dirty="0"/>
          </a:p>
        </p:txBody>
      </p:sp>
      <p:sp>
        <p:nvSpPr>
          <p:cNvPr id="27" name="Text 25"/>
          <p:cNvSpPr txBox="1"/>
          <p:nvPr/>
        </p:nvSpPr>
        <p:spPr>
          <a:xfrm>
            <a:off x="5568696" y="3337560"/>
            <a:ext cx="1353312" cy="502920"/>
          </a:xfrm>
          <a:prstGeom prst="rect">
            <a:avLst/>
          </a:prstGeom>
          <a:noFill/>
          <a:ln/>
        </p:spPr>
        <p:txBody>
          <a:bodyPr wrap="square" lIns="0" tIns="0" rIns="0" bIns="0" rtlCol="0" anchor="t"/>
          <a:lstStyle/>
          <a:p>
            <a:pPr algn="ctr" indent="0" marL="0">
              <a:buNone/>
            </a:pPr>
            <a:r>
              <a:rPr lang="en-US" sz="1100" dirty="0">
                <a:solidFill>
                  <a:srgbClr val="5B6B74"/>
                </a:solidFill>
                <a:latin typeface="Arial" pitchFamily="34" charset="0"/>
                <a:ea typeface="Arial" pitchFamily="34" charset="-122"/>
                <a:cs typeface="Arial" pitchFamily="34" charset="-120"/>
              </a:rPr>
              <a:t>Capteurs de pollution</a:t>
            </a:r>
            <a:endParaRPr lang="en-US" sz="1100" dirty="0"/>
          </a:p>
        </p:txBody>
      </p:sp>
      <p:sp>
        <p:nvSpPr>
          <p:cNvPr id="28" name="Shape 26"/>
          <p:cNvSpPr/>
          <p:nvPr/>
        </p:nvSpPr>
        <p:spPr>
          <a:xfrm>
            <a:off x="7150608" y="1417320"/>
            <a:ext cx="1536192" cy="2606040"/>
          </a:xfrm>
          <a:prstGeom prst="roundRect">
            <a:avLst>
              <a:gd name="adj" fmla="val 4762"/>
            </a:avLst>
          </a:prstGeom>
          <a:solidFill>
            <a:srgbClr val="EEF2F4"/>
          </a:solidFill>
          <a:ln w="12700">
            <a:solidFill>
              <a:srgbClr val="EEF2F4"/>
            </a:solidFill>
            <a:prstDash val="solid"/>
          </a:ln>
        </p:spPr>
      </p:sp>
      <p:sp>
        <p:nvSpPr>
          <p:cNvPr id="29" name="Shape 27"/>
          <p:cNvSpPr/>
          <p:nvPr/>
        </p:nvSpPr>
        <p:spPr>
          <a:xfrm>
            <a:off x="7552944" y="1691640"/>
            <a:ext cx="731520" cy="731520"/>
          </a:xfrm>
          <a:prstGeom prst="ellipse">
            <a:avLst/>
          </a:prstGeom>
          <a:solidFill>
            <a:srgbClr val="1C9A8A"/>
          </a:solidFill>
          <a:ln w="12700">
            <a:solidFill>
              <a:srgbClr val="1C9A8A"/>
            </a:solidFill>
            <a:prstDash val="solid"/>
          </a:ln>
        </p:spPr>
      </p:sp>
      <p:sp>
        <p:nvSpPr>
          <p:cNvPr id="30" name="Text 28"/>
          <p:cNvSpPr txBox="1"/>
          <p:nvPr/>
        </p:nvSpPr>
        <p:spPr>
          <a:xfrm>
            <a:off x="7552944" y="1691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É5</a:t>
            </a:r>
            <a:endParaRPr lang="en-US" sz="1600" dirty="0"/>
          </a:p>
        </p:txBody>
      </p:sp>
      <p:sp>
        <p:nvSpPr>
          <p:cNvPr id="31" name="Text 29"/>
          <p:cNvSpPr txBox="1"/>
          <p:nvPr/>
        </p:nvSpPr>
        <p:spPr>
          <a:xfrm>
            <a:off x="7242048" y="2560320"/>
            <a:ext cx="1353312" cy="274320"/>
          </a:xfrm>
          <a:prstGeom prst="rect">
            <a:avLst/>
          </a:prstGeom>
          <a:noFill/>
          <a:ln/>
        </p:spPr>
        <p:txBody>
          <a:bodyPr wrap="square" lIns="0" tIns="0" rIns="0" bIns="0" rtlCol="0" anchor="t"/>
          <a:lstStyle/>
          <a:p>
            <a:pPr algn="ctr" indent="0" marL="0">
              <a:buNone/>
            </a:pPr>
            <a:r>
              <a:rPr lang="en-US" sz="1400" b="1" dirty="0">
                <a:solidFill>
                  <a:srgbClr val="16222B"/>
                </a:solidFill>
                <a:latin typeface="Arial" pitchFamily="34" charset="0"/>
                <a:ea typeface="Arial" pitchFamily="34" charset="-122"/>
                <a:cs typeface="Arial" pitchFamily="34" charset="-120"/>
              </a:rPr>
              <a:t>Prénom Nom</a:t>
            </a:r>
            <a:endParaRPr lang="en-US" sz="1400" dirty="0"/>
          </a:p>
        </p:txBody>
      </p:sp>
      <p:sp>
        <p:nvSpPr>
          <p:cNvPr id="32" name="Text 30"/>
          <p:cNvSpPr txBox="1"/>
          <p:nvPr/>
        </p:nvSpPr>
        <p:spPr>
          <a:xfrm>
            <a:off x="7242048" y="2880360"/>
            <a:ext cx="1353312" cy="457200"/>
          </a:xfrm>
          <a:prstGeom prst="rect">
            <a:avLst/>
          </a:prstGeom>
          <a:noFill/>
          <a:ln/>
        </p:spPr>
        <p:txBody>
          <a:bodyPr wrap="square" lIns="0" tIns="0" rIns="0" bIns="0" rtlCol="0" anchor="t"/>
          <a:lstStyle/>
          <a:p>
            <a:pPr algn="ctr" indent="0" marL="0">
              <a:buNone/>
            </a:pPr>
            <a:r>
              <a:rPr lang="en-US" sz="1200" b="1" dirty="0">
                <a:solidFill>
                  <a:srgbClr val="1C9A8A"/>
                </a:solidFill>
                <a:latin typeface="Arial" pitchFamily="34" charset="0"/>
                <a:ea typeface="Arial" pitchFamily="34" charset="-122"/>
                <a:cs typeface="Arial" pitchFamily="34" charset="-120"/>
              </a:rPr>
              <a:t>Partie 4</a:t>
            </a:r>
            <a:endParaRPr lang="en-US" sz="1200" dirty="0"/>
          </a:p>
          <a:p>
            <a:pPr algn="ctr" indent="0" marL="0">
              <a:buNone/>
            </a:pPr>
            <a:r>
              <a:rPr lang="en-US" sz="1200" b="1" dirty="0">
                <a:solidFill>
                  <a:srgbClr val="1C9A8A"/>
                </a:solidFill>
                <a:latin typeface="Arial" pitchFamily="34" charset="0"/>
                <a:ea typeface="Arial" pitchFamily="34" charset="-122"/>
                <a:cs typeface="Arial" pitchFamily="34" charset="-120"/>
              </a:rPr>
              <a:t>Analyse</a:t>
            </a:r>
            <a:endParaRPr lang="en-US" sz="1200" dirty="0"/>
          </a:p>
        </p:txBody>
      </p:sp>
      <p:sp>
        <p:nvSpPr>
          <p:cNvPr id="33" name="Text 31"/>
          <p:cNvSpPr txBox="1"/>
          <p:nvPr/>
        </p:nvSpPr>
        <p:spPr>
          <a:xfrm>
            <a:off x="7242048" y="3337560"/>
            <a:ext cx="1353312" cy="502920"/>
          </a:xfrm>
          <a:prstGeom prst="rect">
            <a:avLst/>
          </a:prstGeom>
          <a:noFill/>
          <a:ln/>
        </p:spPr>
        <p:txBody>
          <a:bodyPr wrap="square" lIns="0" tIns="0" rIns="0" bIns="0" rtlCol="0" anchor="t"/>
          <a:lstStyle/>
          <a:p>
            <a:pPr algn="ctr" indent="0" marL="0">
              <a:buNone/>
            </a:pPr>
            <a:r>
              <a:rPr lang="en-US" sz="1100" dirty="0">
                <a:solidFill>
                  <a:srgbClr val="5B6B74"/>
                </a:solidFill>
                <a:latin typeface="Arial" pitchFamily="34" charset="0"/>
                <a:ea typeface="Arial" pitchFamily="34" charset="-122"/>
                <a:cs typeface="Arial" pitchFamily="34" charset="-120"/>
              </a:rPr>
              <a:t>Croisements &amp; dashboards</a:t>
            </a:r>
            <a:endParaRPr lang="en-US" sz="1100" dirty="0"/>
          </a:p>
        </p:txBody>
      </p:sp>
      <p:sp>
        <p:nvSpPr>
          <p:cNvPr id="34" name="Text 32"/>
          <p:cNvSpPr txBox="1"/>
          <p:nvPr/>
        </p:nvSpPr>
        <p:spPr>
          <a:xfrm>
            <a:off x="457200" y="4251960"/>
            <a:ext cx="8229600" cy="228600"/>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Noms et répartition à adapter</a:t>
            </a:r>
            <a:endParaRPr lang="en-US" sz="1100" dirty="0"/>
          </a:p>
        </p:txBody>
      </p:sp>
      <p:sp>
        <p:nvSpPr>
          <p:cNvPr id="35" name="Text 3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6" name="Text 3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CONTEXTE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Une ville produit des données en permanence</a:t>
            </a:r>
            <a:endParaRPr lang="en-US" sz="2600" dirty="0"/>
          </a:p>
        </p:txBody>
      </p:sp>
      <p:sp>
        <p:nvSpPr>
          <p:cNvPr id="4" name="Text 2"/>
          <p:cNvSpPr txBox="1"/>
          <p:nvPr/>
        </p:nvSpPr>
        <p:spPr>
          <a:xfrm>
            <a:off x="457200" y="1371600"/>
            <a:ext cx="393192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6222B"/>
                </a:solidFill>
                <a:latin typeface="Arial" pitchFamily="34" charset="0"/>
                <a:ea typeface="Arial" pitchFamily="34" charset="-122"/>
                <a:cs typeface="Arial" pitchFamily="34" charset="-120"/>
              </a:rPr>
              <a:t>Capteurs IoT : pollution, bruit, incidents</a:t>
            </a:r>
            <a:endParaRPr lang="en-US" sz="1500" dirty="0"/>
          </a:p>
          <a:p>
            <a:pPr marL="342900" indent="-342900">
              <a:spcAft>
                <a:spcPts val="800"/>
              </a:spcAft>
              <a:buSzPct val="100000"/>
              <a:buChar char="•"/>
            </a:pPr>
            <a:r>
              <a:rPr lang="en-US" sz="1500" dirty="0">
                <a:solidFill>
                  <a:srgbClr val="16222B"/>
                </a:solidFill>
                <a:latin typeface="Arial" pitchFamily="34" charset="0"/>
                <a:ea typeface="Arial" pitchFamily="34" charset="-122"/>
                <a:cs typeface="Arial" pitchFamily="34" charset="-120"/>
              </a:rPr>
              <a:t>Flux de trafic : routier, ferroviaire, mobilité douce</a:t>
            </a:r>
            <a:endParaRPr lang="en-US" sz="1500" dirty="0"/>
          </a:p>
          <a:p>
            <a:pPr marL="342900" indent="-342900">
              <a:spcAft>
                <a:spcPts val="800"/>
              </a:spcAft>
              <a:buSzPct val="100000"/>
              <a:buChar char="•"/>
            </a:pPr>
            <a:r>
              <a:rPr lang="en-US" sz="1500" dirty="0">
                <a:solidFill>
                  <a:srgbClr val="16222B"/>
                </a:solidFill>
                <a:latin typeface="Arial" pitchFamily="34" charset="0"/>
                <a:ea typeface="Arial" pitchFamily="34" charset="-122"/>
                <a:cs typeface="Arial" pitchFamily="34" charset="-120"/>
              </a:rPr>
              <a:t>Données environnementales et météorologiques</a:t>
            </a:r>
            <a:endParaRPr lang="en-US" sz="1500" dirty="0"/>
          </a:p>
          <a:p>
            <a:pPr marL="342900" indent="-342900">
              <a:spcAft>
                <a:spcPts val="800"/>
              </a:spcAft>
              <a:buSzPct val="100000"/>
              <a:buChar char="•"/>
            </a:pPr>
            <a:r>
              <a:rPr lang="en-US" sz="1500" dirty="0">
                <a:solidFill>
                  <a:srgbClr val="16222B"/>
                </a:solidFill>
                <a:latin typeface="Arial" pitchFamily="34" charset="0"/>
                <a:ea typeface="Arial" pitchFamily="34" charset="-122"/>
                <a:cs typeface="Arial" pitchFamily="34" charset="-120"/>
              </a:rPr>
              <a:t>Consommation énergétique, événements urbains…</a:t>
            </a:r>
            <a:endParaRPr lang="en-US" sz="1500" dirty="0"/>
          </a:p>
        </p:txBody>
      </p:sp>
      <p:sp>
        <p:nvSpPr>
          <p:cNvPr id="5" name="Shape 3"/>
          <p:cNvSpPr/>
          <p:nvPr/>
        </p:nvSpPr>
        <p:spPr>
          <a:xfrm>
            <a:off x="457200" y="3383280"/>
            <a:ext cx="3931920" cy="1097280"/>
          </a:xfrm>
          <a:prstGeom prst="roundRect">
            <a:avLst>
              <a:gd name="adj" fmla="val 6667"/>
            </a:avLst>
          </a:prstGeom>
          <a:solidFill>
            <a:srgbClr val="16222B"/>
          </a:solidFill>
          <a:ln w="12700">
            <a:solidFill>
              <a:srgbClr val="16222B"/>
            </a:solidFill>
            <a:prstDash val="solid"/>
          </a:ln>
        </p:spPr>
      </p:sp>
      <p:sp>
        <p:nvSpPr>
          <p:cNvPr id="6" name="Text 4"/>
          <p:cNvSpPr txBox="1"/>
          <p:nvPr/>
        </p:nvSpPr>
        <p:spPr>
          <a:xfrm>
            <a:off x="640080" y="3493008"/>
            <a:ext cx="3566160" cy="868680"/>
          </a:xfrm>
          <a:prstGeom prst="rect">
            <a:avLst/>
          </a:prstGeom>
          <a:noFill/>
          <a:ln/>
        </p:spPr>
        <p:txBody>
          <a:bodyPr wrap="square" lIns="0" tIns="0" rIns="0" bIns="0" rtlCol="0" anchor="ctr"/>
          <a:lstStyle/>
          <a:p>
            <a:pPr indent="0" marL="0">
              <a:buNone/>
            </a:pPr>
            <a:r>
              <a:rPr lang="en-US" sz="1300" b="1" dirty="0">
                <a:solidFill>
                  <a:srgbClr val="E0A10F"/>
                </a:solidFill>
                <a:latin typeface="Arial" pitchFamily="34" charset="0"/>
                <a:ea typeface="Arial" pitchFamily="34" charset="-122"/>
                <a:cs typeface="Arial" pitchFamily="34" charset="-120"/>
              </a:rPr>
              <a:t>Notre objectif : </a:t>
            </a:r>
            <a:pPr indent="0" marL="0">
              <a:buNone/>
            </a:pPr>
            <a:r>
              <a:rPr lang="en-US" sz="1300" dirty="0">
                <a:solidFill>
                  <a:srgbClr val="FFFFFF"/>
                </a:solidFill>
                <a:latin typeface="Arial" pitchFamily="34" charset="0"/>
                <a:ea typeface="Arial" pitchFamily="34" charset="-122"/>
                <a:cs typeface="Arial" pitchFamily="34" charset="-120"/>
              </a:rPr>
              <a:t>construire UrbanHub, une plateforme qui ingère ces données et produit des indicateurs utiles aux décideurs publics.</a:t>
            </a:r>
            <a:endParaRPr lang="en-US" sz="1300" dirty="0"/>
          </a:p>
        </p:txBody>
      </p:sp>
      <p:sp>
        <p:nvSpPr>
          <p:cNvPr id="7" name="Shape 5"/>
          <p:cNvSpPr/>
          <p:nvPr/>
        </p:nvSpPr>
        <p:spPr>
          <a:xfrm>
            <a:off x="4846320" y="1371600"/>
            <a:ext cx="3840480" cy="914400"/>
          </a:xfrm>
          <a:prstGeom prst="roundRect">
            <a:avLst>
              <a:gd name="adj" fmla="val 8000"/>
            </a:avLst>
          </a:prstGeom>
          <a:solidFill>
            <a:srgbClr val="EEF2F4"/>
          </a:solidFill>
          <a:ln w="12700">
            <a:solidFill>
              <a:srgbClr val="EEF2F4"/>
            </a:solidFill>
            <a:prstDash val="solid"/>
          </a:ln>
        </p:spPr>
      </p:sp>
      <p:sp>
        <p:nvSpPr>
          <p:cNvPr id="8" name="Shape 6"/>
          <p:cNvSpPr/>
          <p:nvPr/>
        </p:nvSpPr>
        <p:spPr>
          <a:xfrm>
            <a:off x="5029200" y="1554480"/>
            <a:ext cx="548640" cy="548640"/>
          </a:xfrm>
          <a:prstGeom prst="ellipse">
            <a:avLst/>
          </a:prstGeom>
          <a:solidFill>
            <a:srgbClr val="3A7BD5"/>
          </a:solidFill>
          <a:ln w="12700">
            <a:solidFill>
              <a:srgbClr val="3A7BD5"/>
            </a:solidFill>
            <a:prstDash val="solid"/>
          </a:ln>
        </p:spPr>
      </p:sp>
      <p:sp>
        <p:nvSpPr>
          <p:cNvPr id="9" name="Text 7"/>
          <p:cNvSpPr txBox="1"/>
          <p:nvPr/>
        </p:nvSpPr>
        <p:spPr>
          <a:xfrm>
            <a:off x="502920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5760720" y="1527048"/>
            <a:ext cx="2743200" cy="201168"/>
          </a:xfrm>
          <a:prstGeom prst="rect">
            <a:avLst/>
          </a:prstGeom>
          <a:noFill/>
          <a:ln/>
        </p:spPr>
        <p:txBody>
          <a:bodyPr wrap="square" lIns="0" tIns="0" rIns="0" bIns="0" rtlCol="0" anchor="t"/>
          <a:lstStyle/>
          <a:p>
            <a:pPr indent="0" marL="0">
              <a:buNone/>
            </a:pPr>
            <a:r>
              <a:rPr lang="en-US" sz="1000" b="1" spc="200" kern="0" dirty="0">
                <a:solidFill>
                  <a:srgbClr val="3A7BD5"/>
                </a:solidFill>
                <a:latin typeface="Arial" pitchFamily="34" charset="0"/>
                <a:ea typeface="Arial" pitchFamily="34" charset="-122"/>
                <a:cs typeface="Arial" pitchFamily="34" charset="-120"/>
              </a:rPr>
              <a:t>FLUX 1</a:t>
            </a:r>
            <a:endParaRPr lang="en-US" sz="1000" dirty="0"/>
          </a:p>
        </p:txBody>
      </p:sp>
      <p:sp>
        <p:nvSpPr>
          <p:cNvPr id="11" name="Text 9"/>
          <p:cNvSpPr txBox="1"/>
          <p:nvPr/>
        </p:nvSpPr>
        <p:spPr>
          <a:xfrm>
            <a:off x="5760720" y="1719072"/>
            <a:ext cx="2743200" cy="274320"/>
          </a:xfrm>
          <a:prstGeom prst="rect">
            <a:avLst/>
          </a:prstGeom>
          <a:noFill/>
          <a:ln/>
        </p:spPr>
        <p:txBody>
          <a:bodyPr wrap="square" lIns="0" tIns="0" rIns="0" bIns="0" rtlCol="0" anchor="t"/>
          <a:lstStyle/>
          <a:p>
            <a:pPr indent="0" marL="0">
              <a:buNone/>
            </a:pPr>
            <a:r>
              <a:rPr lang="en-US" sz="1600" b="1" dirty="0">
                <a:solidFill>
                  <a:srgbClr val="16222B"/>
                </a:solidFill>
                <a:latin typeface="Arial" pitchFamily="34" charset="0"/>
                <a:ea typeface="Arial" pitchFamily="34" charset="-122"/>
                <a:cs typeface="Arial" pitchFamily="34" charset="-120"/>
              </a:rPr>
              <a:t>Batch</a:t>
            </a:r>
            <a:endParaRPr lang="en-US" sz="1600" dirty="0"/>
          </a:p>
        </p:txBody>
      </p:sp>
      <p:sp>
        <p:nvSpPr>
          <p:cNvPr id="12" name="Text 10"/>
          <p:cNvSpPr txBox="1"/>
          <p:nvPr/>
        </p:nvSpPr>
        <p:spPr>
          <a:xfrm>
            <a:off x="5760720" y="1975104"/>
            <a:ext cx="2743200" cy="22860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Données historiques massives</a:t>
            </a:r>
            <a:endParaRPr lang="en-US" sz="1200" dirty="0"/>
          </a:p>
        </p:txBody>
      </p:sp>
      <p:sp>
        <p:nvSpPr>
          <p:cNvPr id="13" name="Shape 11"/>
          <p:cNvSpPr/>
          <p:nvPr/>
        </p:nvSpPr>
        <p:spPr>
          <a:xfrm>
            <a:off x="4846320" y="2432304"/>
            <a:ext cx="3840480" cy="914400"/>
          </a:xfrm>
          <a:prstGeom prst="roundRect">
            <a:avLst>
              <a:gd name="adj" fmla="val 8000"/>
            </a:avLst>
          </a:prstGeom>
          <a:solidFill>
            <a:srgbClr val="EEF2F4"/>
          </a:solidFill>
          <a:ln w="12700">
            <a:solidFill>
              <a:srgbClr val="EEF2F4"/>
            </a:solidFill>
            <a:prstDash val="solid"/>
          </a:ln>
        </p:spPr>
      </p:sp>
      <p:sp>
        <p:nvSpPr>
          <p:cNvPr id="14" name="Shape 12"/>
          <p:cNvSpPr/>
          <p:nvPr/>
        </p:nvSpPr>
        <p:spPr>
          <a:xfrm>
            <a:off x="5029200" y="2615184"/>
            <a:ext cx="548640" cy="548640"/>
          </a:xfrm>
          <a:prstGeom prst="ellipse">
            <a:avLst/>
          </a:prstGeom>
          <a:solidFill>
            <a:srgbClr val="E0A10F"/>
          </a:solidFill>
          <a:ln w="12700">
            <a:solidFill>
              <a:srgbClr val="E0A10F"/>
            </a:solidFill>
            <a:prstDash val="solid"/>
          </a:ln>
        </p:spPr>
      </p:sp>
      <p:sp>
        <p:nvSpPr>
          <p:cNvPr id="15" name="Text 13"/>
          <p:cNvSpPr txBox="1"/>
          <p:nvPr/>
        </p:nvSpPr>
        <p:spPr>
          <a:xfrm>
            <a:off x="5029200" y="261518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5760720" y="2587752"/>
            <a:ext cx="2743200" cy="201168"/>
          </a:xfrm>
          <a:prstGeom prst="rect">
            <a:avLst/>
          </a:prstGeom>
          <a:noFill/>
          <a:ln/>
        </p:spPr>
        <p:txBody>
          <a:bodyPr wrap="square" lIns="0" tIns="0" rIns="0" bIns="0" rtlCol="0" anchor="t"/>
          <a:lstStyle/>
          <a:p>
            <a:pPr indent="0" marL="0">
              <a:buNone/>
            </a:pPr>
            <a:r>
              <a:rPr lang="en-US" sz="1000" b="1" spc="200" kern="0" dirty="0">
                <a:solidFill>
                  <a:srgbClr val="E0A10F"/>
                </a:solidFill>
                <a:latin typeface="Arial" pitchFamily="34" charset="0"/>
                <a:ea typeface="Arial" pitchFamily="34" charset="-122"/>
                <a:cs typeface="Arial" pitchFamily="34" charset="-120"/>
              </a:rPr>
              <a:t>FLUX 2</a:t>
            </a:r>
            <a:endParaRPr lang="en-US" sz="1000" dirty="0"/>
          </a:p>
        </p:txBody>
      </p:sp>
      <p:sp>
        <p:nvSpPr>
          <p:cNvPr id="17" name="Text 15"/>
          <p:cNvSpPr txBox="1"/>
          <p:nvPr/>
        </p:nvSpPr>
        <p:spPr>
          <a:xfrm>
            <a:off x="5760720" y="2779776"/>
            <a:ext cx="2743200" cy="274320"/>
          </a:xfrm>
          <a:prstGeom prst="rect">
            <a:avLst/>
          </a:prstGeom>
          <a:noFill/>
          <a:ln/>
        </p:spPr>
        <p:txBody>
          <a:bodyPr wrap="square" lIns="0" tIns="0" rIns="0" bIns="0" rtlCol="0" anchor="t"/>
          <a:lstStyle/>
          <a:p>
            <a:pPr indent="0" marL="0">
              <a:buNone/>
            </a:pPr>
            <a:r>
              <a:rPr lang="en-US" sz="1600" b="1" dirty="0">
                <a:solidFill>
                  <a:srgbClr val="16222B"/>
                </a:solidFill>
                <a:latin typeface="Arial" pitchFamily="34" charset="0"/>
                <a:ea typeface="Arial" pitchFamily="34" charset="-122"/>
                <a:cs typeface="Arial" pitchFamily="34" charset="-120"/>
              </a:rPr>
              <a:t>Streaming</a:t>
            </a:r>
            <a:endParaRPr lang="en-US" sz="1600" dirty="0"/>
          </a:p>
        </p:txBody>
      </p:sp>
      <p:sp>
        <p:nvSpPr>
          <p:cNvPr id="18" name="Text 16"/>
          <p:cNvSpPr txBox="1"/>
          <p:nvPr/>
        </p:nvSpPr>
        <p:spPr>
          <a:xfrm>
            <a:off x="5760720" y="3035808"/>
            <a:ext cx="2743200" cy="22860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Données en temps réel</a:t>
            </a:r>
            <a:endParaRPr lang="en-US" sz="1200" dirty="0"/>
          </a:p>
        </p:txBody>
      </p:sp>
      <p:sp>
        <p:nvSpPr>
          <p:cNvPr id="19" name="Shape 17"/>
          <p:cNvSpPr/>
          <p:nvPr/>
        </p:nvSpPr>
        <p:spPr>
          <a:xfrm>
            <a:off x="4846320" y="3493008"/>
            <a:ext cx="3840480" cy="914400"/>
          </a:xfrm>
          <a:prstGeom prst="roundRect">
            <a:avLst>
              <a:gd name="adj" fmla="val 8000"/>
            </a:avLst>
          </a:prstGeom>
          <a:solidFill>
            <a:srgbClr val="EEF2F4"/>
          </a:solidFill>
          <a:ln w="12700">
            <a:solidFill>
              <a:srgbClr val="EEF2F4"/>
            </a:solidFill>
            <a:prstDash val="solid"/>
          </a:ln>
        </p:spPr>
      </p:sp>
      <p:sp>
        <p:nvSpPr>
          <p:cNvPr id="20" name="Shape 18"/>
          <p:cNvSpPr/>
          <p:nvPr/>
        </p:nvSpPr>
        <p:spPr>
          <a:xfrm>
            <a:off x="5029200" y="3675888"/>
            <a:ext cx="548640" cy="548640"/>
          </a:xfrm>
          <a:prstGeom prst="ellipse">
            <a:avLst/>
          </a:prstGeom>
          <a:solidFill>
            <a:srgbClr val="8A5CC2"/>
          </a:solidFill>
          <a:ln w="12700">
            <a:solidFill>
              <a:srgbClr val="8A5CC2"/>
            </a:solidFill>
            <a:prstDash val="solid"/>
          </a:ln>
        </p:spPr>
      </p:sp>
      <p:sp>
        <p:nvSpPr>
          <p:cNvPr id="21" name="Text 19"/>
          <p:cNvSpPr txBox="1"/>
          <p:nvPr/>
        </p:nvSpPr>
        <p:spPr>
          <a:xfrm>
            <a:off x="5029200" y="36758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20"/>
          <p:cNvSpPr txBox="1"/>
          <p:nvPr/>
        </p:nvSpPr>
        <p:spPr>
          <a:xfrm>
            <a:off x="5760720" y="3648456"/>
            <a:ext cx="2743200" cy="201168"/>
          </a:xfrm>
          <a:prstGeom prst="rect">
            <a:avLst/>
          </a:prstGeom>
          <a:noFill/>
          <a:ln/>
        </p:spPr>
        <p:txBody>
          <a:bodyPr wrap="square" lIns="0" tIns="0" rIns="0" bIns="0" rtlCol="0" anchor="t"/>
          <a:lstStyle/>
          <a:p>
            <a:pPr indent="0" marL="0">
              <a:buNone/>
            </a:pPr>
            <a:r>
              <a:rPr lang="en-US" sz="1000" b="1" spc="200" kern="0" dirty="0">
                <a:solidFill>
                  <a:srgbClr val="8A5CC2"/>
                </a:solidFill>
                <a:latin typeface="Arial" pitchFamily="34" charset="0"/>
                <a:ea typeface="Arial" pitchFamily="34" charset="-122"/>
                <a:cs typeface="Arial" pitchFamily="34" charset="-120"/>
              </a:rPr>
              <a:t>FLUX 3</a:t>
            </a:r>
            <a:endParaRPr lang="en-US" sz="1000" dirty="0"/>
          </a:p>
        </p:txBody>
      </p:sp>
      <p:sp>
        <p:nvSpPr>
          <p:cNvPr id="23" name="Text 21"/>
          <p:cNvSpPr txBox="1"/>
          <p:nvPr/>
        </p:nvSpPr>
        <p:spPr>
          <a:xfrm>
            <a:off x="5760720" y="3840480"/>
            <a:ext cx="2743200" cy="274320"/>
          </a:xfrm>
          <a:prstGeom prst="rect">
            <a:avLst/>
          </a:prstGeom>
          <a:noFill/>
          <a:ln/>
        </p:spPr>
        <p:txBody>
          <a:bodyPr wrap="square" lIns="0" tIns="0" rIns="0" bIns="0" rtlCol="0" anchor="t"/>
          <a:lstStyle/>
          <a:p>
            <a:pPr indent="0" marL="0">
              <a:buNone/>
            </a:pPr>
            <a:r>
              <a:rPr lang="en-US" sz="1600" b="1" dirty="0">
                <a:solidFill>
                  <a:srgbClr val="16222B"/>
                </a:solidFill>
                <a:latin typeface="Arial" pitchFamily="34" charset="0"/>
                <a:ea typeface="Arial" pitchFamily="34" charset="-122"/>
                <a:cs typeface="Arial" pitchFamily="34" charset="-120"/>
              </a:rPr>
              <a:t>IoT</a:t>
            </a:r>
            <a:endParaRPr lang="en-US" sz="1600" dirty="0"/>
          </a:p>
        </p:txBody>
      </p:sp>
      <p:sp>
        <p:nvSpPr>
          <p:cNvPr id="24" name="Text 22"/>
          <p:cNvSpPr txBox="1"/>
          <p:nvPr/>
        </p:nvSpPr>
        <p:spPr>
          <a:xfrm>
            <a:off x="5760720" y="4096512"/>
            <a:ext cx="2743200" cy="22860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Données de capteurs</a:t>
            </a:r>
            <a:endParaRPr lang="en-US" sz="1200" dirty="0"/>
          </a:p>
        </p:txBody>
      </p:sp>
      <p:sp>
        <p:nvSpPr>
          <p:cNvPr id="25" name="Text 2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6" name="Text 2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ARCHITECTURE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Du capteur au tableau de bord, en six étapes</a:t>
            </a:r>
            <a:endParaRPr lang="en-US" sz="2600" dirty="0"/>
          </a:p>
        </p:txBody>
      </p:sp>
      <p:sp>
        <p:nvSpPr>
          <p:cNvPr id="4" name="Shape 2"/>
          <p:cNvSpPr/>
          <p:nvPr/>
        </p:nvSpPr>
        <p:spPr>
          <a:xfrm>
            <a:off x="457200" y="1463040"/>
            <a:ext cx="1234440" cy="1371600"/>
          </a:xfrm>
          <a:prstGeom prst="roundRect">
            <a:avLst>
              <a:gd name="adj" fmla="val 5926"/>
            </a:avLst>
          </a:prstGeom>
          <a:solidFill>
            <a:srgbClr val="EEF2F4"/>
          </a:solidFill>
          <a:ln w="12700">
            <a:solidFill>
              <a:srgbClr val="EEF2F4"/>
            </a:solidFill>
            <a:prstDash val="solid"/>
          </a:ln>
        </p:spPr>
      </p:sp>
      <p:sp>
        <p:nvSpPr>
          <p:cNvPr id="5" name="Text 3"/>
          <p:cNvSpPr txBox="1"/>
          <p:nvPr/>
        </p:nvSpPr>
        <p:spPr>
          <a:xfrm>
            <a:off x="594360" y="1600200"/>
            <a:ext cx="914400" cy="365760"/>
          </a:xfrm>
          <a:prstGeom prst="rect">
            <a:avLst/>
          </a:prstGeom>
          <a:noFill/>
          <a:ln/>
        </p:spPr>
        <p:txBody>
          <a:bodyPr wrap="square" lIns="0" tIns="0" rIns="0" bIns="0" rtlCol="0" anchor="t"/>
          <a:lstStyle/>
          <a:p>
            <a:pPr indent="0" marL="0">
              <a:buNone/>
            </a:pPr>
            <a:r>
              <a:rPr lang="en-US" sz="2200" b="1" dirty="0">
                <a:solidFill>
                  <a:srgbClr val="AFC0C8"/>
                </a:solidFill>
                <a:latin typeface="Arial" pitchFamily="34" charset="0"/>
                <a:ea typeface="Arial" pitchFamily="34" charset="-122"/>
                <a:cs typeface="Arial" pitchFamily="34" charset="-120"/>
              </a:rPr>
              <a:t>01</a:t>
            </a:r>
            <a:endParaRPr lang="en-US" sz="2200" dirty="0"/>
          </a:p>
        </p:txBody>
      </p:sp>
      <p:sp>
        <p:nvSpPr>
          <p:cNvPr id="6" name="Text 4"/>
          <p:cNvSpPr txBox="1"/>
          <p:nvPr/>
        </p:nvSpPr>
        <p:spPr>
          <a:xfrm>
            <a:off x="594360" y="2103120"/>
            <a:ext cx="1005840" cy="32004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Sources</a:t>
            </a:r>
            <a:endParaRPr lang="en-US" sz="1400" dirty="0"/>
          </a:p>
        </p:txBody>
      </p:sp>
      <p:sp>
        <p:nvSpPr>
          <p:cNvPr id="7" name="Text 5"/>
          <p:cNvSpPr txBox="1"/>
          <p:nvPr/>
        </p:nvSpPr>
        <p:spPr>
          <a:xfrm>
            <a:off x="594360"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NOAA · CityBikes · OpenAQ</a:t>
            </a:r>
            <a:endParaRPr lang="en-US" sz="1100" dirty="0"/>
          </a:p>
        </p:txBody>
      </p:sp>
      <p:sp>
        <p:nvSpPr>
          <p:cNvPr id="8" name="Text 6"/>
          <p:cNvSpPr txBox="1"/>
          <p:nvPr/>
        </p:nvSpPr>
        <p:spPr>
          <a:xfrm>
            <a:off x="1691640" y="1874520"/>
            <a:ext cx="164592" cy="457200"/>
          </a:xfrm>
          <a:prstGeom prst="rect">
            <a:avLst/>
          </a:prstGeom>
          <a:noFill/>
          <a:ln/>
        </p:spPr>
        <p:txBody>
          <a:bodyPr wrap="square" lIns="0" tIns="0" rIns="0" bIns="0" rtlCol="0" anchor="t"/>
          <a:lstStyle/>
          <a:p>
            <a:pPr algn="ctr" indent="0" marL="0">
              <a:buNone/>
            </a:pPr>
            <a:r>
              <a:rPr lang="en-US" sz="2200" b="1" dirty="0">
                <a:solidFill>
                  <a:srgbClr val="AFC0C8"/>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1856232" y="1463040"/>
            <a:ext cx="1234440" cy="1371600"/>
          </a:xfrm>
          <a:prstGeom prst="roundRect">
            <a:avLst>
              <a:gd name="adj" fmla="val 5926"/>
            </a:avLst>
          </a:prstGeom>
          <a:solidFill>
            <a:srgbClr val="EEF2F4"/>
          </a:solidFill>
          <a:ln w="12700">
            <a:solidFill>
              <a:srgbClr val="EEF2F4"/>
            </a:solidFill>
            <a:prstDash val="solid"/>
          </a:ln>
        </p:spPr>
      </p:sp>
      <p:sp>
        <p:nvSpPr>
          <p:cNvPr id="10" name="Text 8"/>
          <p:cNvSpPr txBox="1"/>
          <p:nvPr/>
        </p:nvSpPr>
        <p:spPr>
          <a:xfrm>
            <a:off x="1993392" y="1600200"/>
            <a:ext cx="914400" cy="365760"/>
          </a:xfrm>
          <a:prstGeom prst="rect">
            <a:avLst/>
          </a:prstGeom>
          <a:noFill/>
          <a:ln/>
        </p:spPr>
        <p:txBody>
          <a:bodyPr wrap="square" lIns="0" tIns="0" rIns="0" bIns="0" rtlCol="0" anchor="t"/>
          <a:lstStyle/>
          <a:p>
            <a:pPr indent="0" marL="0">
              <a:buNone/>
            </a:pPr>
            <a:r>
              <a:rPr lang="en-US" sz="2200" b="1" dirty="0">
                <a:solidFill>
                  <a:srgbClr val="AFC0C8"/>
                </a:solidFill>
                <a:latin typeface="Arial" pitchFamily="34" charset="0"/>
                <a:ea typeface="Arial" pitchFamily="34" charset="-122"/>
                <a:cs typeface="Arial" pitchFamily="34" charset="-120"/>
              </a:rPr>
              <a:t>02</a:t>
            </a:r>
            <a:endParaRPr lang="en-US" sz="2200" dirty="0"/>
          </a:p>
        </p:txBody>
      </p:sp>
      <p:sp>
        <p:nvSpPr>
          <p:cNvPr id="11" name="Text 9"/>
          <p:cNvSpPr txBox="1"/>
          <p:nvPr/>
        </p:nvSpPr>
        <p:spPr>
          <a:xfrm>
            <a:off x="1993392" y="2103120"/>
            <a:ext cx="1005840" cy="32004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Ingestion</a:t>
            </a:r>
            <a:endParaRPr lang="en-US" sz="1400" dirty="0"/>
          </a:p>
        </p:txBody>
      </p:sp>
      <p:sp>
        <p:nvSpPr>
          <p:cNvPr id="12" name="Text 10"/>
          <p:cNvSpPr txBox="1"/>
          <p:nvPr/>
        </p:nvSpPr>
        <p:spPr>
          <a:xfrm>
            <a:off x="1993392"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mc · curl · Python</a:t>
            </a:r>
            <a:endParaRPr lang="en-US" sz="1100" dirty="0"/>
          </a:p>
        </p:txBody>
      </p:sp>
      <p:sp>
        <p:nvSpPr>
          <p:cNvPr id="13" name="Text 11"/>
          <p:cNvSpPr txBox="1"/>
          <p:nvPr/>
        </p:nvSpPr>
        <p:spPr>
          <a:xfrm>
            <a:off x="3090672" y="1874520"/>
            <a:ext cx="164592" cy="457200"/>
          </a:xfrm>
          <a:prstGeom prst="rect">
            <a:avLst/>
          </a:prstGeom>
          <a:noFill/>
          <a:ln/>
        </p:spPr>
        <p:txBody>
          <a:bodyPr wrap="square" lIns="0" tIns="0" rIns="0" bIns="0" rtlCol="0" anchor="t"/>
          <a:lstStyle/>
          <a:p>
            <a:pPr algn="ctr" indent="0" marL="0">
              <a:buNone/>
            </a:pPr>
            <a:r>
              <a:rPr lang="en-US" sz="2200" b="1" dirty="0">
                <a:solidFill>
                  <a:srgbClr val="AFC0C8"/>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3255264" y="1463040"/>
            <a:ext cx="1234440" cy="1371600"/>
          </a:xfrm>
          <a:prstGeom prst="roundRect">
            <a:avLst>
              <a:gd name="adj" fmla="val 5926"/>
            </a:avLst>
          </a:prstGeom>
          <a:solidFill>
            <a:srgbClr val="16222B"/>
          </a:solidFill>
          <a:ln w="12700">
            <a:solidFill>
              <a:srgbClr val="16222B"/>
            </a:solidFill>
            <a:prstDash val="solid"/>
          </a:ln>
        </p:spPr>
      </p:sp>
      <p:sp>
        <p:nvSpPr>
          <p:cNvPr id="15" name="Text 13"/>
          <p:cNvSpPr txBox="1"/>
          <p:nvPr/>
        </p:nvSpPr>
        <p:spPr>
          <a:xfrm>
            <a:off x="3392424" y="1600200"/>
            <a:ext cx="914400" cy="365760"/>
          </a:xfrm>
          <a:prstGeom prst="rect">
            <a:avLst/>
          </a:prstGeom>
          <a:noFill/>
          <a:ln/>
        </p:spPr>
        <p:txBody>
          <a:bodyPr wrap="square" lIns="0" tIns="0" rIns="0" bIns="0" rtlCol="0" anchor="t"/>
          <a:lstStyle/>
          <a:p>
            <a:pPr indent="0" marL="0">
              <a:buNone/>
            </a:pPr>
            <a:r>
              <a:rPr lang="en-US" sz="2200" b="1" dirty="0">
                <a:solidFill>
                  <a:srgbClr val="E0A10F"/>
                </a:solidFill>
                <a:latin typeface="Arial" pitchFamily="34" charset="0"/>
                <a:ea typeface="Arial" pitchFamily="34" charset="-122"/>
                <a:cs typeface="Arial" pitchFamily="34" charset="-120"/>
              </a:rPr>
              <a:t>03</a:t>
            </a:r>
            <a:endParaRPr lang="en-US" sz="2200" dirty="0"/>
          </a:p>
        </p:txBody>
      </p:sp>
      <p:sp>
        <p:nvSpPr>
          <p:cNvPr id="16" name="Text 14"/>
          <p:cNvSpPr txBox="1"/>
          <p:nvPr/>
        </p:nvSpPr>
        <p:spPr>
          <a:xfrm>
            <a:off x="3392424" y="2103120"/>
            <a:ext cx="100584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Stockage</a:t>
            </a:r>
            <a:endParaRPr lang="en-US" sz="1400" dirty="0"/>
          </a:p>
        </p:txBody>
      </p:sp>
      <p:sp>
        <p:nvSpPr>
          <p:cNvPr id="17" name="Text 15"/>
          <p:cNvSpPr txBox="1"/>
          <p:nvPr/>
        </p:nvSpPr>
        <p:spPr>
          <a:xfrm>
            <a:off x="3392424"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Data Lake MinIO</a:t>
            </a:r>
            <a:endParaRPr lang="en-US" sz="1100" dirty="0"/>
          </a:p>
        </p:txBody>
      </p:sp>
      <p:sp>
        <p:nvSpPr>
          <p:cNvPr id="18" name="Text 16"/>
          <p:cNvSpPr txBox="1"/>
          <p:nvPr/>
        </p:nvSpPr>
        <p:spPr>
          <a:xfrm>
            <a:off x="4489704" y="1874520"/>
            <a:ext cx="164592" cy="457200"/>
          </a:xfrm>
          <a:prstGeom prst="rect">
            <a:avLst/>
          </a:prstGeom>
          <a:noFill/>
          <a:ln/>
        </p:spPr>
        <p:txBody>
          <a:bodyPr wrap="square" lIns="0" tIns="0" rIns="0" bIns="0" rtlCol="0" anchor="t"/>
          <a:lstStyle/>
          <a:p>
            <a:pPr algn="ctr" indent="0" marL="0">
              <a:buNone/>
            </a:pPr>
            <a:r>
              <a:rPr lang="en-US" sz="2200" b="1" dirty="0">
                <a:solidFill>
                  <a:srgbClr val="AFC0C8"/>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4654296" y="1463040"/>
            <a:ext cx="1234440" cy="1371600"/>
          </a:xfrm>
          <a:prstGeom prst="roundRect">
            <a:avLst>
              <a:gd name="adj" fmla="val 5926"/>
            </a:avLst>
          </a:prstGeom>
          <a:solidFill>
            <a:srgbClr val="EEF2F4"/>
          </a:solidFill>
          <a:ln w="12700">
            <a:solidFill>
              <a:srgbClr val="EEF2F4"/>
            </a:solidFill>
            <a:prstDash val="solid"/>
          </a:ln>
        </p:spPr>
      </p:sp>
      <p:sp>
        <p:nvSpPr>
          <p:cNvPr id="20" name="Text 18"/>
          <p:cNvSpPr txBox="1"/>
          <p:nvPr/>
        </p:nvSpPr>
        <p:spPr>
          <a:xfrm>
            <a:off x="4791456" y="1600200"/>
            <a:ext cx="914400" cy="365760"/>
          </a:xfrm>
          <a:prstGeom prst="rect">
            <a:avLst/>
          </a:prstGeom>
          <a:noFill/>
          <a:ln/>
        </p:spPr>
        <p:txBody>
          <a:bodyPr wrap="square" lIns="0" tIns="0" rIns="0" bIns="0" rtlCol="0" anchor="t"/>
          <a:lstStyle/>
          <a:p>
            <a:pPr indent="0" marL="0">
              <a:buNone/>
            </a:pPr>
            <a:r>
              <a:rPr lang="en-US" sz="2200" b="1" dirty="0">
                <a:solidFill>
                  <a:srgbClr val="AFC0C8"/>
                </a:solidFill>
                <a:latin typeface="Arial" pitchFamily="34" charset="0"/>
                <a:ea typeface="Arial" pitchFamily="34" charset="-122"/>
                <a:cs typeface="Arial" pitchFamily="34" charset="-120"/>
              </a:rPr>
              <a:t>04</a:t>
            </a:r>
            <a:endParaRPr lang="en-US" sz="2200" dirty="0"/>
          </a:p>
        </p:txBody>
      </p:sp>
      <p:sp>
        <p:nvSpPr>
          <p:cNvPr id="21" name="Text 19"/>
          <p:cNvSpPr txBox="1"/>
          <p:nvPr/>
        </p:nvSpPr>
        <p:spPr>
          <a:xfrm>
            <a:off x="4791456" y="2103120"/>
            <a:ext cx="1005840" cy="32004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Traitement</a:t>
            </a:r>
            <a:endParaRPr lang="en-US" sz="1400" dirty="0"/>
          </a:p>
        </p:txBody>
      </p:sp>
      <p:sp>
        <p:nvSpPr>
          <p:cNvPr id="22" name="Text 20"/>
          <p:cNvSpPr txBox="1"/>
          <p:nvPr/>
        </p:nvSpPr>
        <p:spPr>
          <a:xfrm>
            <a:off x="4791456"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Python (nettoyage)</a:t>
            </a:r>
            <a:endParaRPr lang="en-US" sz="1100" dirty="0"/>
          </a:p>
        </p:txBody>
      </p:sp>
      <p:sp>
        <p:nvSpPr>
          <p:cNvPr id="23" name="Text 21"/>
          <p:cNvSpPr txBox="1"/>
          <p:nvPr/>
        </p:nvSpPr>
        <p:spPr>
          <a:xfrm>
            <a:off x="5888736" y="1874520"/>
            <a:ext cx="164592" cy="457200"/>
          </a:xfrm>
          <a:prstGeom prst="rect">
            <a:avLst/>
          </a:prstGeom>
          <a:noFill/>
          <a:ln/>
        </p:spPr>
        <p:txBody>
          <a:bodyPr wrap="square" lIns="0" tIns="0" rIns="0" bIns="0" rtlCol="0" anchor="t"/>
          <a:lstStyle/>
          <a:p>
            <a:pPr algn="ctr" indent="0" marL="0">
              <a:buNone/>
            </a:pPr>
            <a:r>
              <a:rPr lang="en-US" sz="2200" b="1" dirty="0">
                <a:solidFill>
                  <a:srgbClr val="AFC0C8"/>
                </a:solidFill>
                <a:latin typeface="Arial" pitchFamily="34" charset="0"/>
                <a:ea typeface="Arial" pitchFamily="34" charset="-122"/>
                <a:cs typeface="Arial" pitchFamily="34" charset="-120"/>
              </a:rPr>
              <a:t>›</a:t>
            </a:r>
            <a:endParaRPr lang="en-US" sz="2200" dirty="0"/>
          </a:p>
        </p:txBody>
      </p:sp>
      <p:sp>
        <p:nvSpPr>
          <p:cNvPr id="24" name="Shape 22"/>
          <p:cNvSpPr/>
          <p:nvPr/>
        </p:nvSpPr>
        <p:spPr>
          <a:xfrm>
            <a:off x="6053328" y="1463040"/>
            <a:ext cx="1234440" cy="1371600"/>
          </a:xfrm>
          <a:prstGeom prst="roundRect">
            <a:avLst>
              <a:gd name="adj" fmla="val 5926"/>
            </a:avLst>
          </a:prstGeom>
          <a:solidFill>
            <a:srgbClr val="EEF2F4"/>
          </a:solidFill>
          <a:ln w="12700">
            <a:solidFill>
              <a:srgbClr val="EEF2F4"/>
            </a:solidFill>
            <a:prstDash val="solid"/>
          </a:ln>
        </p:spPr>
      </p:sp>
      <p:sp>
        <p:nvSpPr>
          <p:cNvPr id="25" name="Text 23"/>
          <p:cNvSpPr txBox="1"/>
          <p:nvPr/>
        </p:nvSpPr>
        <p:spPr>
          <a:xfrm>
            <a:off x="6190488" y="1600200"/>
            <a:ext cx="914400" cy="365760"/>
          </a:xfrm>
          <a:prstGeom prst="rect">
            <a:avLst/>
          </a:prstGeom>
          <a:noFill/>
          <a:ln/>
        </p:spPr>
        <p:txBody>
          <a:bodyPr wrap="square" lIns="0" tIns="0" rIns="0" bIns="0" rtlCol="0" anchor="t"/>
          <a:lstStyle/>
          <a:p>
            <a:pPr indent="0" marL="0">
              <a:buNone/>
            </a:pPr>
            <a:r>
              <a:rPr lang="en-US" sz="2200" b="1" dirty="0">
                <a:solidFill>
                  <a:srgbClr val="AFC0C8"/>
                </a:solidFill>
                <a:latin typeface="Arial" pitchFamily="34" charset="0"/>
                <a:ea typeface="Arial" pitchFamily="34" charset="-122"/>
                <a:cs typeface="Arial" pitchFamily="34" charset="-120"/>
              </a:rPr>
              <a:t>05</a:t>
            </a:r>
            <a:endParaRPr lang="en-US" sz="2200" dirty="0"/>
          </a:p>
        </p:txBody>
      </p:sp>
      <p:sp>
        <p:nvSpPr>
          <p:cNvPr id="26" name="Text 24"/>
          <p:cNvSpPr txBox="1"/>
          <p:nvPr/>
        </p:nvSpPr>
        <p:spPr>
          <a:xfrm>
            <a:off x="6190488" y="2103120"/>
            <a:ext cx="1005840" cy="32004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Analyse</a:t>
            </a:r>
            <a:endParaRPr lang="en-US" sz="1400" dirty="0"/>
          </a:p>
        </p:txBody>
      </p:sp>
      <p:sp>
        <p:nvSpPr>
          <p:cNvPr id="27" name="Text 25"/>
          <p:cNvSpPr txBox="1"/>
          <p:nvPr/>
        </p:nvSpPr>
        <p:spPr>
          <a:xfrm>
            <a:off x="6190488"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Data Warehouse PostgreSQL</a:t>
            </a:r>
            <a:endParaRPr lang="en-US" sz="1100" dirty="0"/>
          </a:p>
        </p:txBody>
      </p:sp>
      <p:sp>
        <p:nvSpPr>
          <p:cNvPr id="28" name="Text 26"/>
          <p:cNvSpPr txBox="1"/>
          <p:nvPr/>
        </p:nvSpPr>
        <p:spPr>
          <a:xfrm>
            <a:off x="7287768" y="1874520"/>
            <a:ext cx="164592" cy="457200"/>
          </a:xfrm>
          <a:prstGeom prst="rect">
            <a:avLst/>
          </a:prstGeom>
          <a:noFill/>
          <a:ln/>
        </p:spPr>
        <p:txBody>
          <a:bodyPr wrap="square" lIns="0" tIns="0" rIns="0" bIns="0" rtlCol="0" anchor="t"/>
          <a:lstStyle/>
          <a:p>
            <a:pPr algn="ctr" indent="0" marL="0">
              <a:buNone/>
            </a:pPr>
            <a:r>
              <a:rPr lang="en-US" sz="2200" b="1" dirty="0">
                <a:solidFill>
                  <a:srgbClr val="AFC0C8"/>
                </a:solidFill>
                <a:latin typeface="Arial" pitchFamily="34" charset="0"/>
                <a:ea typeface="Arial" pitchFamily="34" charset="-122"/>
                <a:cs typeface="Arial" pitchFamily="34" charset="-120"/>
              </a:rPr>
              <a:t>›</a:t>
            </a:r>
            <a:endParaRPr lang="en-US" sz="2200" dirty="0"/>
          </a:p>
        </p:txBody>
      </p:sp>
      <p:sp>
        <p:nvSpPr>
          <p:cNvPr id="29" name="Shape 27"/>
          <p:cNvSpPr/>
          <p:nvPr/>
        </p:nvSpPr>
        <p:spPr>
          <a:xfrm>
            <a:off x="7452360" y="1463040"/>
            <a:ext cx="1234440" cy="1371600"/>
          </a:xfrm>
          <a:prstGeom prst="roundRect">
            <a:avLst>
              <a:gd name="adj" fmla="val 5926"/>
            </a:avLst>
          </a:prstGeom>
          <a:solidFill>
            <a:srgbClr val="EEF2F4"/>
          </a:solidFill>
          <a:ln w="12700">
            <a:solidFill>
              <a:srgbClr val="EEF2F4"/>
            </a:solidFill>
            <a:prstDash val="solid"/>
          </a:ln>
        </p:spPr>
      </p:sp>
      <p:sp>
        <p:nvSpPr>
          <p:cNvPr id="30" name="Text 28"/>
          <p:cNvSpPr txBox="1"/>
          <p:nvPr/>
        </p:nvSpPr>
        <p:spPr>
          <a:xfrm>
            <a:off x="7589520" y="1600200"/>
            <a:ext cx="914400" cy="365760"/>
          </a:xfrm>
          <a:prstGeom prst="rect">
            <a:avLst/>
          </a:prstGeom>
          <a:noFill/>
          <a:ln/>
        </p:spPr>
        <p:txBody>
          <a:bodyPr wrap="square" lIns="0" tIns="0" rIns="0" bIns="0" rtlCol="0" anchor="t"/>
          <a:lstStyle/>
          <a:p>
            <a:pPr indent="0" marL="0">
              <a:buNone/>
            </a:pPr>
            <a:r>
              <a:rPr lang="en-US" sz="2200" b="1" dirty="0">
                <a:solidFill>
                  <a:srgbClr val="AFC0C8"/>
                </a:solidFill>
                <a:latin typeface="Arial" pitchFamily="34" charset="0"/>
                <a:ea typeface="Arial" pitchFamily="34" charset="-122"/>
                <a:cs typeface="Arial" pitchFamily="34" charset="-120"/>
              </a:rPr>
              <a:t>06</a:t>
            </a:r>
            <a:endParaRPr lang="en-US" sz="2200" dirty="0"/>
          </a:p>
        </p:txBody>
      </p:sp>
      <p:sp>
        <p:nvSpPr>
          <p:cNvPr id="31" name="Text 29"/>
          <p:cNvSpPr txBox="1"/>
          <p:nvPr/>
        </p:nvSpPr>
        <p:spPr>
          <a:xfrm>
            <a:off x="7589520" y="2103120"/>
            <a:ext cx="1005840" cy="32004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Indicateurs</a:t>
            </a:r>
            <a:endParaRPr lang="en-US" sz="1400" dirty="0"/>
          </a:p>
        </p:txBody>
      </p:sp>
      <p:sp>
        <p:nvSpPr>
          <p:cNvPr id="32" name="Text 30"/>
          <p:cNvSpPr txBox="1"/>
          <p:nvPr/>
        </p:nvSpPr>
        <p:spPr>
          <a:xfrm>
            <a:off x="7589520" y="3017520"/>
            <a:ext cx="1097280" cy="5486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BI : Metabase</a:t>
            </a:r>
            <a:endParaRPr lang="en-US" sz="1100" dirty="0"/>
          </a:p>
        </p:txBody>
      </p:sp>
      <p:sp>
        <p:nvSpPr>
          <p:cNvPr id="33" name="Shape 31"/>
          <p:cNvSpPr/>
          <p:nvPr/>
        </p:nvSpPr>
        <p:spPr>
          <a:xfrm>
            <a:off x="457200" y="3840480"/>
            <a:ext cx="8229600" cy="685800"/>
          </a:xfrm>
          <a:prstGeom prst="roundRect">
            <a:avLst>
              <a:gd name="adj" fmla="val 10667"/>
            </a:avLst>
          </a:prstGeom>
          <a:solidFill>
            <a:srgbClr val="EEF2F4"/>
          </a:solidFill>
          <a:ln w="12700">
            <a:solidFill>
              <a:srgbClr val="EEF2F4"/>
            </a:solidFill>
            <a:prstDash val="solid"/>
          </a:ln>
        </p:spPr>
      </p:sp>
      <p:sp>
        <p:nvSpPr>
          <p:cNvPr id="34" name="Text 32"/>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Pipeline ELT : </a:t>
            </a:r>
            <a:pPr indent="0" marL="0">
              <a:buNone/>
            </a:pPr>
            <a:r>
              <a:rPr lang="en-US" sz="1300" dirty="0">
                <a:solidFill>
                  <a:srgbClr val="16222B"/>
                </a:solidFill>
                <a:latin typeface="Arial" pitchFamily="34" charset="0"/>
                <a:ea typeface="Arial" pitchFamily="34" charset="-122"/>
                <a:cs typeface="Arial" pitchFamily="34" charset="-120"/>
              </a:rPr>
              <a:t>on extrait les données, on les charge brutes dans le Data Lake, puis on les transforme vers le Data Warehouse, exploité par la BI.</a:t>
            </a:r>
            <a:endParaRPr lang="en-US" sz="1300" dirty="0"/>
          </a:p>
        </p:txBody>
      </p:sp>
      <p:sp>
        <p:nvSpPr>
          <p:cNvPr id="35" name="Text 3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6" name="Text 3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5B6B74"/>
                </a:solidFill>
                <a:latin typeface="Arial" pitchFamily="34" charset="0"/>
                <a:ea typeface="Arial" pitchFamily="34" charset="-122"/>
                <a:cs typeface="Arial" pitchFamily="34" charset="-120"/>
              </a:rPr>
              <a:t>INFRASTRUCTURE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Trois services lancés avec Docker</a:t>
            </a:r>
            <a:endParaRPr lang="en-US" sz="2600" dirty="0"/>
          </a:p>
        </p:txBody>
      </p:sp>
      <p:sp>
        <p:nvSpPr>
          <p:cNvPr id="4" name="Shape 2"/>
          <p:cNvSpPr/>
          <p:nvPr/>
        </p:nvSpPr>
        <p:spPr>
          <a:xfrm>
            <a:off x="457200" y="1371600"/>
            <a:ext cx="2606040" cy="2331720"/>
          </a:xfrm>
          <a:prstGeom prst="roundRect">
            <a:avLst>
              <a:gd name="adj" fmla="val 3137"/>
            </a:avLst>
          </a:prstGeom>
          <a:solidFill>
            <a:srgbClr val="EEF2F4"/>
          </a:solidFill>
          <a:ln w="12700">
            <a:solidFill>
              <a:srgbClr val="EEF2F4"/>
            </a:solidFill>
            <a:prstDash val="solid"/>
          </a:ln>
        </p:spPr>
      </p:sp>
      <p:sp>
        <p:nvSpPr>
          <p:cNvPr id="5" name="Text 3"/>
          <p:cNvSpPr txBox="1"/>
          <p:nvPr/>
        </p:nvSpPr>
        <p:spPr>
          <a:xfrm>
            <a:off x="685800" y="1554480"/>
            <a:ext cx="2148840" cy="201168"/>
          </a:xfrm>
          <a:prstGeom prst="rect">
            <a:avLst/>
          </a:prstGeom>
          <a:noFill/>
          <a:ln/>
        </p:spPr>
        <p:txBody>
          <a:bodyPr wrap="square" lIns="0" tIns="0" rIns="0" bIns="0" rtlCol="0" anchor="t"/>
          <a:lstStyle/>
          <a:p>
            <a:pPr indent="0" marL="0">
              <a:buNone/>
            </a:pPr>
            <a:r>
              <a:rPr lang="en-US" sz="1000" b="1" spc="200" kern="0" dirty="0">
                <a:solidFill>
                  <a:srgbClr val="E0A10F"/>
                </a:solidFill>
                <a:latin typeface="Arial" pitchFamily="34" charset="0"/>
                <a:ea typeface="Arial" pitchFamily="34" charset="-122"/>
                <a:cs typeface="Arial" pitchFamily="34" charset="-120"/>
              </a:rPr>
              <a:t>DATA LAKE</a:t>
            </a:r>
            <a:endParaRPr lang="en-US" sz="1000" dirty="0"/>
          </a:p>
        </p:txBody>
      </p:sp>
      <p:sp>
        <p:nvSpPr>
          <p:cNvPr id="6" name="Text 4"/>
          <p:cNvSpPr txBox="1"/>
          <p:nvPr/>
        </p:nvSpPr>
        <p:spPr>
          <a:xfrm>
            <a:off x="685800" y="1783080"/>
            <a:ext cx="2148840" cy="365760"/>
          </a:xfrm>
          <a:prstGeom prst="rect">
            <a:avLst/>
          </a:prstGeom>
          <a:noFill/>
          <a:ln/>
        </p:spPr>
        <p:txBody>
          <a:bodyPr wrap="square" lIns="0" tIns="0" rIns="0" bIns="0" rtlCol="0" anchor="t"/>
          <a:lstStyle/>
          <a:p>
            <a:pPr indent="0" marL="0">
              <a:buNone/>
            </a:pPr>
            <a:r>
              <a:rPr lang="en-US" sz="2000" b="1" dirty="0">
                <a:solidFill>
                  <a:srgbClr val="16222B"/>
                </a:solidFill>
                <a:latin typeface="Arial" pitchFamily="34" charset="0"/>
                <a:ea typeface="Arial" pitchFamily="34" charset="-122"/>
                <a:cs typeface="Arial" pitchFamily="34" charset="-120"/>
              </a:rPr>
              <a:t>MinIO</a:t>
            </a:r>
            <a:endParaRPr lang="en-US" sz="2000" dirty="0"/>
          </a:p>
        </p:txBody>
      </p:sp>
      <p:sp>
        <p:nvSpPr>
          <p:cNvPr id="7" name="Text 5"/>
          <p:cNvSpPr txBox="1"/>
          <p:nvPr/>
        </p:nvSpPr>
        <p:spPr>
          <a:xfrm>
            <a:off x="685800" y="2240280"/>
            <a:ext cx="2148840" cy="86868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Stockage de fichiers compatible S3, comme un Google Drive installé chez nous.</a:t>
            </a:r>
            <a:endParaRPr lang="en-US" sz="1200" dirty="0"/>
          </a:p>
        </p:txBody>
      </p:sp>
      <p:sp>
        <p:nvSpPr>
          <p:cNvPr id="8" name="Text 6"/>
          <p:cNvSpPr txBox="1"/>
          <p:nvPr/>
        </p:nvSpPr>
        <p:spPr>
          <a:xfrm>
            <a:off x="685800" y="3291840"/>
            <a:ext cx="2148840" cy="228600"/>
          </a:xfrm>
          <a:prstGeom prst="rect">
            <a:avLst/>
          </a:prstGeom>
          <a:noFill/>
          <a:ln/>
        </p:spPr>
        <p:txBody>
          <a:bodyPr wrap="square" lIns="0" tIns="0" rIns="0" bIns="0" rtlCol="0" anchor="t"/>
          <a:lstStyle/>
          <a:p>
            <a:pPr indent="0" marL="0">
              <a:buNone/>
            </a:pPr>
            <a:r>
              <a:rPr lang="en-US" sz="1100" dirty="0">
                <a:solidFill>
                  <a:srgbClr val="16222B"/>
                </a:solidFill>
                <a:latin typeface="Courier New" pitchFamily="34" charset="0"/>
                <a:ea typeface="Courier New" pitchFamily="34" charset="-122"/>
                <a:cs typeface="Courier New" pitchFamily="34" charset="-120"/>
              </a:rPr>
              <a:t>localhost:9000 · console 9001</a:t>
            </a:r>
            <a:endParaRPr lang="en-US" sz="1100" dirty="0"/>
          </a:p>
        </p:txBody>
      </p:sp>
      <p:sp>
        <p:nvSpPr>
          <p:cNvPr id="9" name="Shape 7"/>
          <p:cNvSpPr/>
          <p:nvPr/>
        </p:nvSpPr>
        <p:spPr>
          <a:xfrm>
            <a:off x="3273552" y="1371600"/>
            <a:ext cx="2606040" cy="2331720"/>
          </a:xfrm>
          <a:prstGeom prst="roundRect">
            <a:avLst>
              <a:gd name="adj" fmla="val 3137"/>
            </a:avLst>
          </a:prstGeom>
          <a:solidFill>
            <a:srgbClr val="EEF2F4"/>
          </a:solidFill>
          <a:ln w="12700">
            <a:solidFill>
              <a:srgbClr val="EEF2F4"/>
            </a:solidFill>
            <a:prstDash val="solid"/>
          </a:ln>
        </p:spPr>
      </p:sp>
      <p:sp>
        <p:nvSpPr>
          <p:cNvPr id="10" name="Text 8"/>
          <p:cNvSpPr txBox="1"/>
          <p:nvPr/>
        </p:nvSpPr>
        <p:spPr>
          <a:xfrm>
            <a:off x="3502152" y="1554480"/>
            <a:ext cx="2148840" cy="201168"/>
          </a:xfrm>
          <a:prstGeom prst="rect">
            <a:avLst/>
          </a:prstGeom>
          <a:noFill/>
          <a:ln/>
        </p:spPr>
        <p:txBody>
          <a:bodyPr wrap="square" lIns="0" tIns="0" rIns="0" bIns="0" rtlCol="0" anchor="t"/>
          <a:lstStyle/>
          <a:p>
            <a:pPr indent="0" marL="0">
              <a:buNone/>
            </a:pPr>
            <a:r>
              <a:rPr lang="en-US" sz="1000" b="1" spc="200" kern="0" dirty="0">
                <a:solidFill>
                  <a:srgbClr val="3A7BD5"/>
                </a:solidFill>
                <a:latin typeface="Arial" pitchFamily="34" charset="0"/>
                <a:ea typeface="Arial" pitchFamily="34" charset="-122"/>
                <a:cs typeface="Arial" pitchFamily="34" charset="-120"/>
              </a:rPr>
              <a:t>DATA WAREHOUSE</a:t>
            </a:r>
            <a:endParaRPr lang="en-US" sz="1000" dirty="0"/>
          </a:p>
        </p:txBody>
      </p:sp>
      <p:sp>
        <p:nvSpPr>
          <p:cNvPr id="11" name="Text 9"/>
          <p:cNvSpPr txBox="1"/>
          <p:nvPr/>
        </p:nvSpPr>
        <p:spPr>
          <a:xfrm>
            <a:off x="3502152" y="1783080"/>
            <a:ext cx="2148840" cy="365760"/>
          </a:xfrm>
          <a:prstGeom prst="rect">
            <a:avLst/>
          </a:prstGeom>
          <a:noFill/>
          <a:ln/>
        </p:spPr>
        <p:txBody>
          <a:bodyPr wrap="square" lIns="0" tIns="0" rIns="0" bIns="0" rtlCol="0" anchor="t"/>
          <a:lstStyle/>
          <a:p>
            <a:pPr indent="0" marL="0">
              <a:buNone/>
            </a:pPr>
            <a:r>
              <a:rPr lang="en-US" sz="2000" b="1" dirty="0">
                <a:solidFill>
                  <a:srgbClr val="16222B"/>
                </a:solidFill>
                <a:latin typeface="Arial" pitchFamily="34" charset="0"/>
                <a:ea typeface="Arial" pitchFamily="34" charset="-122"/>
                <a:cs typeface="Arial" pitchFamily="34" charset="-120"/>
              </a:rPr>
              <a:t>PostgreSQL 17</a:t>
            </a:r>
            <a:endParaRPr lang="en-US" sz="2000" dirty="0"/>
          </a:p>
        </p:txBody>
      </p:sp>
      <p:sp>
        <p:nvSpPr>
          <p:cNvPr id="12" name="Text 10"/>
          <p:cNvSpPr txBox="1"/>
          <p:nvPr/>
        </p:nvSpPr>
        <p:spPr>
          <a:xfrm>
            <a:off x="3502152" y="2240280"/>
            <a:ext cx="2148840" cy="86868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Entrepôt de données : tables nettoyées, prêtes pour les requêtes d'analyse (OLAP).</a:t>
            </a:r>
            <a:endParaRPr lang="en-US" sz="1200" dirty="0"/>
          </a:p>
        </p:txBody>
      </p:sp>
      <p:sp>
        <p:nvSpPr>
          <p:cNvPr id="13" name="Text 11"/>
          <p:cNvSpPr txBox="1"/>
          <p:nvPr/>
        </p:nvSpPr>
        <p:spPr>
          <a:xfrm>
            <a:off x="3502152" y="3291840"/>
            <a:ext cx="2148840" cy="228600"/>
          </a:xfrm>
          <a:prstGeom prst="rect">
            <a:avLst/>
          </a:prstGeom>
          <a:noFill/>
          <a:ln/>
        </p:spPr>
        <p:txBody>
          <a:bodyPr wrap="square" lIns="0" tIns="0" rIns="0" bIns="0" rtlCol="0" anchor="t"/>
          <a:lstStyle/>
          <a:p>
            <a:pPr indent="0" marL="0">
              <a:buNone/>
            </a:pPr>
            <a:r>
              <a:rPr lang="en-US" sz="1100" dirty="0">
                <a:solidFill>
                  <a:srgbClr val="16222B"/>
                </a:solidFill>
                <a:latin typeface="Courier New" pitchFamily="34" charset="0"/>
                <a:ea typeface="Courier New" pitchFamily="34" charset="-122"/>
                <a:cs typeface="Courier New" pitchFamily="34" charset="-120"/>
              </a:rPr>
              <a:t>localhost:5432</a:t>
            </a:r>
            <a:endParaRPr lang="en-US" sz="1100" dirty="0"/>
          </a:p>
        </p:txBody>
      </p:sp>
      <p:sp>
        <p:nvSpPr>
          <p:cNvPr id="14" name="Shape 12"/>
          <p:cNvSpPr/>
          <p:nvPr/>
        </p:nvSpPr>
        <p:spPr>
          <a:xfrm>
            <a:off x="6089904" y="1371600"/>
            <a:ext cx="2606040" cy="2331720"/>
          </a:xfrm>
          <a:prstGeom prst="roundRect">
            <a:avLst>
              <a:gd name="adj" fmla="val 3137"/>
            </a:avLst>
          </a:prstGeom>
          <a:solidFill>
            <a:srgbClr val="EEF2F4"/>
          </a:solidFill>
          <a:ln w="12700">
            <a:solidFill>
              <a:srgbClr val="EEF2F4"/>
            </a:solidFill>
            <a:prstDash val="solid"/>
          </a:ln>
        </p:spPr>
      </p:sp>
      <p:sp>
        <p:nvSpPr>
          <p:cNvPr id="15" name="Text 13"/>
          <p:cNvSpPr txBox="1"/>
          <p:nvPr/>
        </p:nvSpPr>
        <p:spPr>
          <a:xfrm>
            <a:off x="6318504" y="1554480"/>
            <a:ext cx="2148840" cy="201168"/>
          </a:xfrm>
          <a:prstGeom prst="rect">
            <a:avLst/>
          </a:prstGeom>
          <a:noFill/>
          <a:ln/>
        </p:spPr>
        <p:txBody>
          <a:bodyPr wrap="square" lIns="0" tIns="0" rIns="0" bIns="0" rtlCol="0" anchor="t"/>
          <a:lstStyle/>
          <a:p>
            <a:pPr indent="0" marL="0">
              <a:buNone/>
            </a:pPr>
            <a:r>
              <a:rPr lang="en-US" sz="1000" b="1" spc="200" kern="0" dirty="0">
                <a:solidFill>
                  <a:srgbClr val="1C9A8A"/>
                </a:solidFill>
                <a:latin typeface="Arial" pitchFamily="34" charset="0"/>
                <a:ea typeface="Arial" pitchFamily="34" charset="-122"/>
                <a:cs typeface="Arial" pitchFamily="34" charset="-120"/>
              </a:rPr>
              <a:t>BI</a:t>
            </a:r>
            <a:endParaRPr lang="en-US" sz="1000" dirty="0"/>
          </a:p>
        </p:txBody>
      </p:sp>
      <p:sp>
        <p:nvSpPr>
          <p:cNvPr id="16" name="Text 14"/>
          <p:cNvSpPr txBox="1"/>
          <p:nvPr/>
        </p:nvSpPr>
        <p:spPr>
          <a:xfrm>
            <a:off x="6318504" y="1783080"/>
            <a:ext cx="2148840" cy="365760"/>
          </a:xfrm>
          <a:prstGeom prst="rect">
            <a:avLst/>
          </a:prstGeom>
          <a:noFill/>
          <a:ln/>
        </p:spPr>
        <p:txBody>
          <a:bodyPr wrap="square" lIns="0" tIns="0" rIns="0" bIns="0" rtlCol="0" anchor="t"/>
          <a:lstStyle/>
          <a:p>
            <a:pPr indent="0" marL="0">
              <a:buNone/>
            </a:pPr>
            <a:r>
              <a:rPr lang="en-US" sz="2000" b="1" dirty="0">
                <a:solidFill>
                  <a:srgbClr val="16222B"/>
                </a:solidFill>
                <a:latin typeface="Arial" pitchFamily="34" charset="0"/>
                <a:ea typeface="Arial" pitchFamily="34" charset="-122"/>
                <a:cs typeface="Arial" pitchFamily="34" charset="-120"/>
              </a:rPr>
              <a:t>Metabase</a:t>
            </a:r>
            <a:endParaRPr lang="en-US" sz="2000" dirty="0"/>
          </a:p>
        </p:txBody>
      </p:sp>
      <p:sp>
        <p:nvSpPr>
          <p:cNvPr id="17" name="Text 15"/>
          <p:cNvSpPr txBox="1"/>
          <p:nvPr/>
        </p:nvSpPr>
        <p:spPr>
          <a:xfrm>
            <a:off x="6318504" y="2240280"/>
            <a:ext cx="2148840" cy="86868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Outil de Business Intelligence : tableaux de bord branchés sur PostgreSQL, sans coder.</a:t>
            </a:r>
            <a:endParaRPr lang="en-US" sz="1200" dirty="0"/>
          </a:p>
        </p:txBody>
      </p:sp>
      <p:sp>
        <p:nvSpPr>
          <p:cNvPr id="18" name="Text 16"/>
          <p:cNvSpPr txBox="1"/>
          <p:nvPr/>
        </p:nvSpPr>
        <p:spPr>
          <a:xfrm>
            <a:off x="6318504" y="3291840"/>
            <a:ext cx="2148840" cy="228600"/>
          </a:xfrm>
          <a:prstGeom prst="rect">
            <a:avLst/>
          </a:prstGeom>
          <a:noFill/>
          <a:ln/>
        </p:spPr>
        <p:txBody>
          <a:bodyPr wrap="square" lIns="0" tIns="0" rIns="0" bIns="0" rtlCol="0" anchor="t"/>
          <a:lstStyle/>
          <a:p>
            <a:pPr indent="0" marL="0">
              <a:buNone/>
            </a:pPr>
            <a:r>
              <a:rPr lang="en-US" sz="1100" dirty="0">
                <a:solidFill>
                  <a:srgbClr val="16222B"/>
                </a:solidFill>
                <a:latin typeface="Courier New" pitchFamily="34" charset="0"/>
                <a:ea typeface="Courier New" pitchFamily="34" charset="-122"/>
                <a:cs typeface="Courier New" pitchFamily="34" charset="-120"/>
              </a:rPr>
              <a:t>localhost:3000</a:t>
            </a:r>
            <a:endParaRPr lang="en-US" sz="1100" dirty="0"/>
          </a:p>
        </p:txBody>
      </p:sp>
      <p:sp>
        <p:nvSpPr>
          <p:cNvPr id="19" name="Shape 17"/>
          <p:cNvSpPr/>
          <p:nvPr/>
        </p:nvSpPr>
        <p:spPr>
          <a:xfrm>
            <a:off x="457200" y="3931920"/>
            <a:ext cx="8229600" cy="566928"/>
          </a:xfrm>
          <a:prstGeom prst="roundRect">
            <a:avLst>
              <a:gd name="adj" fmla="val 12903"/>
            </a:avLst>
          </a:prstGeom>
          <a:solidFill>
            <a:srgbClr val="16222B"/>
          </a:solidFill>
          <a:ln w="12700">
            <a:solidFill>
              <a:srgbClr val="16222B"/>
            </a:solidFill>
            <a:prstDash val="solid"/>
          </a:ln>
        </p:spPr>
      </p:sp>
      <p:sp>
        <p:nvSpPr>
          <p:cNvPr id="20" name="Text 18"/>
          <p:cNvSpPr txBox="1"/>
          <p:nvPr/>
        </p:nvSpPr>
        <p:spPr>
          <a:xfrm>
            <a:off x="685800" y="3931920"/>
            <a:ext cx="7772400" cy="566928"/>
          </a:xfrm>
          <a:prstGeom prst="rect">
            <a:avLst/>
          </a:prstGeom>
          <a:noFill/>
          <a:ln/>
        </p:spPr>
        <p:txBody>
          <a:bodyPr wrap="square" lIns="0" tIns="0" rIns="0" bIns="0" rtlCol="0" anchor="ctr"/>
          <a:lstStyle/>
          <a:p>
            <a:pPr indent="0" marL="0">
              <a:buNone/>
            </a:pPr>
            <a:r>
              <a:rPr lang="en-US" sz="1300" b="1" dirty="0">
                <a:solidFill>
                  <a:srgbClr val="E0A10F"/>
                </a:solidFill>
                <a:latin typeface="Courier New" pitchFamily="34" charset="0"/>
                <a:ea typeface="Courier New" pitchFamily="34" charset="-122"/>
                <a:cs typeface="Courier New" pitchFamily="34" charset="-120"/>
              </a:rPr>
              <a:t>$ docker compose up -d</a:t>
            </a:r>
            <a:pPr indent="0" marL="0">
              <a:buNone/>
            </a:pPr>
            <a:r>
              <a:rPr lang="en-US" sz="1300" dirty="0">
                <a:solidFill>
                  <a:srgbClr val="FFFFFF"/>
                </a:solidFill>
                <a:latin typeface="Arial" pitchFamily="34" charset="0"/>
                <a:ea typeface="Arial" pitchFamily="34" charset="-122"/>
                <a:cs typeface="Arial" pitchFamily="34" charset="-120"/>
              </a:rPr>
              <a:t>    → les trois services démarrent sur le même réseau</a:t>
            </a:r>
            <a:endParaRPr lang="en-US" sz="1300" dirty="0"/>
          </a:p>
        </p:txBody>
      </p:sp>
      <p:sp>
        <p:nvSpPr>
          <p:cNvPr id="21" name="Text 19"/>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2" name="Text 20"/>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NOTIONS CLÉS · STOCKAGE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Data Lake, Data Warehouse, Lakehouse</a:t>
            </a:r>
            <a:endParaRPr lang="en-US" sz="2600" dirty="0"/>
          </a:p>
        </p:txBody>
      </p:sp>
      <p:sp>
        <p:nvSpPr>
          <p:cNvPr id="4" name="Shape 2"/>
          <p:cNvSpPr/>
          <p:nvPr/>
        </p:nvSpPr>
        <p:spPr>
          <a:xfrm>
            <a:off x="457200" y="1325880"/>
            <a:ext cx="2606040" cy="3246120"/>
          </a:xfrm>
          <a:prstGeom prst="roundRect">
            <a:avLst>
              <a:gd name="adj" fmla="val 2807"/>
            </a:avLst>
          </a:prstGeom>
          <a:solidFill>
            <a:srgbClr val="EEF2F4"/>
          </a:solidFill>
          <a:ln w="12700">
            <a:solidFill>
              <a:srgbClr val="EEF2F4"/>
            </a:solidFill>
            <a:prstDash val="solid"/>
          </a:ln>
        </p:spPr>
      </p:sp>
      <p:sp>
        <p:nvSpPr>
          <p:cNvPr id="5" name="Text 3"/>
          <p:cNvSpPr txBox="1"/>
          <p:nvPr/>
        </p:nvSpPr>
        <p:spPr>
          <a:xfrm>
            <a:off x="658368" y="1490472"/>
            <a:ext cx="2203704" cy="347472"/>
          </a:xfrm>
          <a:prstGeom prst="rect">
            <a:avLst/>
          </a:prstGeom>
          <a:noFill/>
          <a:ln/>
        </p:spPr>
        <p:txBody>
          <a:bodyPr wrap="square" lIns="0" tIns="0" rIns="0" bIns="0" rtlCol="0" anchor="t"/>
          <a:lstStyle/>
          <a:p>
            <a:pPr indent="0" marL="0">
              <a:buNone/>
            </a:pPr>
            <a:r>
              <a:rPr lang="en-US" sz="1800" b="1" dirty="0">
                <a:solidFill>
                  <a:srgbClr val="E0A10F"/>
                </a:solidFill>
                <a:latin typeface="Arial" pitchFamily="34" charset="0"/>
                <a:ea typeface="Arial" pitchFamily="34" charset="-122"/>
                <a:cs typeface="Arial" pitchFamily="34" charset="-120"/>
              </a:rPr>
              <a:t>Data Lake</a:t>
            </a:r>
            <a:endParaRPr lang="en-US" sz="1800" dirty="0"/>
          </a:p>
        </p:txBody>
      </p:sp>
      <p:sp>
        <p:nvSpPr>
          <p:cNvPr id="6" name="Text 4"/>
          <p:cNvSpPr txBox="1"/>
          <p:nvPr/>
        </p:nvSpPr>
        <p:spPr>
          <a:xfrm>
            <a:off x="658368" y="1856232"/>
            <a:ext cx="2203704" cy="411480"/>
          </a:xfrm>
          <a:prstGeom prst="rect">
            <a:avLst/>
          </a:prstGeom>
          <a:noFill/>
          <a:ln/>
        </p:spPr>
        <p:txBody>
          <a:bodyPr wrap="square" lIns="0" tIns="0" rIns="0" bIns="0" rtlCol="0" anchor="t"/>
          <a:lstStyle/>
          <a:p>
            <a:pPr indent="0" marL="0">
              <a:buNone/>
            </a:pPr>
            <a:r>
              <a:rPr lang="en-US" sz="1200" i="1" dirty="0">
                <a:solidFill>
                  <a:srgbClr val="16222B"/>
                </a:solidFill>
                <a:latin typeface="Arial" pitchFamily="34" charset="0"/>
                <a:ea typeface="Arial" pitchFamily="34" charset="-122"/>
                <a:cs typeface="Arial" pitchFamily="34" charset="-120"/>
              </a:rPr>
              <a:t>Le grenier : on garde tout, tel quel</a:t>
            </a:r>
            <a:endParaRPr lang="en-US" sz="1200" dirty="0"/>
          </a:p>
        </p:txBody>
      </p:sp>
      <p:sp>
        <p:nvSpPr>
          <p:cNvPr id="7" name="Text 5"/>
          <p:cNvSpPr txBox="1"/>
          <p:nvPr/>
        </p:nvSpPr>
        <p:spPr>
          <a:xfrm>
            <a:off x="658368" y="2350008"/>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DONNÉES</a:t>
            </a:r>
            <a:endParaRPr lang="en-US" sz="900" dirty="0"/>
          </a:p>
        </p:txBody>
      </p:sp>
      <p:sp>
        <p:nvSpPr>
          <p:cNvPr id="8" name="Text 6"/>
          <p:cNvSpPr txBox="1"/>
          <p:nvPr/>
        </p:nvSpPr>
        <p:spPr>
          <a:xfrm>
            <a:off x="658368" y="2532888"/>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Brutes, tous formats (CSV, JSON, logs…), sans schéma imposé</a:t>
            </a:r>
            <a:endParaRPr lang="en-US" sz="1100" dirty="0"/>
          </a:p>
        </p:txBody>
      </p:sp>
      <p:sp>
        <p:nvSpPr>
          <p:cNvPr id="9" name="Text 7"/>
          <p:cNvSpPr txBox="1"/>
          <p:nvPr/>
        </p:nvSpPr>
        <p:spPr>
          <a:xfrm>
            <a:off x="658368" y="3108960"/>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POUR</a:t>
            </a:r>
            <a:endParaRPr lang="en-US" sz="900" dirty="0"/>
          </a:p>
        </p:txBody>
      </p:sp>
      <p:sp>
        <p:nvSpPr>
          <p:cNvPr id="10" name="Text 8"/>
          <p:cNvSpPr txBox="1"/>
          <p:nvPr/>
        </p:nvSpPr>
        <p:spPr>
          <a:xfrm>
            <a:off x="658368" y="3291840"/>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Stocker beaucoup, pas cher, sans décider à l'avance de l'usage</a:t>
            </a:r>
            <a:endParaRPr lang="en-US" sz="1100" dirty="0"/>
          </a:p>
        </p:txBody>
      </p:sp>
      <p:sp>
        <p:nvSpPr>
          <p:cNvPr id="11" name="Shape 9"/>
          <p:cNvSpPr/>
          <p:nvPr/>
        </p:nvSpPr>
        <p:spPr>
          <a:xfrm>
            <a:off x="658368" y="4023360"/>
            <a:ext cx="2203704" cy="365760"/>
          </a:xfrm>
          <a:prstGeom prst="roundRect">
            <a:avLst>
              <a:gd name="adj" fmla="val 15000"/>
            </a:avLst>
          </a:prstGeom>
          <a:solidFill>
            <a:srgbClr val="16222B"/>
          </a:solidFill>
          <a:ln w="12700">
            <a:solidFill>
              <a:srgbClr val="16222B"/>
            </a:solidFill>
            <a:prstDash val="solid"/>
          </a:ln>
        </p:spPr>
      </p:sp>
      <p:sp>
        <p:nvSpPr>
          <p:cNvPr id="12" name="Text 10"/>
          <p:cNvSpPr txBox="1"/>
          <p:nvPr/>
        </p:nvSpPr>
        <p:spPr>
          <a:xfrm>
            <a:off x="768096" y="4023360"/>
            <a:ext cx="2057400" cy="365760"/>
          </a:xfrm>
          <a:prstGeom prst="rect">
            <a:avLst/>
          </a:prstGeom>
          <a:noFill/>
          <a:ln/>
        </p:spPr>
        <p:txBody>
          <a:bodyPr wrap="square" lIns="0" tIns="0" rIns="0" bIns="0" rtlCol="0" anchor="ctr"/>
          <a:lstStyle/>
          <a:p>
            <a:pPr indent="0" marL="0">
              <a:buNone/>
            </a:pPr>
            <a:r>
              <a:rPr lang="en-US" sz="1100" b="1" dirty="0">
                <a:solidFill>
                  <a:srgbClr val="E0A10F"/>
                </a:solidFill>
                <a:latin typeface="Arial" pitchFamily="34" charset="0"/>
                <a:ea typeface="Arial" pitchFamily="34" charset="-122"/>
                <a:cs typeface="Arial" pitchFamily="34" charset="-120"/>
              </a:rPr>
              <a:t>Chez nous : </a:t>
            </a:r>
            <a:pPr indent="0" marL="0">
              <a:buNone/>
            </a:pPr>
            <a:r>
              <a:rPr lang="en-US" sz="1100" dirty="0">
                <a:solidFill>
                  <a:srgbClr val="FFFFFF"/>
                </a:solidFill>
                <a:latin typeface="Arial" pitchFamily="34" charset="0"/>
                <a:ea typeface="Arial" pitchFamily="34" charset="-122"/>
                <a:cs typeface="Arial" pitchFamily="34" charset="-120"/>
              </a:rPr>
              <a:t>MinIO</a:t>
            </a:r>
            <a:endParaRPr lang="en-US" sz="1100" dirty="0"/>
          </a:p>
        </p:txBody>
      </p:sp>
      <p:sp>
        <p:nvSpPr>
          <p:cNvPr id="13" name="Shape 11"/>
          <p:cNvSpPr/>
          <p:nvPr/>
        </p:nvSpPr>
        <p:spPr>
          <a:xfrm>
            <a:off x="3273552" y="1325880"/>
            <a:ext cx="2606040" cy="3246120"/>
          </a:xfrm>
          <a:prstGeom prst="roundRect">
            <a:avLst>
              <a:gd name="adj" fmla="val 2807"/>
            </a:avLst>
          </a:prstGeom>
          <a:solidFill>
            <a:srgbClr val="EEF2F4"/>
          </a:solidFill>
          <a:ln w="12700">
            <a:solidFill>
              <a:srgbClr val="EEF2F4"/>
            </a:solidFill>
            <a:prstDash val="solid"/>
          </a:ln>
        </p:spPr>
      </p:sp>
      <p:sp>
        <p:nvSpPr>
          <p:cNvPr id="14" name="Text 12"/>
          <p:cNvSpPr txBox="1"/>
          <p:nvPr/>
        </p:nvSpPr>
        <p:spPr>
          <a:xfrm>
            <a:off x="3474720" y="1490472"/>
            <a:ext cx="2203704" cy="347472"/>
          </a:xfrm>
          <a:prstGeom prst="rect">
            <a:avLst/>
          </a:prstGeom>
          <a:noFill/>
          <a:ln/>
        </p:spPr>
        <p:txBody>
          <a:bodyPr wrap="square" lIns="0" tIns="0" rIns="0" bIns="0" rtlCol="0" anchor="t"/>
          <a:lstStyle/>
          <a:p>
            <a:pPr indent="0" marL="0">
              <a:buNone/>
            </a:pPr>
            <a:r>
              <a:rPr lang="en-US" sz="1800" b="1" dirty="0">
                <a:solidFill>
                  <a:srgbClr val="3A7BD5"/>
                </a:solidFill>
                <a:latin typeface="Arial" pitchFamily="34" charset="0"/>
                <a:ea typeface="Arial" pitchFamily="34" charset="-122"/>
                <a:cs typeface="Arial" pitchFamily="34" charset="-120"/>
              </a:rPr>
              <a:t>Data Warehouse</a:t>
            </a:r>
            <a:endParaRPr lang="en-US" sz="1800" dirty="0"/>
          </a:p>
        </p:txBody>
      </p:sp>
      <p:sp>
        <p:nvSpPr>
          <p:cNvPr id="15" name="Text 13"/>
          <p:cNvSpPr txBox="1"/>
          <p:nvPr/>
        </p:nvSpPr>
        <p:spPr>
          <a:xfrm>
            <a:off x="3474720" y="1856232"/>
            <a:ext cx="2203704" cy="411480"/>
          </a:xfrm>
          <a:prstGeom prst="rect">
            <a:avLst/>
          </a:prstGeom>
          <a:noFill/>
          <a:ln/>
        </p:spPr>
        <p:txBody>
          <a:bodyPr wrap="square" lIns="0" tIns="0" rIns="0" bIns="0" rtlCol="0" anchor="t"/>
          <a:lstStyle/>
          <a:p>
            <a:pPr indent="0" marL="0">
              <a:buNone/>
            </a:pPr>
            <a:r>
              <a:rPr lang="en-US" sz="1200" i="1" dirty="0">
                <a:solidFill>
                  <a:srgbClr val="16222B"/>
                </a:solidFill>
                <a:latin typeface="Arial" pitchFamily="34" charset="0"/>
                <a:ea typeface="Arial" pitchFamily="34" charset="-122"/>
                <a:cs typeface="Arial" pitchFamily="34" charset="-120"/>
              </a:rPr>
              <a:t>La bibliothèque : tout est rangé et étiqueté</a:t>
            </a:r>
            <a:endParaRPr lang="en-US" sz="1200" dirty="0"/>
          </a:p>
        </p:txBody>
      </p:sp>
      <p:sp>
        <p:nvSpPr>
          <p:cNvPr id="16" name="Text 14"/>
          <p:cNvSpPr txBox="1"/>
          <p:nvPr/>
        </p:nvSpPr>
        <p:spPr>
          <a:xfrm>
            <a:off x="3474720" y="2350008"/>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DONNÉES</a:t>
            </a:r>
            <a:endParaRPr lang="en-US" sz="900" dirty="0"/>
          </a:p>
        </p:txBody>
      </p:sp>
      <p:sp>
        <p:nvSpPr>
          <p:cNvPr id="17" name="Text 15"/>
          <p:cNvSpPr txBox="1"/>
          <p:nvPr/>
        </p:nvSpPr>
        <p:spPr>
          <a:xfrm>
            <a:off x="3474720" y="2532888"/>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Nettoyées, en tables avec un schéma défini</a:t>
            </a:r>
            <a:endParaRPr lang="en-US" sz="1100" dirty="0"/>
          </a:p>
        </p:txBody>
      </p:sp>
      <p:sp>
        <p:nvSpPr>
          <p:cNvPr id="18" name="Text 16"/>
          <p:cNvSpPr txBox="1"/>
          <p:nvPr/>
        </p:nvSpPr>
        <p:spPr>
          <a:xfrm>
            <a:off x="3474720" y="3108960"/>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POUR</a:t>
            </a:r>
            <a:endParaRPr lang="en-US" sz="900" dirty="0"/>
          </a:p>
        </p:txBody>
      </p:sp>
      <p:sp>
        <p:nvSpPr>
          <p:cNvPr id="19" name="Text 17"/>
          <p:cNvSpPr txBox="1"/>
          <p:nvPr/>
        </p:nvSpPr>
        <p:spPr>
          <a:xfrm>
            <a:off x="3474720" y="3291840"/>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Requêtes SQL rapides, analyses, tableaux de bord</a:t>
            </a:r>
            <a:endParaRPr lang="en-US" sz="1100" dirty="0"/>
          </a:p>
        </p:txBody>
      </p:sp>
      <p:sp>
        <p:nvSpPr>
          <p:cNvPr id="20" name="Shape 18"/>
          <p:cNvSpPr/>
          <p:nvPr/>
        </p:nvSpPr>
        <p:spPr>
          <a:xfrm>
            <a:off x="3474720" y="4023360"/>
            <a:ext cx="2203704" cy="365760"/>
          </a:xfrm>
          <a:prstGeom prst="roundRect">
            <a:avLst>
              <a:gd name="adj" fmla="val 15000"/>
            </a:avLst>
          </a:prstGeom>
          <a:solidFill>
            <a:srgbClr val="16222B"/>
          </a:solidFill>
          <a:ln w="12700">
            <a:solidFill>
              <a:srgbClr val="16222B"/>
            </a:solidFill>
            <a:prstDash val="solid"/>
          </a:ln>
        </p:spPr>
      </p:sp>
      <p:sp>
        <p:nvSpPr>
          <p:cNvPr id="21" name="Text 19"/>
          <p:cNvSpPr txBox="1"/>
          <p:nvPr/>
        </p:nvSpPr>
        <p:spPr>
          <a:xfrm>
            <a:off x="3584448" y="4023360"/>
            <a:ext cx="2057400" cy="365760"/>
          </a:xfrm>
          <a:prstGeom prst="rect">
            <a:avLst/>
          </a:prstGeom>
          <a:noFill/>
          <a:ln/>
        </p:spPr>
        <p:txBody>
          <a:bodyPr wrap="square" lIns="0" tIns="0" rIns="0" bIns="0" rtlCol="0" anchor="ctr"/>
          <a:lstStyle/>
          <a:p>
            <a:pPr indent="0" marL="0">
              <a:buNone/>
            </a:pPr>
            <a:r>
              <a:rPr lang="en-US" sz="1100" b="1" dirty="0">
                <a:solidFill>
                  <a:srgbClr val="3A7BD5"/>
                </a:solidFill>
                <a:latin typeface="Arial" pitchFamily="34" charset="0"/>
                <a:ea typeface="Arial" pitchFamily="34" charset="-122"/>
                <a:cs typeface="Arial" pitchFamily="34" charset="-120"/>
              </a:rPr>
              <a:t>Chez nous : </a:t>
            </a:r>
            <a:pPr indent="0" marL="0">
              <a:buNone/>
            </a:pPr>
            <a:r>
              <a:rPr lang="en-US" sz="1100" dirty="0">
                <a:solidFill>
                  <a:srgbClr val="FFFFFF"/>
                </a:solidFill>
                <a:latin typeface="Arial" pitchFamily="34" charset="0"/>
                <a:ea typeface="Arial" pitchFamily="34" charset="-122"/>
                <a:cs typeface="Arial" pitchFamily="34" charset="-120"/>
              </a:rPr>
              <a:t>PostgreSQL</a:t>
            </a:r>
            <a:endParaRPr lang="en-US" sz="1100" dirty="0"/>
          </a:p>
        </p:txBody>
      </p:sp>
      <p:sp>
        <p:nvSpPr>
          <p:cNvPr id="22" name="Shape 20"/>
          <p:cNvSpPr/>
          <p:nvPr/>
        </p:nvSpPr>
        <p:spPr>
          <a:xfrm>
            <a:off x="6089904" y="1325880"/>
            <a:ext cx="2606040" cy="3246120"/>
          </a:xfrm>
          <a:prstGeom prst="roundRect">
            <a:avLst>
              <a:gd name="adj" fmla="val 2807"/>
            </a:avLst>
          </a:prstGeom>
          <a:solidFill>
            <a:srgbClr val="FFFFFF"/>
          </a:solidFill>
          <a:ln w="12700">
            <a:solidFill>
              <a:srgbClr val="FFFFFF"/>
            </a:solidFill>
            <a:prstDash val="solid"/>
          </a:ln>
        </p:spPr>
      </p:sp>
      <p:sp>
        <p:nvSpPr>
          <p:cNvPr id="23" name="Shape 21"/>
          <p:cNvSpPr/>
          <p:nvPr/>
        </p:nvSpPr>
        <p:spPr>
          <a:xfrm>
            <a:off x="6089904" y="1325880"/>
            <a:ext cx="2606040" cy="3246120"/>
          </a:xfrm>
          <a:prstGeom prst="roundRect">
            <a:avLst>
              <a:gd name="adj" fmla="val 2807"/>
            </a:avLst>
          </a:prstGeom>
          <a:solidFill>
            <a:srgbClr val="FFFFFF"/>
          </a:solidFill>
          <a:ln w="12700">
            <a:solidFill>
              <a:srgbClr val="D5DDE1"/>
            </a:solidFill>
            <a:prstDash val="dash"/>
          </a:ln>
        </p:spPr>
      </p:sp>
      <p:sp>
        <p:nvSpPr>
          <p:cNvPr id="24" name="Text 22"/>
          <p:cNvSpPr txBox="1"/>
          <p:nvPr/>
        </p:nvSpPr>
        <p:spPr>
          <a:xfrm>
            <a:off x="6291072" y="1490472"/>
            <a:ext cx="2203704" cy="347472"/>
          </a:xfrm>
          <a:prstGeom prst="rect">
            <a:avLst/>
          </a:prstGeom>
          <a:noFill/>
          <a:ln/>
        </p:spPr>
        <p:txBody>
          <a:bodyPr wrap="square" lIns="0" tIns="0" rIns="0" bIns="0" rtlCol="0" anchor="t"/>
          <a:lstStyle/>
          <a:p>
            <a:pPr indent="0" marL="0">
              <a:buNone/>
            </a:pPr>
            <a:r>
              <a:rPr lang="en-US" sz="1800" b="1" dirty="0">
                <a:solidFill>
                  <a:srgbClr val="8A5CC2"/>
                </a:solidFill>
                <a:latin typeface="Arial" pitchFamily="34" charset="0"/>
                <a:ea typeface="Arial" pitchFamily="34" charset="-122"/>
                <a:cs typeface="Arial" pitchFamily="34" charset="-120"/>
              </a:rPr>
              <a:t>Lakehouse</a:t>
            </a:r>
            <a:endParaRPr lang="en-US" sz="1800" dirty="0"/>
          </a:p>
        </p:txBody>
      </p:sp>
      <p:sp>
        <p:nvSpPr>
          <p:cNvPr id="25" name="Text 23"/>
          <p:cNvSpPr txBox="1"/>
          <p:nvPr/>
        </p:nvSpPr>
        <p:spPr>
          <a:xfrm>
            <a:off x="6291072" y="1856232"/>
            <a:ext cx="2203704" cy="411480"/>
          </a:xfrm>
          <a:prstGeom prst="rect">
            <a:avLst/>
          </a:prstGeom>
          <a:noFill/>
          <a:ln/>
        </p:spPr>
        <p:txBody>
          <a:bodyPr wrap="square" lIns="0" tIns="0" rIns="0" bIns="0" rtlCol="0" anchor="t"/>
          <a:lstStyle/>
          <a:p>
            <a:pPr indent="0" marL="0">
              <a:buNone/>
            </a:pPr>
            <a:r>
              <a:rPr lang="en-US" sz="1200" i="1" dirty="0">
                <a:solidFill>
                  <a:srgbClr val="16222B"/>
                </a:solidFill>
                <a:latin typeface="Arial" pitchFamily="34" charset="0"/>
                <a:ea typeface="Arial" pitchFamily="34" charset="-122"/>
                <a:cs typeface="Arial" pitchFamily="34" charset="-120"/>
              </a:rPr>
              <a:t>Les deux à la fois</a:t>
            </a:r>
            <a:endParaRPr lang="en-US" sz="1200" dirty="0"/>
          </a:p>
        </p:txBody>
      </p:sp>
      <p:sp>
        <p:nvSpPr>
          <p:cNvPr id="26" name="Text 24"/>
          <p:cNvSpPr txBox="1"/>
          <p:nvPr/>
        </p:nvSpPr>
        <p:spPr>
          <a:xfrm>
            <a:off x="6291072" y="2350008"/>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DONNÉES</a:t>
            </a:r>
            <a:endParaRPr lang="en-US" sz="900" dirty="0"/>
          </a:p>
        </p:txBody>
      </p:sp>
      <p:sp>
        <p:nvSpPr>
          <p:cNvPr id="27" name="Text 25"/>
          <p:cNvSpPr txBox="1"/>
          <p:nvPr/>
        </p:nvSpPr>
        <p:spPr>
          <a:xfrm>
            <a:off x="6291072" y="2532888"/>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Fichiers du lac, organisés en tables (Delta Lake, Iceberg)</a:t>
            </a:r>
            <a:endParaRPr lang="en-US" sz="1100" dirty="0"/>
          </a:p>
        </p:txBody>
      </p:sp>
      <p:sp>
        <p:nvSpPr>
          <p:cNvPr id="28" name="Text 26"/>
          <p:cNvSpPr txBox="1"/>
          <p:nvPr/>
        </p:nvSpPr>
        <p:spPr>
          <a:xfrm>
            <a:off x="6291072" y="3108960"/>
            <a:ext cx="2203704" cy="182880"/>
          </a:xfrm>
          <a:prstGeom prst="rect">
            <a:avLst/>
          </a:prstGeom>
          <a:noFill/>
          <a:ln/>
        </p:spPr>
        <p:txBody>
          <a:bodyPr wrap="square" lIns="0" tIns="0" rIns="0" bIns="0" rtlCol="0" anchor="t"/>
          <a:lstStyle/>
          <a:p>
            <a:pPr indent="0" marL="0">
              <a:buNone/>
            </a:pPr>
            <a:r>
              <a:rPr lang="en-US" sz="900" b="1" spc="200" kern="0" dirty="0">
                <a:solidFill>
                  <a:srgbClr val="5B6B74"/>
                </a:solidFill>
                <a:latin typeface="Arial" pitchFamily="34" charset="0"/>
                <a:ea typeface="Arial" pitchFamily="34" charset="-122"/>
                <a:cs typeface="Arial" pitchFamily="34" charset="-120"/>
              </a:rPr>
              <a:t>POUR</a:t>
            </a:r>
            <a:endParaRPr lang="en-US" sz="900" dirty="0"/>
          </a:p>
        </p:txBody>
      </p:sp>
      <p:sp>
        <p:nvSpPr>
          <p:cNvPr id="29" name="Text 27"/>
          <p:cNvSpPr txBox="1"/>
          <p:nvPr/>
        </p:nvSpPr>
        <p:spPr>
          <a:xfrm>
            <a:off x="6291072" y="3291840"/>
            <a:ext cx="2203704" cy="548640"/>
          </a:xfrm>
          <a:prstGeom prst="rect">
            <a:avLst/>
          </a:prstGeom>
          <a:noFill/>
          <a:ln/>
        </p:spPr>
        <p:txBody>
          <a:bodyPr wrap="square" lIns="0" tIns="0" rIns="0" bIns="0" rtlCol="0" anchor="t"/>
          <a:lstStyle/>
          <a:p>
            <a:pPr indent="0" marL="0">
              <a:buNone/>
            </a:pPr>
            <a:r>
              <a:rPr lang="en-US" sz="1100" dirty="0">
                <a:solidFill>
                  <a:srgbClr val="16222B"/>
                </a:solidFill>
                <a:latin typeface="Arial" pitchFamily="34" charset="0"/>
                <a:ea typeface="Arial" pitchFamily="34" charset="-122"/>
                <a:cs typeface="Arial" pitchFamily="34" charset="-120"/>
              </a:rPr>
              <a:t>Une seule plateforme pour stocker et analyser</a:t>
            </a:r>
            <a:endParaRPr lang="en-US" sz="1100" dirty="0"/>
          </a:p>
        </p:txBody>
      </p:sp>
      <p:sp>
        <p:nvSpPr>
          <p:cNvPr id="30" name="Shape 28"/>
          <p:cNvSpPr/>
          <p:nvPr/>
        </p:nvSpPr>
        <p:spPr>
          <a:xfrm>
            <a:off x="6291072" y="4023360"/>
            <a:ext cx="2203704" cy="365760"/>
          </a:xfrm>
          <a:prstGeom prst="roundRect">
            <a:avLst>
              <a:gd name="adj" fmla="val 15000"/>
            </a:avLst>
          </a:prstGeom>
          <a:solidFill>
            <a:srgbClr val="EEF2F4"/>
          </a:solidFill>
          <a:ln w="12700">
            <a:solidFill>
              <a:srgbClr val="EEF2F4"/>
            </a:solidFill>
            <a:prstDash val="solid"/>
          </a:ln>
        </p:spPr>
      </p:sp>
      <p:sp>
        <p:nvSpPr>
          <p:cNvPr id="31" name="Text 29"/>
          <p:cNvSpPr txBox="1"/>
          <p:nvPr/>
        </p:nvSpPr>
        <p:spPr>
          <a:xfrm>
            <a:off x="6400800" y="4023360"/>
            <a:ext cx="2057400" cy="365760"/>
          </a:xfrm>
          <a:prstGeom prst="rect">
            <a:avLst/>
          </a:prstGeom>
          <a:noFill/>
          <a:ln/>
        </p:spPr>
        <p:txBody>
          <a:bodyPr wrap="square" lIns="0" tIns="0" rIns="0" bIns="0" rtlCol="0" anchor="ctr"/>
          <a:lstStyle/>
          <a:p>
            <a:pPr indent="0" marL="0">
              <a:buNone/>
            </a:pPr>
            <a:r>
              <a:rPr lang="en-US" sz="1100" b="1" dirty="0">
                <a:solidFill>
                  <a:srgbClr val="5B6B74"/>
                </a:solidFill>
                <a:latin typeface="Arial" pitchFamily="34" charset="0"/>
                <a:ea typeface="Arial" pitchFamily="34" charset="-122"/>
                <a:cs typeface="Arial" pitchFamily="34" charset="-120"/>
              </a:rPr>
              <a:t>Chez nous : </a:t>
            </a:r>
            <a:pPr indent="0" marL="0">
              <a:buNone/>
            </a:pPr>
            <a:r>
              <a:rPr lang="en-US" sz="1100" dirty="0">
                <a:solidFill>
                  <a:srgbClr val="5B6B74"/>
                </a:solidFill>
                <a:latin typeface="Arial" pitchFamily="34" charset="0"/>
                <a:ea typeface="Arial" pitchFamily="34" charset="-122"/>
                <a:cs typeface="Arial" pitchFamily="34" charset="-120"/>
              </a:rPr>
              <a:t>Pas utilisé : évolution possible</a:t>
            </a:r>
            <a:endParaRPr lang="en-US" sz="1100" dirty="0"/>
          </a:p>
        </p:txBody>
      </p:sp>
      <p:sp>
        <p:nvSpPr>
          <p:cNvPr id="32" name="Text 30"/>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3" name="Text 31"/>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NOTIONS CLÉS · TRAITEMENT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ETL ou ELT : quand est-ce qu'on nettoie ?</a:t>
            </a:r>
            <a:endParaRPr lang="en-US" sz="2600" dirty="0"/>
          </a:p>
        </p:txBody>
      </p:sp>
      <p:sp>
        <p:nvSpPr>
          <p:cNvPr id="4" name="Shape 2"/>
          <p:cNvSpPr/>
          <p:nvPr/>
        </p:nvSpPr>
        <p:spPr>
          <a:xfrm>
            <a:off x="457200" y="1325880"/>
            <a:ext cx="8229600" cy="1005840"/>
          </a:xfrm>
          <a:prstGeom prst="roundRect">
            <a:avLst>
              <a:gd name="adj" fmla="val 7273"/>
            </a:avLst>
          </a:prstGeom>
          <a:solidFill>
            <a:srgbClr val="EEF2F4"/>
          </a:solidFill>
          <a:ln w="12700">
            <a:solidFill>
              <a:srgbClr val="EEF2F4"/>
            </a:solidFill>
            <a:prstDash val="solid"/>
          </a:ln>
        </p:spPr>
      </p:sp>
      <p:sp>
        <p:nvSpPr>
          <p:cNvPr id="5" name="Text 3"/>
          <p:cNvSpPr txBox="1"/>
          <p:nvPr/>
        </p:nvSpPr>
        <p:spPr>
          <a:xfrm>
            <a:off x="658368" y="1490472"/>
            <a:ext cx="1188720" cy="411480"/>
          </a:xfrm>
          <a:prstGeom prst="rect">
            <a:avLst/>
          </a:prstGeom>
          <a:noFill/>
          <a:ln/>
        </p:spPr>
        <p:txBody>
          <a:bodyPr wrap="square" lIns="0" tIns="0" rIns="0" bIns="0" rtlCol="0" anchor="t"/>
          <a:lstStyle/>
          <a:p>
            <a:pPr indent="0" marL="0">
              <a:buNone/>
            </a:pPr>
            <a:r>
              <a:rPr lang="en-US" sz="2400" b="1" dirty="0">
                <a:solidFill>
                  <a:srgbClr val="16222B"/>
                </a:solidFill>
                <a:latin typeface="Arial" pitchFamily="34" charset="0"/>
                <a:ea typeface="Arial" pitchFamily="34" charset="-122"/>
                <a:cs typeface="Arial" pitchFamily="34" charset="-120"/>
              </a:rPr>
              <a:t>ETL</a:t>
            </a:r>
            <a:endParaRPr lang="en-US" sz="2400" dirty="0"/>
          </a:p>
        </p:txBody>
      </p:sp>
      <p:sp>
        <p:nvSpPr>
          <p:cNvPr id="6" name="Text 4"/>
          <p:cNvSpPr txBox="1"/>
          <p:nvPr/>
        </p:nvSpPr>
        <p:spPr>
          <a:xfrm>
            <a:off x="658368" y="1911096"/>
            <a:ext cx="2103120" cy="32004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On nettoie avant de stocker</a:t>
            </a:r>
            <a:endParaRPr lang="en-US" sz="1100" dirty="0"/>
          </a:p>
        </p:txBody>
      </p:sp>
      <p:sp>
        <p:nvSpPr>
          <p:cNvPr id="7" name="Shape 5"/>
          <p:cNvSpPr/>
          <p:nvPr/>
        </p:nvSpPr>
        <p:spPr>
          <a:xfrm>
            <a:off x="2926080" y="1508760"/>
            <a:ext cx="1600200" cy="640080"/>
          </a:xfrm>
          <a:prstGeom prst="roundRect">
            <a:avLst>
              <a:gd name="adj" fmla="val 8571"/>
            </a:avLst>
          </a:prstGeom>
          <a:solidFill>
            <a:srgbClr val="FFFFFF"/>
          </a:solidFill>
          <a:ln w="12700">
            <a:solidFill>
              <a:srgbClr val="FFFFFF"/>
            </a:solidFill>
            <a:prstDash val="solid"/>
          </a:ln>
        </p:spPr>
      </p:sp>
      <p:sp>
        <p:nvSpPr>
          <p:cNvPr id="8" name="Text 6"/>
          <p:cNvSpPr txBox="1"/>
          <p:nvPr/>
        </p:nvSpPr>
        <p:spPr>
          <a:xfrm>
            <a:off x="3035808" y="1563624"/>
            <a:ext cx="14173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Extract</a:t>
            </a:r>
            <a:endParaRPr lang="en-US" sz="1300" dirty="0"/>
          </a:p>
        </p:txBody>
      </p:sp>
      <p:sp>
        <p:nvSpPr>
          <p:cNvPr id="9" name="Text 7"/>
          <p:cNvSpPr txBox="1"/>
          <p:nvPr/>
        </p:nvSpPr>
        <p:spPr>
          <a:xfrm>
            <a:off x="3035808" y="1828800"/>
            <a:ext cx="1417320" cy="256032"/>
          </a:xfrm>
          <a:prstGeom prst="rect">
            <a:avLst/>
          </a:prstGeom>
          <a:noFill/>
          <a:ln/>
        </p:spPr>
        <p:txBody>
          <a:bodyPr wrap="square" lIns="0" tIns="0" rIns="0" bIns="0" rtlCol="0" anchor="t"/>
          <a:lstStyle/>
          <a:p>
            <a:pPr indent="0" marL="0">
              <a:buNone/>
            </a:pPr>
            <a:r>
              <a:rPr lang="en-US" sz="1000" dirty="0">
                <a:solidFill>
                  <a:srgbClr val="5B6B74"/>
                </a:solidFill>
                <a:latin typeface="Arial" pitchFamily="34" charset="0"/>
                <a:ea typeface="Arial" pitchFamily="34" charset="-122"/>
                <a:cs typeface="Arial" pitchFamily="34" charset="-120"/>
              </a:rPr>
              <a:t>lire la source</a:t>
            </a:r>
            <a:endParaRPr lang="en-US" sz="1000" dirty="0"/>
          </a:p>
        </p:txBody>
      </p:sp>
      <p:sp>
        <p:nvSpPr>
          <p:cNvPr id="10" name="Text 8"/>
          <p:cNvSpPr txBox="1"/>
          <p:nvPr/>
        </p:nvSpPr>
        <p:spPr>
          <a:xfrm>
            <a:off x="4526280" y="1600200"/>
            <a:ext cx="320040" cy="457200"/>
          </a:xfrm>
          <a:prstGeom prst="rect">
            <a:avLst/>
          </a:prstGeom>
          <a:noFill/>
          <a:ln/>
        </p:spPr>
        <p:txBody>
          <a:bodyPr wrap="square" lIns="0" tIns="0" rIns="0" bIns="0" rtlCol="0" anchor="t"/>
          <a:lstStyle/>
          <a:p>
            <a:pPr algn="ctr" indent="0" marL="0">
              <a:buNone/>
            </a:pPr>
            <a:r>
              <a:rPr lang="en-US" sz="2000" b="1" dirty="0">
                <a:solidFill>
                  <a:srgbClr val="AFC0C8"/>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4846320" y="1508760"/>
            <a:ext cx="1600200" cy="640080"/>
          </a:xfrm>
          <a:prstGeom prst="roundRect">
            <a:avLst>
              <a:gd name="adj" fmla="val 8571"/>
            </a:avLst>
          </a:prstGeom>
          <a:solidFill>
            <a:srgbClr val="FFFFFF"/>
          </a:solidFill>
          <a:ln w="12700">
            <a:solidFill>
              <a:srgbClr val="FFFFFF"/>
            </a:solidFill>
            <a:prstDash val="solid"/>
          </a:ln>
        </p:spPr>
      </p:sp>
      <p:sp>
        <p:nvSpPr>
          <p:cNvPr id="12" name="Text 10"/>
          <p:cNvSpPr txBox="1"/>
          <p:nvPr/>
        </p:nvSpPr>
        <p:spPr>
          <a:xfrm>
            <a:off x="4956048" y="1563624"/>
            <a:ext cx="14173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Transform</a:t>
            </a:r>
            <a:endParaRPr lang="en-US" sz="1300" dirty="0"/>
          </a:p>
        </p:txBody>
      </p:sp>
      <p:sp>
        <p:nvSpPr>
          <p:cNvPr id="13" name="Text 11"/>
          <p:cNvSpPr txBox="1"/>
          <p:nvPr/>
        </p:nvSpPr>
        <p:spPr>
          <a:xfrm>
            <a:off x="4956048" y="1828800"/>
            <a:ext cx="1417320" cy="256032"/>
          </a:xfrm>
          <a:prstGeom prst="rect">
            <a:avLst/>
          </a:prstGeom>
          <a:noFill/>
          <a:ln/>
        </p:spPr>
        <p:txBody>
          <a:bodyPr wrap="square" lIns="0" tIns="0" rIns="0" bIns="0" rtlCol="0" anchor="t"/>
          <a:lstStyle/>
          <a:p>
            <a:pPr indent="0" marL="0">
              <a:buNone/>
            </a:pPr>
            <a:r>
              <a:rPr lang="en-US" sz="1000" dirty="0">
                <a:solidFill>
                  <a:srgbClr val="5B6B74"/>
                </a:solidFill>
                <a:latin typeface="Arial" pitchFamily="34" charset="0"/>
                <a:ea typeface="Arial" pitchFamily="34" charset="-122"/>
                <a:cs typeface="Arial" pitchFamily="34" charset="-120"/>
              </a:rPr>
              <a:t>nettoyer, filtrer</a:t>
            </a:r>
            <a:endParaRPr lang="en-US" sz="1000" dirty="0"/>
          </a:p>
        </p:txBody>
      </p:sp>
      <p:sp>
        <p:nvSpPr>
          <p:cNvPr id="14" name="Text 12"/>
          <p:cNvSpPr txBox="1"/>
          <p:nvPr/>
        </p:nvSpPr>
        <p:spPr>
          <a:xfrm>
            <a:off x="6446520" y="1600200"/>
            <a:ext cx="320040" cy="457200"/>
          </a:xfrm>
          <a:prstGeom prst="rect">
            <a:avLst/>
          </a:prstGeom>
          <a:noFill/>
          <a:ln/>
        </p:spPr>
        <p:txBody>
          <a:bodyPr wrap="square" lIns="0" tIns="0" rIns="0" bIns="0" rtlCol="0" anchor="t"/>
          <a:lstStyle/>
          <a:p>
            <a:pPr algn="ctr" indent="0" marL="0">
              <a:buNone/>
            </a:pPr>
            <a:r>
              <a:rPr lang="en-US" sz="2000" b="1" dirty="0">
                <a:solidFill>
                  <a:srgbClr val="AFC0C8"/>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6766560" y="1508760"/>
            <a:ext cx="1600200" cy="640080"/>
          </a:xfrm>
          <a:prstGeom prst="roundRect">
            <a:avLst>
              <a:gd name="adj" fmla="val 8571"/>
            </a:avLst>
          </a:prstGeom>
          <a:solidFill>
            <a:srgbClr val="FFFFFF"/>
          </a:solidFill>
          <a:ln w="12700">
            <a:solidFill>
              <a:srgbClr val="FFFFFF"/>
            </a:solidFill>
            <a:prstDash val="solid"/>
          </a:ln>
        </p:spPr>
      </p:sp>
      <p:sp>
        <p:nvSpPr>
          <p:cNvPr id="16" name="Text 14"/>
          <p:cNvSpPr txBox="1"/>
          <p:nvPr/>
        </p:nvSpPr>
        <p:spPr>
          <a:xfrm>
            <a:off x="6876288" y="1563624"/>
            <a:ext cx="14173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Load</a:t>
            </a:r>
            <a:endParaRPr lang="en-US" sz="1300" dirty="0"/>
          </a:p>
        </p:txBody>
      </p:sp>
      <p:sp>
        <p:nvSpPr>
          <p:cNvPr id="17" name="Text 15"/>
          <p:cNvSpPr txBox="1"/>
          <p:nvPr/>
        </p:nvSpPr>
        <p:spPr>
          <a:xfrm>
            <a:off x="6876288" y="1828800"/>
            <a:ext cx="1417320" cy="256032"/>
          </a:xfrm>
          <a:prstGeom prst="rect">
            <a:avLst/>
          </a:prstGeom>
          <a:noFill/>
          <a:ln/>
        </p:spPr>
        <p:txBody>
          <a:bodyPr wrap="square" lIns="0" tIns="0" rIns="0" bIns="0" rtlCol="0" anchor="t"/>
          <a:lstStyle/>
          <a:p>
            <a:pPr indent="0" marL="0">
              <a:buNone/>
            </a:pPr>
            <a:r>
              <a:rPr lang="en-US" sz="1000" dirty="0">
                <a:solidFill>
                  <a:srgbClr val="5B6B74"/>
                </a:solidFill>
                <a:latin typeface="Arial" pitchFamily="34" charset="0"/>
                <a:ea typeface="Arial" pitchFamily="34" charset="-122"/>
                <a:cs typeface="Arial" pitchFamily="34" charset="-120"/>
              </a:rPr>
              <a:t>écrire dans l'entrepôt</a:t>
            </a:r>
            <a:endParaRPr lang="en-US" sz="1000" dirty="0"/>
          </a:p>
        </p:txBody>
      </p:sp>
      <p:sp>
        <p:nvSpPr>
          <p:cNvPr id="18" name="Shape 16"/>
          <p:cNvSpPr/>
          <p:nvPr/>
        </p:nvSpPr>
        <p:spPr>
          <a:xfrm>
            <a:off x="457200" y="2514600"/>
            <a:ext cx="8229600" cy="1005840"/>
          </a:xfrm>
          <a:prstGeom prst="roundRect">
            <a:avLst>
              <a:gd name="adj" fmla="val 7273"/>
            </a:avLst>
          </a:prstGeom>
          <a:solidFill>
            <a:srgbClr val="16222B"/>
          </a:solidFill>
          <a:ln w="12700">
            <a:solidFill>
              <a:srgbClr val="16222B"/>
            </a:solidFill>
            <a:prstDash val="solid"/>
          </a:ln>
        </p:spPr>
      </p:sp>
      <p:sp>
        <p:nvSpPr>
          <p:cNvPr id="19" name="Text 17"/>
          <p:cNvSpPr txBox="1"/>
          <p:nvPr/>
        </p:nvSpPr>
        <p:spPr>
          <a:xfrm>
            <a:off x="658368" y="2679192"/>
            <a:ext cx="1188720" cy="411480"/>
          </a:xfrm>
          <a:prstGeom prst="rect">
            <a:avLst/>
          </a:prstGeom>
          <a:noFill/>
          <a:ln/>
        </p:spPr>
        <p:txBody>
          <a:bodyPr wrap="square" lIns="0" tIns="0" rIns="0" bIns="0" rtlCol="0" anchor="t"/>
          <a:lstStyle/>
          <a:p>
            <a:pPr indent="0" marL="0">
              <a:buNone/>
            </a:pPr>
            <a:r>
              <a:rPr lang="en-US" sz="2400" b="1" dirty="0">
                <a:solidFill>
                  <a:srgbClr val="E0A10F"/>
                </a:solidFill>
                <a:latin typeface="Arial" pitchFamily="34" charset="0"/>
                <a:ea typeface="Arial" pitchFamily="34" charset="-122"/>
                <a:cs typeface="Arial" pitchFamily="34" charset="-120"/>
              </a:rPr>
              <a:t>ELT</a:t>
            </a:r>
            <a:endParaRPr lang="en-US" sz="2400" dirty="0"/>
          </a:p>
        </p:txBody>
      </p:sp>
      <p:sp>
        <p:nvSpPr>
          <p:cNvPr id="20" name="Text 18"/>
          <p:cNvSpPr txBox="1"/>
          <p:nvPr/>
        </p:nvSpPr>
        <p:spPr>
          <a:xfrm>
            <a:off x="658368" y="3099816"/>
            <a:ext cx="2103120" cy="320040"/>
          </a:xfrm>
          <a:prstGeom prst="rect">
            <a:avLst/>
          </a:prstGeom>
          <a:noFill/>
          <a:ln/>
        </p:spPr>
        <p:txBody>
          <a:bodyPr wrap="square" lIns="0" tIns="0" rIns="0" bIns="0" rtlCol="0" anchor="t"/>
          <a:lstStyle/>
          <a:p>
            <a:pPr indent="0" marL="0">
              <a:buNone/>
            </a:pPr>
            <a:r>
              <a:rPr lang="en-US" sz="1100" dirty="0">
                <a:solidFill>
                  <a:srgbClr val="AFC0C8"/>
                </a:solidFill>
                <a:latin typeface="Arial" pitchFamily="34" charset="0"/>
                <a:ea typeface="Arial" pitchFamily="34" charset="-122"/>
                <a:cs typeface="Arial" pitchFamily="34" charset="-120"/>
              </a:rPr>
              <a:t>On stocke brut, on nettoie après</a:t>
            </a:r>
            <a:endParaRPr lang="en-US" sz="1100" dirty="0"/>
          </a:p>
        </p:txBody>
      </p:sp>
      <p:sp>
        <p:nvSpPr>
          <p:cNvPr id="21" name="Shape 19"/>
          <p:cNvSpPr/>
          <p:nvPr/>
        </p:nvSpPr>
        <p:spPr>
          <a:xfrm>
            <a:off x="2926080" y="2697480"/>
            <a:ext cx="1600200" cy="640080"/>
          </a:xfrm>
          <a:prstGeom prst="roundRect">
            <a:avLst>
              <a:gd name="adj" fmla="val 8571"/>
            </a:avLst>
          </a:prstGeom>
          <a:solidFill>
            <a:srgbClr val="22323C"/>
          </a:solidFill>
          <a:ln w="12700">
            <a:solidFill>
              <a:srgbClr val="22323C"/>
            </a:solidFill>
            <a:prstDash val="solid"/>
          </a:ln>
        </p:spPr>
      </p:sp>
      <p:sp>
        <p:nvSpPr>
          <p:cNvPr id="22" name="Text 20"/>
          <p:cNvSpPr txBox="1"/>
          <p:nvPr/>
        </p:nvSpPr>
        <p:spPr>
          <a:xfrm>
            <a:off x="3035808" y="2752344"/>
            <a:ext cx="1417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Extract</a:t>
            </a:r>
            <a:endParaRPr lang="en-US" sz="1300" dirty="0"/>
          </a:p>
        </p:txBody>
      </p:sp>
      <p:sp>
        <p:nvSpPr>
          <p:cNvPr id="23" name="Text 21"/>
          <p:cNvSpPr txBox="1"/>
          <p:nvPr/>
        </p:nvSpPr>
        <p:spPr>
          <a:xfrm>
            <a:off x="3035808" y="3017520"/>
            <a:ext cx="1417320" cy="256032"/>
          </a:xfrm>
          <a:prstGeom prst="rect">
            <a:avLst/>
          </a:prstGeom>
          <a:noFill/>
          <a:ln/>
        </p:spPr>
        <p:txBody>
          <a:bodyPr wrap="square" lIns="0" tIns="0" rIns="0" bIns="0" rtlCol="0" anchor="t"/>
          <a:lstStyle/>
          <a:p>
            <a:pPr indent="0" marL="0">
              <a:buNone/>
            </a:pPr>
            <a:r>
              <a:rPr lang="en-US" sz="1000" dirty="0">
                <a:solidFill>
                  <a:srgbClr val="AFC0C8"/>
                </a:solidFill>
                <a:latin typeface="Arial" pitchFamily="34" charset="0"/>
                <a:ea typeface="Arial" pitchFamily="34" charset="-122"/>
                <a:cs typeface="Arial" pitchFamily="34" charset="-120"/>
              </a:rPr>
              <a:t>API, NOAA</a:t>
            </a:r>
            <a:endParaRPr lang="en-US" sz="1000" dirty="0"/>
          </a:p>
        </p:txBody>
      </p:sp>
      <p:sp>
        <p:nvSpPr>
          <p:cNvPr id="24" name="Text 22"/>
          <p:cNvSpPr txBox="1"/>
          <p:nvPr/>
        </p:nvSpPr>
        <p:spPr>
          <a:xfrm>
            <a:off x="4526280" y="2788920"/>
            <a:ext cx="320040" cy="457200"/>
          </a:xfrm>
          <a:prstGeom prst="rect">
            <a:avLst/>
          </a:prstGeom>
          <a:noFill/>
          <a:ln/>
        </p:spPr>
        <p:txBody>
          <a:bodyPr wrap="square" lIns="0" tIns="0" rIns="0" bIns="0" rtlCol="0" anchor="t"/>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25" name="Shape 23"/>
          <p:cNvSpPr/>
          <p:nvPr/>
        </p:nvSpPr>
        <p:spPr>
          <a:xfrm>
            <a:off x="4846320" y="2697480"/>
            <a:ext cx="1600200" cy="640080"/>
          </a:xfrm>
          <a:prstGeom prst="roundRect">
            <a:avLst>
              <a:gd name="adj" fmla="val 8571"/>
            </a:avLst>
          </a:prstGeom>
          <a:solidFill>
            <a:srgbClr val="22323C"/>
          </a:solidFill>
          <a:ln w="12700">
            <a:solidFill>
              <a:srgbClr val="22323C"/>
            </a:solidFill>
            <a:prstDash val="solid"/>
          </a:ln>
        </p:spPr>
      </p:sp>
      <p:sp>
        <p:nvSpPr>
          <p:cNvPr id="26" name="Text 24"/>
          <p:cNvSpPr txBox="1"/>
          <p:nvPr/>
        </p:nvSpPr>
        <p:spPr>
          <a:xfrm>
            <a:off x="4956048" y="2752344"/>
            <a:ext cx="1417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Load</a:t>
            </a:r>
            <a:endParaRPr lang="en-US" sz="1300" dirty="0"/>
          </a:p>
        </p:txBody>
      </p:sp>
      <p:sp>
        <p:nvSpPr>
          <p:cNvPr id="27" name="Text 25"/>
          <p:cNvSpPr txBox="1"/>
          <p:nvPr/>
        </p:nvSpPr>
        <p:spPr>
          <a:xfrm>
            <a:off x="4956048" y="3017520"/>
            <a:ext cx="1417320" cy="256032"/>
          </a:xfrm>
          <a:prstGeom prst="rect">
            <a:avLst/>
          </a:prstGeom>
          <a:noFill/>
          <a:ln/>
        </p:spPr>
        <p:txBody>
          <a:bodyPr wrap="square" lIns="0" tIns="0" rIns="0" bIns="0" rtlCol="0" anchor="t"/>
          <a:lstStyle/>
          <a:p>
            <a:pPr indent="0" marL="0">
              <a:buNone/>
            </a:pPr>
            <a:r>
              <a:rPr lang="en-US" sz="1000" dirty="0">
                <a:solidFill>
                  <a:srgbClr val="AFC0C8"/>
                </a:solidFill>
                <a:latin typeface="Arial" pitchFamily="34" charset="0"/>
                <a:ea typeface="Arial" pitchFamily="34" charset="-122"/>
                <a:cs typeface="Arial" pitchFamily="34" charset="-120"/>
              </a:rPr>
              <a:t>brut dans MinIO</a:t>
            </a:r>
            <a:endParaRPr lang="en-US" sz="1000" dirty="0"/>
          </a:p>
        </p:txBody>
      </p:sp>
      <p:sp>
        <p:nvSpPr>
          <p:cNvPr id="28" name="Text 26"/>
          <p:cNvSpPr txBox="1"/>
          <p:nvPr/>
        </p:nvSpPr>
        <p:spPr>
          <a:xfrm>
            <a:off x="6446520" y="2788920"/>
            <a:ext cx="320040" cy="457200"/>
          </a:xfrm>
          <a:prstGeom prst="rect">
            <a:avLst/>
          </a:prstGeom>
          <a:noFill/>
          <a:ln/>
        </p:spPr>
        <p:txBody>
          <a:bodyPr wrap="square" lIns="0" tIns="0" rIns="0" bIns="0" rtlCol="0" anchor="t"/>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29" name="Shape 27"/>
          <p:cNvSpPr/>
          <p:nvPr/>
        </p:nvSpPr>
        <p:spPr>
          <a:xfrm>
            <a:off x="6766560" y="2697480"/>
            <a:ext cx="1600200" cy="640080"/>
          </a:xfrm>
          <a:prstGeom prst="roundRect">
            <a:avLst>
              <a:gd name="adj" fmla="val 8571"/>
            </a:avLst>
          </a:prstGeom>
          <a:solidFill>
            <a:srgbClr val="22323C"/>
          </a:solidFill>
          <a:ln w="12700">
            <a:solidFill>
              <a:srgbClr val="22323C"/>
            </a:solidFill>
            <a:prstDash val="solid"/>
          </a:ln>
        </p:spPr>
      </p:sp>
      <p:sp>
        <p:nvSpPr>
          <p:cNvPr id="30" name="Text 28"/>
          <p:cNvSpPr txBox="1"/>
          <p:nvPr/>
        </p:nvSpPr>
        <p:spPr>
          <a:xfrm>
            <a:off x="6876288" y="2752344"/>
            <a:ext cx="1417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Transform</a:t>
            </a:r>
            <a:endParaRPr lang="en-US" sz="1300" dirty="0"/>
          </a:p>
        </p:txBody>
      </p:sp>
      <p:sp>
        <p:nvSpPr>
          <p:cNvPr id="31" name="Text 29"/>
          <p:cNvSpPr txBox="1"/>
          <p:nvPr/>
        </p:nvSpPr>
        <p:spPr>
          <a:xfrm>
            <a:off x="6876288" y="3017520"/>
            <a:ext cx="1417320" cy="256032"/>
          </a:xfrm>
          <a:prstGeom prst="rect">
            <a:avLst/>
          </a:prstGeom>
          <a:noFill/>
          <a:ln/>
        </p:spPr>
        <p:txBody>
          <a:bodyPr wrap="square" lIns="0" tIns="0" rIns="0" bIns="0" rtlCol="0" anchor="t"/>
          <a:lstStyle/>
          <a:p>
            <a:pPr indent="0" marL="0">
              <a:buNone/>
            </a:pPr>
            <a:r>
              <a:rPr lang="en-US" sz="1000" dirty="0">
                <a:solidFill>
                  <a:srgbClr val="AFC0C8"/>
                </a:solidFill>
                <a:latin typeface="Arial" pitchFamily="34" charset="0"/>
                <a:ea typeface="Arial" pitchFamily="34" charset="-122"/>
                <a:cs typeface="Arial" pitchFamily="34" charset="-120"/>
              </a:rPr>
              <a:t>Python → PostgreSQL</a:t>
            </a:r>
            <a:endParaRPr lang="en-US" sz="1000" dirty="0"/>
          </a:p>
        </p:txBody>
      </p:sp>
      <p:sp>
        <p:nvSpPr>
          <p:cNvPr id="32" name="Text 30"/>
          <p:cNvSpPr txBox="1"/>
          <p:nvPr/>
        </p:nvSpPr>
        <p:spPr>
          <a:xfrm>
            <a:off x="457200" y="3794760"/>
            <a:ext cx="8229600" cy="256032"/>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Pourquoi l'ELT pour UrbanHub ?</a:t>
            </a:r>
            <a:endParaRPr lang="en-US" sz="1300" dirty="0"/>
          </a:p>
        </p:txBody>
      </p:sp>
      <p:sp>
        <p:nvSpPr>
          <p:cNvPr id="33" name="Text 31"/>
          <p:cNvSpPr txBox="1"/>
          <p:nvPr/>
        </p:nvSpPr>
        <p:spPr>
          <a:xfrm>
            <a:off x="457200" y="4069080"/>
            <a:ext cx="822960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6222B"/>
                </a:solidFill>
                <a:latin typeface="Arial" pitchFamily="34" charset="0"/>
                <a:ea typeface="Arial" pitchFamily="34" charset="-122"/>
                <a:cs typeface="Arial" pitchFamily="34" charset="-120"/>
              </a:rPr>
              <a:t>La donnée brute est conservée : en cas d'erreur de nettoyage, on recommence sans retélécharger</a:t>
            </a:r>
            <a:endParaRPr lang="en-US" sz="1200" dirty="0"/>
          </a:p>
          <a:p>
            <a:pPr marL="342900" indent="-342900">
              <a:spcAft>
                <a:spcPts val="300"/>
              </a:spcAft>
              <a:buSzPct val="100000"/>
              <a:buChar char="•"/>
            </a:pPr>
            <a:r>
              <a:rPr lang="en-US" sz="1200" dirty="0">
                <a:solidFill>
                  <a:srgbClr val="16222B"/>
                </a:solidFill>
                <a:latin typeface="Arial" pitchFamily="34" charset="0"/>
                <a:ea typeface="Arial" pitchFamily="34" charset="-122"/>
                <a:cs typeface="Arial" pitchFamily="34" charset="-120"/>
              </a:rPr>
              <a:t>La collecte reste simple et rapide, ce qui compte pour le streaming toutes les 150 s</a:t>
            </a:r>
            <a:endParaRPr lang="en-US" sz="1200" dirty="0"/>
          </a:p>
        </p:txBody>
      </p:sp>
      <p:sp>
        <p:nvSpPr>
          <p:cNvPr id="34" name="Text 32"/>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5" name="Text 33"/>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NOTIONS CLÉS · USAGE DES DONNÉES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OLTP, OLAP et BI : faire tourner ou analyser</a:t>
            </a:r>
            <a:endParaRPr lang="en-US" sz="2600" dirty="0"/>
          </a:p>
        </p:txBody>
      </p:sp>
      <p:sp>
        <p:nvSpPr>
          <p:cNvPr id="4" name="Shape 2"/>
          <p:cNvSpPr/>
          <p:nvPr/>
        </p:nvSpPr>
        <p:spPr>
          <a:xfrm>
            <a:off x="457200" y="1325880"/>
            <a:ext cx="2560320" cy="2377440"/>
          </a:xfrm>
          <a:prstGeom prst="roundRect">
            <a:avLst>
              <a:gd name="adj" fmla="val 3077"/>
            </a:avLst>
          </a:prstGeom>
          <a:solidFill>
            <a:srgbClr val="EEF2F4"/>
          </a:solidFill>
          <a:ln w="12700">
            <a:solidFill>
              <a:srgbClr val="EEF2F4"/>
            </a:solidFill>
            <a:prstDash val="solid"/>
          </a:ln>
        </p:spPr>
      </p:sp>
      <p:sp>
        <p:nvSpPr>
          <p:cNvPr id="5" name="Text 3"/>
          <p:cNvSpPr txBox="1"/>
          <p:nvPr/>
        </p:nvSpPr>
        <p:spPr>
          <a:xfrm>
            <a:off x="658368" y="1490472"/>
            <a:ext cx="2157984" cy="365760"/>
          </a:xfrm>
          <a:prstGeom prst="rect">
            <a:avLst/>
          </a:prstGeom>
          <a:noFill/>
          <a:ln/>
        </p:spPr>
        <p:txBody>
          <a:bodyPr wrap="square" lIns="0" tIns="0" rIns="0" bIns="0" rtlCol="0" anchor="t"/>
          <a:lstStyle/>
          <a:p>
            <a:pPr indent="0" marL="0">
              <a:buNone/>
            </a:pPr>
            <a:r>
              <a:rPr lang="en-US" sz="2000" b="1" dirty="0">
                <a:solidFill>
                  <a:srgbClr val="16222B"/>
                </a:solidFill>
                <a:latin typeface="Arial" pitchFamily="34" charset="0"/>
                <a:ea typeface="Arial" pitchFamily="34" charset="-122"/>
                <a:cs typeface="Arial" pitchFamily="34" charset="-120"/>
              </a:rPr>
              <a:t>OLTP</a:t>
            </a:r>
            <a:endParaRPr lang="en-US" sz="2000" dirty="0"/>
          </a:p>
        </p:txBody>
      </p:sp>
      <p:sp>
        <p:nvSpPr>
          <p:cNvPr id="6" name="Text 4"/>
          <p:cNvSpPr txBox="1"/>
          <p:nvPr/>
        </p:nvSpPr>
        <p:spPr>
          <a:xfrm>
            <a:off x="658368" y="1856232"/>
            <a:ext cx="2157984" cy="256032"/>
          </a:xfrm>
          <a:prstGeom prst="rect">
            <a:avLst/>
          </a:prstGeom>
          <a:noFill/>
          <a:ln/>
        </p:spPr>
        <p:txBody>
          <a:bodyPr wrap="square" lIns="0" tIns="0" rIns="0" bIns="0" rtlCol="0" anchor="t"/>
          <a:lstStyle/>
          <a:p>
            <a:pPr indent="0" marL="0">
              <a:buNone/>
            </a:pPr>
            <a:r>
              <a:rPr lang="en-US" sz="1200" i="1" dirty="0">
                <a:solidFill>
                  <a:srgbClr val="16222B"/>
                </a:solidFill>
                <a:latin typeface="Arial" pitchFamily="34" charset="0"/>
                <a:ea typeface="Arial" pitchFamily="34" charset="-122"/>
                <a:cs typeface="Arial" pitchFamily="34" charset="-120"/>
              </a:rPr>
              <a:t>Faire tourner l'activité</a:t>
            </a:r>
            <a:endParaRPr lang="en-US" sz="1200" dirty="0"/>
          </a:p>
        </p:txBody>
      </p:sp>
      <p:sp>
        <p:nvSpPr>
          <p:cNvPr id="7" name="Text 5"/>
          <p:cNvSpPr txBox="1"/>
          <p:nvPr/>
        </p:nvSpPr>
        <p:spPr>
          <a:xfrm>
            <a:off x="658368" y="2194560"/>
            <a:ext cx="2157984" cy="4572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Beaucoup de petites écritures, en temps réel, sur l'état actuel</a:t>
            </a:r>
            <a:endParaRPr lang="en-US" sz="1100" dirty="0"/>
          </a:p>
        </p:txBody>
      </p:sp>
      <p:sp>
        <p:nvSpPr>
          <p:cNvPr id="8" name="Text 6"/>
          <p:cNvSpPr txBox="1"/>
          <p:nvPr/>
        </p:nvSpPr>
        <p:spPr>
          <a:xfrm>
            <a:off x="658368" y="2697480"/>
            <a:ext cx="2157984" cy="502920"/>
          </a:xfrm>
          <a:prstGeom prst="rect">
            <a:avLst/>
          </a:prstGeom>
          <a:noFill/>
          <a:ln/>
        </p:spPr>
        <p:txBody>
          <a:bodyPr wrap="square" lIns="0" tIns="0" rIns="0" bIns="0" rtlCol="0" anchor="t"/>
          <a:lstStyle/>
          <a:p>
            <a:pPr indent="0" marL="0">
              <a:buNone/>
            </a:pPr>
            <a:r>
              <a:rPr lang="en-US" sz="1100" b="1" dirty="0">
                <a:solidFill>
                  <a:srgbClr val="16222B"/>
                </a:solidFill>
                <a:latin typeface="Arial" pitchFamily="34" charset="0"/>
                <a:ea typeface="Arial" pitchFamily="34" charset="-122"/>
                <a:cs typeface="Arial" pitchFamily="34" charset="-120"/>
              </a:rPr>
              <a:t>Ex. : </a:t>
            </a:r>
            <a:pPr indent="0" marL="0">
              <a:buNone/>
            </a:pPr>
            <a:r>
              <a:rPr lang="en-US" sz="1100" dirty="0">
                <a:solidFill>
                  <a:srgbClr val="16222B"/>
                </a:solidFill>
                <a:latin typeface="Arial" pitchFamily="34" charset="0"/>
                <a:ea typeface="Arial" pitchFamily="34" charset="-122"/>
                <a:cs typeface="Arial" pitchFamily="34" charset="-120"/>
              </a:rPr>
              <a:t>Le système de l'opérateur Vélib' qui enregistre chaque location</a:t>
            </a:r>
            <a:endParaRPr lang="en-US" sz="1100" dirty="0"/>
          </a:p>
        </p:txBody>
      </p:sp>
      <p:sp>
        <p:nvSpPr>
          <p:cNvPr id="9" name="Text 7"/>
          <p:cNvSpPr txBox="1"/>
          <p:nvPr/>
        </p:nvSpPr>
        <p:spPr>
          <a:xfrm>
            <a:off x="658368" y="3264408"/>
            <a:ext cx="2157984" cy="274320"/>
          </a:xfrm>
          <a:prstGeom prst="rect">
            <a:avLst/>
          </a:prstGeom>
          <a:noFill/>
          <a:ln/>
        </p:spPr>
        <p:txBody>
          <a:bodyPr wrap="square" lIns="0" tIns="0" rIns="0" bIns="0" rtlCol="0" anchor="t"/>
          <a:lstStyle/>
          <a:p>
            <a:pPr indent="0" marL="0">
              <a:buNone/>
            </a:pPr>
            <a:r>
              <a:rPr lang="en-US" sz="1100" b="1" dirty="0">
                <a:solidFill>
                  <a:srgbClr val="5B6B74"/>
                </a:solidFill>
                <a:latin typeface="Arial" pitchFamily="34" charset="0"/>
                <a:ea typeface="Arial" pitchFamily="34" charset="-122"/>
                <a:cs typeface="Arial" pitchFamily="34" charset="-120"/>
              </a:rPr>
              <a:t>Côté source : on le lit via l'API</a:t>
            </a:r>
            <a:endParaRPr lang="en-US" sz="1100" dirty="0"/>
          </a:p>
        </p:txBody>
      </p:sp>
      <p:sp>
        <p:nvSpPr>
          <p:cNvPr id="10" name="Shape 8"/>
          <p:cNvSpPr/>
          <p:nvPr/>
        </p:nvSpPr>
        <p:spPr>
          <a:xfrm>
            <a:off x="3200400" y="1325880"/>
            <a:ext cx="2560320" cy="2377440"/>
          </a:xfrm>
          <a:prstGeom prst="roundRect">
            <a:avLst>
              <a:gd name="adj" fmla="val 3077"/>
            </a:avLst>
          </a:prstGeom>
          <a:solidFill>
            <a:srgbClr val="EEF2F4"/>
          </a:solidFill>
          <a:ln w="12700">
            <a:solidFill>
              <a:srgbClr val="EEF2F4"/>
            </a:solidFill>
            <a:prstDash val="solid"/>
          </a:ln>
        </p:spPr>
      </p:sp>
      <p:sp>
        <p:nvSpPr>
          <p:cNvPr id="11" name="Text 9"/>
          <p:cNvSpPr txBox="1"/>
          <p:nvPr/>
        </p:nvSpPr>
        <p:spPr>
          <a:xfrm>
            <a:off x="3401568" y="1490472"/>
            <a:ext cx="2157984" cy="365760"/>
          </a:xfrm>
          <a:prstGeom prst="rect">
            <a:avLst/>
          </a:prstGeom>
          <a:noFill/>
          <a:ln/>
        </p:spPr>
        <p:txBody>
          <a:bodyPr wrap="square" lIns="0" tIns="0" rIns="0" bIns="0" rtlCol="0" anchor="t"/>
          <a:lstStyle/>
          <a:p>
            <a:pPr indent="0" marL="0">
              <a:buNone/>
            </a:pPr>
            <a:r>
              <a:rPr lang="en-US" sz="2000" b="1" dirty="0">
                <a:solidFill>
                  <a:srgbClr val="3A7BD5"/>
                </a:solidFill>
                <a:latin typeface="Arial" pitchFamily="34" charset="0"/>
                <a:ea typeface="Arial" pitchFamily="34" charset="-122"/>
                <a:cs typeface="Arial" pitchFamily="34" charset="-120"/>
              </a:rPr>
              <a:t>OLAP</a:t>
            </a:r>
            <a:endParaRPr lang="en-US" sz="2000" dirty="0"/>
          </a:p>
        </p:txBody>
      </p:sp>
      <p:sp>
        <p:nvSpPr>
          <p:cNvPr id="12" name="Text 10"/>
          <p:cNvSpPr txBox="1"/>
          <p:nvPr/>
        </p:nvSpPr>
        <p:spPr>
          <a:xfrm>
            <a:off x="3401568" y="1856232"/>
            <a:ext cx="2157984" cy="256032"/>
          </a:xfrm>
          <a:prstGeom prst="rect">
            <a:avLst/>
          </a:prstGeom>
          <a:noFill/>
          <a:ln/>
        </p:spPr>
        <p:txBody>
          <a:bodyPr wrap="square" lIns="0" tIns="0" rIns="0" bIns="0" rtlCol="0" anchor="t"/>
          <a:lstStyle/>
          <a:p>
            <a:pPr indent="0" marL="0">
              <a:buNone/>
            </a:pPr>
            <a:r>
              <a:rPr lang="en-US" sz="1200" i="1" dirty="0">
                <a:solidFill>
                  <a:srgbClr val="16222B"/>
                </a:solidFill>
                <a:latin typeface="Arial" pitchFamily="34" charset="0"/>
                <a:ea typeface="Arial" pitchFamily="34" charset="-122"/>
                <a:cs typeface="Arial" pitchFamily="34" charset="-120"/>
              </a:rPr>
              <a:t>Analyser l'activité</a:t>
            </a:r>
            <a:endParaRPr lang="en-US" sz="1200" dirty="0"/>
          </a:p>
        </p:txBody>
      </p:sp>
      <p:sp>
        <p:nvSpPr>
          <p:cNvPr id="13" name="Text 11"/>
          <p:cNvSpPr txBox="1"/>
          <p:nvPr/>
        </p:nvSpPr>
        <p:spPr>
          <a:xfrm>
            <a:off x="3401568" y="2194560"/>
            <a:ext cx="2157984" cy="4572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Grosses lectures et agrégations, sur l'historique</a:t>
            </a:r>
            <a:endParaRPr lang="en-US" sz="1100" dirty="0"/>
          </a:p>
        </p:txBody>
      </p:sp>
      <p:sp>
        <p:nvSpPr>
          <p:cNvPr id="14" name="Text 12"/>
          <p:cNvSpPr txBox="1"/>
          <p:nvPr/>
        </p:nvSpPr>
        <p:spPr>
          <a:xfrm>
            <a:off x="3401568" y="2697480"/>
            <a:ext cx="2157984" cy="502920"/>
          </a:xfrm>
          <a:prstGeom prst="rect">
            <a:avLst/>
          </a:prstGeom>
          <a:noFill/>
          <a:ln/>
        </p:spPr>
        <p:txBody>
          <a:bodyPr wrap="square" lIns="0" tIns="0" rIns="0" bIns="0" rtlCol="0" anchor="t"/>
          <a:lstStyle/>
          <a:p>
            <a:pPr indent="0" marL="0">
              <a:buNone/>
            </a:pPr>
            <a:r>
              <a:rPr lang="en-US" sz="1100" b="1" dirty="0">
                <a:solidFill>
                  <a:srgbClr val="16222B"/>
                </a:solidFill>
                <a:latin typeface="Arial" pitchFamily="34" charset="0"/>
                <a:ea typeface="Arial" pitchFamily="34" charset="-122"/>
                <a:cs typeface="Arial" pitchFamily="34" charset="-120"/>
              </a:rPr>
              <a:t>Ex. : </a:t>
            </a:r>
            <a:pPr indent="0" marL="0">
              <a:buNone/>
            </a:pPr>
            <a:r>
              <a:rPr lang="en-US" sz="1100" dirty="0">
                <a:solidFill>
                  <a:srgbClr val="16222B"/>
                </a:solidFill>
                <a:latin typeface="Arial" pitchFamily="34" charset="0"/>
                <a:ea typeface="Arial" pitchFamily="34" charset="-122"/>
                <a:cs typeface="Arial" pitchFamily="34" charset="-120"/>
              </a:rPr>
              <a:t>« Vélos disponibles en moyenne à 8 h, par ville ? »</a:t>
            </a:r>
            <a:endParaRPr lang="en-US" sz="1100" dirty="0"/>
          </a:p>
        </p:txBody>
      </p:sp>
      <p:sp>
        <p:nvSpPr>
          <p:cNvPr id="15" name="Text 13"/>
          <p:cNvSpPr txBox="1"/>
          <p:nvPr/>
        </p:nvSpPr>
        <p:spPr>
          <a:xfrm>
            <a:off x="3401568" y="3264408"/>
            <a:ext cx="2157984" cy="274320"/>
          </a:xfrm>
          <a:prstGeom prst="rect">
            <a:avLst/>
          </a:prstGeom>
          <a:noFill/>
          <a:ln/>
        </p:spPr>
        <p:txBody>
          <a:bodyPr wrap="square" lIns="0" tIns="0" rIns="0" bIns="0" rtlCol="0" anchor="t"/>
          <a:lstStyle/>
          <a:p>
            <a:pPr indent="0" marL="0">
              <a:buNone/>
            </a:pPr>
            <a:r>
              <a:rPr lang="en-US" sz="1100" b="1" dirty="0">
                <a:solidFill>
                  <a:srgbClr val="3A7BD5"/>
                </a:solidFill>
                <a:latin typeface="Arial" pitchFamily="34" charset="0"/>
                <a:ea typeface="Arial" pitchFamily="34" charset="-122"/>
                <a:cs typeface="Arial" pitchFamily="34" charset="-120"/>
              </a:rPr>
              <a:t>Notre Data Warehouse PostgreSQL</a:t>
            </a:r>
            <a:endParaRPr lang="en-US" sz="1100" dirty="0"/>
          </a:p>
        </p:txBody>
      </p:sp>
      <p:sp>
        <p:nvSpPr>
          <p:cNvPr id="16" name="Shape 14"/>
          <p:cNvSpPr/>
          <p:nvPr/>
        </p:nvSpPr>
        <p:spPr>
          <a:xfrm>
            <a:off x="6035040" y="1325880"/>
            <a:ext cx="2651760" cy="2377440"/>
          </a:xfrm>
          <a:prstGeom prst="roundRect">
            <a:avLst>
              <a:gd name="adj" fmla="val 3077"/>
            </a:avLst>
          </a:prstGeom>
          <a:solidFill>
            <a:srgbClr val="16222B"/>
          </a:solidFill>
          <a:ln w="12700">
            <a:solidFill>
              <a:srgbClr val="16222B"/>
            </a:solidFill>
            <a:prstDash val="solid"/>
          </a:ln>
        </p:spPr>
      </p:sp>
      <p:sp>
        <p:nvSpPr>
          <p:cNvPr id="17" name="Text 15"/>
          <p:cNvSpPr txBox="1"/>
          <p:nvPr/>
        </p:nvSpPr>
        <p:spPr>
          <a:xfrm>
            <a:off x="6236208" y="1490472"/>
            <a:ext cx="2286000" cy="365760"/>
          </a:xfrm>
          <a:prstGeom prst="rect">
            <a:avLst/>
          </a:prstGeom>
          <a:noFill/>
          <a:ln/>
        </p:spPr>
        <p:txBody>
          <a:bodyPr wrap="square" lIns="0" tIns="0" rIns="0" bIns="0" rtlCol="0" anchor="t"/>
          <a:lstStyle/>
          <a:p>
            <a:pPr indent="0" marL="0">
              <a:buNone/>
            </a:pPr>
            <a:r>
              <a:rPr lang="en-US" sz="2000" b="1" dirty="0">
                <a:solidFill>
                  <a:srgbClr val="1C9A8A"/>
                </a:solidFill>
                <a:latin typeface="Arial" pitchFamily="34" charset="0"/>
                <a:ea typeface="Arial" pitchFamily="34" charset="-122"/>
                <a:cs typeface="Arial" pitchFamily="34" charset="-120"/>
              </a:rPr>
              <a:t>BI</a:t>
            </a:r>
            <a:endParaRPr lang="en-US" sz="2000" dirty="0"/>
          </a:p>
        </p:txBody>
      </p:sp>
      <p:sp>
        <p:nvSpPr>
          <p:cNvPr id="18" name="Text 16"/>
          <p:cNvSpPr txBox="1"/>
          <p:nvPr/>
        </p:nvSpPr>
        <p:spPr>
          <a:xfrm>
            <a:off x="6236208" y="1856232"/>
            <a:ext cx="2286000" cy="256032"/>
          </a:xfrm>
          <a:prstGeom prst="rect">
            <a:avLst/>
          </a:prstGeom>
          <a:noFill/>
          <a:ln/>
        </p:spPr>
        <p:txBody>
          <a:bodyPr wrap="square" lIns="0" tIns="0" rIns="0" bIns="0" rtlCol="0" anchor="t"/>
          <a:lstStyle/>
          <a:p>
            <a:pPr indent="0" marL="0">
              <a:buNone/>
            </a:pPr>
            <a:r>
              <a:rPr lang="en-US" sz="1200" i="1" dirty="0">
                <a:solidFill>
                  <a:srgbClr val="FFFFFF"/>
                </a:solidFill>
                <a:latin typeface="Arial" pitchFamily="34" charset="0"/>
                <a:ea typeface="Arial" pitchFamily="34" charset="-122"/>
                <a:cs typeface="Arial" pitchFamily="34" charset="-120"/>
              </a:rPr>
              <a:t>Business Intelligence</a:t>
            </a:r>
            <a:endParaRPr lang="en-US" sz="1200" dirty="0"/>
          </a:p>
        </p:txBody>
      </p:sp>
      <p:sp>
        <p:nvSpPr>
          <p:cNvPr id="19" name="Text 17"/>
          <p:cNvSpPr txBox="1"/>
          <p:nvPr/>
        </p:nvSpPr>
        <p:spPr>
          <a:xfrm>
            <a:off x="6236208" y="2194560"/>
            <a:ext cx="2286000" cy="685800"/>
          </a:xfrm>
          <a:prstGeom prst="rect">
            <a:avLst/>
          </a:prstGeom>
          <a:noFill/>
          <a:ln/>
        </p:spPr>
        <p:txBody>
          <a:bodyPr wrap="square" lIns="0" tIns="0" rIns="0" bIns="0" rtlCol="0" anchor="t"/>
          <a:lstStyle/>
          <a:p>
            <a:pPr indent="0" marL="0">
              <a:buNone/>
            </a:pPr>
            <a:r>
              <a:rPr lang="en-US" sz="1100" dirty="0">
                <a:solidFill>
                  <a:srgbClr val="AFC0C8"/>
                </a:solidFill>
                <a:latin typeface="Arial" pitchFamily="34" charset="0"/>
                <a:ea typeface="Arial" pitchFamily="34" charset="-122"/>
                <a:cs typeface="Arial" pitchFamily="34" charset="-120"/>
              </a:rPr>
              <a:t>Transformer les analyses OLAP en tableaux de bord lisibles par les décideurs.</a:t>
            </a:r>
            <a:endParaRPr lang="en-US" sz="1100" dirty="0"/>
          </a:p>
        </p:txBody>
      </p:sp>
      <p:sp>
        <p:nvSpPr>
          <p:cNvPr id="20" name="Text 18"/>
          <p:cNvSpPr txBox="1"/>
          <p:nvPr/>
        </p:nvSpPr>
        <p:spPr>
          <a:xfrm>
            <a:off x="6236208" y="3264408"/>
            <a:ext cx="2286000" cy="274320"/>
          </a:xfrm>
          <a:prstGeom prst="rect">
            <a:avLst/>
          </a:prstGeom>
          <a:noFill/>
          <a:ln/>
        </p:spPr>
        <p:txBody>
          <a:bodyPr wrap="square" lIns="0" tIns="0" rIns="0" bIns="0" rtlCol="0" anchor="t"/>
          <a:lstStyle/>
          <a:p>
            <a:pPr indent="0" marL="0">
              <a:buNone/>
            </a:pPr>
            <a:r>
              <a:rPr lang="en-US" sz="1100" b="1" dirty="0">
                <a:solidFill>
                  <a:srgbClr val="1C9A8A"/>
                </a:solidFill>
                <a:latin typeface="Arial" pitchFamily="34" charset="0"/>
                <a:ea typeface="Arial" pitchFamily="34" charset="-122"/>
                <a:cs typeface="Arial" pitchFamily="34" charset="-120"/>
              </a:rPr>
              <a:t>Chez nous : Metabase</a:t>
            </a:r>
            <a:endParaRPr lang="en-US" sz="1100" dirty="0"/>
          </a:p>
        </p:txBody>
      </p:sp>
      <p:sp>
        <p:nvSpPr>
          <p:cNvPr id="21" name="Shape 19"/>
          <p:cNvSpPr/>
          <p:nvPr/>
        </p:nvSpPr>
        <p:spPr>
          <a:xfrm>
            <a:off x="457200" y="4023360"/>
            <a:ext cx="1744675" cy="365760"/>
          </a:xfrm>
          <a:prstGeom prst="roundRect">
            <a:avLst>
              <a:gd name="adj" fmla="val 50000"/>
            </a:avLst>
          </a:prstGeom>
          <a:solidFill>
            <a:srgbClr val="EEF2F4"/>
          </a:solidFill>
          <a:ln w="12700">
            <a:solidFill>
              <a:srgbClr val="EEF2F4"/>
            </a:solidFill>
            <a:prstDash val="solid"/>
          </a:ln>
        </p:spPr>
      </p:sp>
      <p:sp>
        <p:nvSpPr>
          <p:cNvPr id="22" name="Text 20"/>
          <p:cNvSpPr txBox="1"/>
          <p:nvPr/>
        </p:nvSpPr>
        <p:spPr>
          <a:xfrm>
            <a:off x="457200" y="4023360"/>
            <a:ext cx="1744675" cy="365760"/>
          </a:xfrm>
          <a:prstGeom prst="rect">
            <a:avLst/>
          </a:prstGeom>
          <a:noFill/>
          <a:ln/>
        </p:spPr>
        <p:txBody>
          <a:bodyPr wrap="square" lIns="0" tIns="0" rIns="0" bIns="0" rtlCol="0" anchor="ctr"/>
          <a:lstStyle/>
          <a:p>
            <a:pPr algn="ctr" indent="0" marL="0">
              <a:buNone/>
            </a:pPr>
            <a:r>
              <a:rPr lang="en-US" sz="1100" b="1" dirty="0">
                <a:solidFill>
                  <a:srgbClr val="16222B"/>
                </a:solidFill>
                <a:latin typeface="Arial" pitchFamily="34" charset="0"/>
                <a:ea typeface="Arial" pitchFamily="34" charset="-122"/>
                <a:cs typeface="Arial" pitchFamily="34" charset="-120"/>
              </a:rPr>
              <a:t>OLTP de l'opérateur</a:t>
            </a:r>
            <a:endParaRPr lang="en-US" sz="1100" dirty="0"/>
          </a:p>
        </p:txBody>
      </p:sp>
      <p:sp>
        <p:nvSpPr>
          <p:cNvPr id="23" name="Text 21"/>
          <p:cNvSpPr txBox="1"/>
          <p:nvPr/>
        </p:nvSpPr>
        <p:spPr>
          <a:xfrm>
            <a:off x="2201875" y="4023360"/>
            <a:ext cx="274320" cy="365760"/>
          </a:xfrm>
          <a:prstGeom prst="rect">
            <a:avLst/>
          </a:prstGeom>
          <a:noFill/>
          <a:ln/>
        </p:spPr>
        <p:txBody>
          <a:bodyPr wrap="square" lIns="0" tIns="0" rIns="0" bIns="0" rtlCol="0" anchor="ctr"/>
          <a:lstStyle/>
          <a:p>
            <a:pPr algn="ctr" indent="0" marL="0">
              <a:buNone/>
            </a:pPr>
            <a:r>
              <a:rPr lang="en-US" sz="1600" b="1" dirty="0">
                <a:solidFill>
                  <a:srgbClr val="AFC0C8"/>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2476195" y="4023360"/>
            <a:ext cx="544982" cy="365760"/>
          </a:xfrm>
          <a:prstGeom prst="roundRect">
            <a:avLst>
              <a:gd name="adj" fmla="val 50000"/>
            </a:avLst>
          </a:prstGeom>
          <a:solidFill>
            <a:srgbClr val="EEF2F4"/>
          </a:solidFill>
          <a:ln w="12700">
            <a:solidFill>
              <a:srgbClr val="EEF2F4"/>
            </a:solidFill>
            <a:prstDash val="solid"/>
          </a:ln>
        </p:spPr>
      </p:sp>
      <p:sp>
        <p:nvSpPr>
          <p:cNvPr id="25" name="Text 23"/>
          <p:cNvSpPr txBox="1"/>
          <p:nvPr/>
        </p:nvSpPr>
        <p:spPr>
          <a:xfrm>
            <a:off x="2476195" y="4023360"/>
            <a:ext cx="544982" cy="365760"/>
          </a:xfrm>
          <a:prstGeom prst="rect">
            <a:avLst/>
          </a:prstGeom>
          <a:noFill/>
          <a:ln/>
        </p:spPr>
        <p:txBody>
          <a:bodyPr wrap="square" lIns="0" tIns="0" rIns="0" bIns="0" rtlCol="0" anchor="ctr"/>
          <a:lstStyle/>
          <a:p>
            <a:pPr algn="ctr" indent="0" marL="0">
              <a:buNone/>
            </a:pPr>
            <a:r>
              <a:rPr lang="en-US" sz="1100" b="1" dirty="0">
                <a:solidFill>
                  <a:srgbClr val="16222B"/>
                </a:solidFill>
                <a:latin typeface="Arial" pitchFamily="34" charset="0"/>
                <a:ea typeface="Arial" pitchFamily="34" charset="-122"/>
                <a:cs typeface="Arial" pitchFamily="34" charset="-120"/>
              </a:rPr>
              <a:t>API</a:t>
            </a:r>
            <a:endParaRPr lang="en-US" sz="1100" dirty="0"/>
          </a:p>
        </p:txBody>
      </p:sp>
      <p:sp>
        <p:nvSpPr>
          <p:cNvPr id="26" name="Text 24"/>
          <p:cNvSpPr txBox="1"/>
          <p:nvPr/>
        </p:nvSpPr>
        <p:spPr>
          <a:xfrm>
            <a:off x="3021178" y="4023360"/>
            <a:ext cx="274320" cy="365760"/>
          </a:xfrm>
          <a:prstGeom prst="rect">
            <a:avLst/>
          </a:prstGeom>
          <a:noFill/>
          <a:ln/>
        </p:spPr>
        <p:txBody>
          <a:bodyPr wrap="square" lIns="0" tIns="0" rIns="0" bIns="0" rtlCol="0" anchor="ctr"/>
          <a:lstStyle/>
          <a:p>
            <a:pPr algn="ctr" indent="0" marL="0">
              <a:buNone/>
            </a:pPr>
            <a:r>
              <a:rPr lang="en-US" sz="1600" b="1" dirty="0">
                <a:solidFill>
                  <a:srgbClr val="AFC0C8"/>
                </a:solidFill>
                <a:latin typeface="Arial" pitchFamily="34" charset="0"/>
                <a:ea typeface="Arial" pitchFamily="34" charset="-122"/>
                <a:cs typeface="Arial" pitchFamily="34" charset="-120"/>
              </a:rPr>
              <a:t>›</a:t>
            </a:r>
            <a:endParaRPr lang="en-US" sz="1600" dirty="0"/>
          </a:p>
        </p:txBody>
      </p:sp>
      <p:sp>
        <p:nvSpPr>
          <p:cNvPr id="27" name="Shape 25"/>
          <p:cNvSpPr/>
          <p:nvPr/>
        </p:nvSpPr>
        <p:spPr>
          <a:xfrm>
            <a:off x="3295498" y="4023360"/>
            <a:ext cx="994867" cy="365760"/>
          </a:xfrm>
          <a:prstGeom prst="roundRect">
            <a:avLst>
              <a:gd name="adj" fmla="val 50000"/>
            </a:avLst>
          </a:prstGeom>
          <a:solidFill>
            <a:srgbClr val="EEF2F4"/>
          </a:solidFill>
          <a:ln w="12700">
            <a:solidFill>
              <a:srgbClr val="EEF2F4"/>
            </a:solidFill>
            <a:prstDash val="solid"/>
          </a:ln>
        </p:spPr>
      </p:sp>
      <p:sp>
        <p:nvSpPr>
          <p:cNvPr id="28" name="Text 26"/>
          <p:cNvSpPr txBox="1"/>
          <p:nvPr/>
        </p:nvSpPr>
        <p:spPr>
          <a:xfrm>
            <a:off x="3295498" y="4023360"/>
            <a:ext cx="994867" cy="365760"/>
          </a:xfrm>
          <a:prstGeom prst="rect">
            <a:avLst/>
          </a:prstGeom>
          <a:noFill/>
          <a:ln/>
        </p:spPr>
        <p:txBody>
          <a:bodyPr wrap="square" lIns="0" tIns="0" rIns="0" bIns="0" rtlCol="0" anchor="ctr"/>
          <a:lstStyle/>
          <a:p>
            <a:pPr algn="ctr" indent="0" marL="0">
              <a:buNone/>
            </a:pPr>
            <a:r>
              <a:rPr lang="en-US" sz="1100" b="1" dirty="0">
                <a:solidFill>
                  <a:srgbClr val="16222B"/>
                </a:solidFill>
                <a:latin typeface="Arial" pitchFamily="34" charset="0"/>
                <a:ea typeface="Arial" pitchFamily="34" charset="-122"/>
                <a:cs typeface="Arial" pitchFamily="34" charset="-120"/>
              </a:rPr>
              <a:t>Data Lake</a:t>
            </a:r>
            <a:endParaRPr lang="en-US" sz="1100" dirty="0"/>
          </a:p>
        </p:txBody>
      </p:sp>
      <p:sp>
        <p:nvSpPr>
          <p:cNvPr id="29" name="Text 27"/>
          <p:cNvSpPr txBox="1"/>
          <p:nvPr/>
        </p:nvSpPr>
        <p:spPr>
          <a:xfrm>
            <a:off x="4290365" y="4023360"/>
            <a:ext cx="274320" cy="365760"/>
          </a:xfrm>
          <a:prstGeom prst="rect">
            <a:avLst/>
          </a:prstGeom>
          <a:noFill/>
          <a:ln/>
        </p:spPr>
        <p:txBody>
          <a:bodyPr wrap="square" lIns="0" tIns="0" rIns="0" bIns="0" rtlCol="0" anchor="ctr"/>
          <a:lstStyle/>
          <a:p>
            <a:pPr algn="ctr" indent="0" marL="0">
              <a:buNone/>
            </a:pPr>
            <a:r>
              <a:rPr lang="en-US" sz="1600" b="1" dirty="0">
                <a:solidFill>
                  <a:srgbClr val="AFC0C8"/>
                </a:solidFill>
                <a:latin typeface="Arial" pitchFamily="34" charset="0"/>
                <a:ea typeface="Arial" pitchFamily="34" charset="-122"/>
                <a:cs typeface="Arial" pitchFamily="34" charset="-120"/>
              </a:rPr>
              <a:t>›</a:t>
            </a:r>
            <a:endParaRPr lang="en-US" sz="1600" dirty="0"/>
          </a:p>
        </p:txBody>
      </p:sp>
      <p:sp>
        <p:nvSpPr>
          <p:cNvPr id="30" name="Shape 28"/>
          <p:cNvSpPr/>
          <p:nvPr/>
        </p:nvSpPr>
        <p:spPr>
          <a:xfrm>
            <a:off x="4564685" y="4023360"/>
            <a:ext cx="1894637" cy="365760"/>
          </a:xfrm>
          <a:prstGeom prst="roundRect">
            <a:avLst>
              <a:gd name="adj" fmla="val 50000"/>
            </a:avLst>
          </a:prstGeom>
          <a:solidFill>
            <a:srgbClr val="EEF2F4"/>
          </a:solidFill>
          <a:ln w="12700">
            <a:solidFill>
              <a:srgbClr val="EEF2F4"/>
            </a:solidFill>
            <a:prstDash val="solid"/>
          </a:ln>
        </p:spPr>
      </p:sp>
      <p:sp>
        <p:nvSpPr>
          <p:cNvPr id="31" name="Text 29"/>
          <p:cNvSpPr txBox="1"/>
          <p:nvPr/>
        </p:nvSpPr>
        <p:spPr>
          <a:xfrm>
            <a:off x="4564685" y="4023360"/>
            <a:ext cx="1894637" cy="365760"/>
          </a:xfrm>
          <a:prstGeom prst="rect">
            <a:avLst/>
          </a:prstGeom>
          <a:noFill/>
          <a:ln/>
        </p:spPr>
        <p:txBody>
          <a:bodyPr wrap="square" lIns="0" tIns="0" rIns="0" bIns="0" rtlCol="0" anchor="ctr"/>
          <a:lstStyle/>
          <a:p>
            <a:pPr algn="ctr" indent="0" marL="0">
              <a:buNone/>
            </a:pPr>
            <a:r>
              <a:rPr lang="en-US" sz="1100" b="1" dirty="0">
                <a:solidFill>
                  <a:srgbClr val="16222B"/>
                </a:solidFill>
                <a:latin typeface="Arial" pitchFamily="34" charset="0"/>
                <a:ea typeface="Arial" pitchFamily="34" charset="-122"/>
                <a:cs typeface="Arial" pitchFamily="34" charset="-120"/>
              </a:rPr>
              <a:t>Data Warehouse (OLAP)</a:t>
            </a:r>
            <a:endParaRPr lang="en-US" sz="1100" dirty="0"/>
          </a:p>
        </p:txBody>
      </p:sp>
      <p:sp>
        <p:nvSpPr>
          <p:cNvPr id="32" name="Text 30"/>
          <p:cNvSpPr txBox="1"/>
          <p:nvPr/>
        </p:nvSpPr>
        <p:spPr>
          <a:xfrm>
            <a:off x="6459322" y="4023360"/>
            <a:ext cx="274320" cy="365760"/>
          </a:xfrm>
          <a:prstGeom prst="rect">
            <a:avLst/>
          </a:prstGeom>
          <a:noFill/>
          <a:ln/>
        </p:spPr>
        <p:txBody>
          <a:bodyPr wrap="square" lIns="0" tIns="0" rIns="0" bIns="0" rtlCol="0" anchor="ctr"/>
          <a:lstStyle/>
          <a:p>
            <a:pPr algn="ctr" indent="0" marL="0">
              <a:buNone/>
            </a:pPr>
            <a:r>
              <a:rPr lang="en-US" sz="1600" b="1" dirty="0">
                <a:solidFill>
                  <a:srgbClr val="AFC0C8"/>
                </a:solidFill>
                <a:latin typeface="Arial" pitchFamily="34" charset="0"/>
                <a:ea typeface="Arial" pitchFamily="34" charset="-122"/>
                <a:cs typeface="Arial" pitchFamily="34" charset="-120"/>
              </a:rPr>
              <a:t>›</a:t>
            </a:r>
            <a:endParaRPr lang="en-US" sz="1600" dirty="0"/>
          </a:p>
        </p:txBody>
      </p:sp>
      <p:sp>
        <p:nvSpPr>
          <p:cNvPr id="33" name="Shape 31"/>
          <p:cNvSpPr/>
          <p:nvPr/>
        </p:nvSpPr>
        <p:spPr>
          <a:xfrm>
            <a:off x="6733642" y="4023360"/>
            <a:ext cx="470002" cy="365760"/>
          </a:xfrm>
          <a:prstGeom prst="roundRect">
            <a:avLst>
              <a:gd name="adj" fmla="val 50000"/>
            </a:avLst>
          </a:prstGeom>
          <a:solidFill>
            <a:srgbClr val="EEF2F4"/>
          </a:solidFill>
          <a:ln w="12700">
            <a:solidFill>
              <a:srgbClr val="EEF2F4"/>
            </a:solidFill>
            <a:prstDash val="solid"/>
          </a:ln>
        </p:spPr>
      </p:sp>
      <p:sp>
        <p:nvSpPr>
          <p:cNvPr id="34" name="Text 32"/>
          <p:cNvSpPr txBox="1"/>
          <p:nvPr/>
        </p:nvSpPr>
        <p:spPr>
          <a:xfrm>
            <a:off x="6733642" y="4023360"/>
            <a:ext cx="470002" cy="365760"/>
          </a:xfrm>
          <a:prstGeom prst="rect">
            <a:avLst/>
          </a:prstGeom>
          <a:noFill/>
          <a:ln/>
        </p:spPr>
        <p:txBody>
          <a:bodyPr wrap="square" lIns="0" tIns="0" rIns="0" bIns="0" rtlCol="0" anchor="ctr"/>
          <a:lstStyle/>
          <a:p>
            <a:pPr algn="ctr" indent="0" marL="0">
              <a:buNone/>
            </a:pPr>
            <a:r>
              <a:rPr lang="en-US" sz="1100" b="1" dirty="0">
                <a:solidFill>
                  <a:srgbClr val="16222B"/>
                </a:solidFill>
                <a:latin typeface="Arial" pitchFamily="34" charset="0"/>
                <a:ea typeface="Arial" pitchFamily="34" charset="-122"/>
                <a:cs typeface="Arial" pitchFamily="34" charset="-120"/>
              </a:rPr>
              <a:t>BI</a:t>
            </a:r>
            <a:endParaRPr lang="en-US" sz="1100" dirty="0"/>
          </a:p>
        </p:txBody>
      </p:sp>
      <p:sp>
        <p:nvSpPr>
          <p:cNvPr id="35" name="Text 3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6" name="Text 3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3A7BD5"/>
                </a:solidFill>
                <a:latin typeface="Arial" pitchFamily="34" charset="0"/>
                <a:ea typeface="Arial" pitchFamily="34" charset="-122"/>
                <a:cs typeface="Arial" pitchFamily="34" charset="-120"/>
              </a:rPr>
              <a:t>PARTIE 1 · FLUX BATCH</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Météo : 5 ans d'observations horaires en France</a:t>
            </a:r>
            <a:endParaRPr lang="en-US" sz="2600" dirty="0"/>
          </a:p>
        </p:txBody>
      </p:sp>
      <p:sp>
        <p:nvSpPr>
          <p:cNvPr id="4" name="Shape 2"/>
          <p:cNvSpPr/>
          <p:nvPr/>
        </p:nvSpPr>
        <p:spPr>
          <a:xfrm>
            <a:off x="457200" y="1371600"/>
            <a:ext cx="2926080" cy="3108960"/>
          </a:xfrm>
          <a:prstGeom prst="roundRect">
            <a:avLst>
              <a:gd name="adj" fmla="val 2500"/>
            </a:avLst>
          </a:prstGeom>
          <a:solidFill>
            <a:srgbClr val="16222B"/>
          </a:solidFill>
          <a:ln w="12700">
            <a:solidFill>
              <a:srgbClr val="16222B"/>
            </a:solidFill>
            <a:prstDash val="solid"/>
          </a:ln>
        </p:spPr>
      </p:sp>
      <p:sp>
        <p:nvSpPr>
          <p:cNvPr id="5" name="Text 3"/>
          <p:cNvSpPr txBox="1"/>
          <p:nvPr/>
        </p:nvSpPr>
        <p:spPr>
          <a:xfrm>
            <a:off x="685800" y="1554480"/>
            <a:ext cx="2560320" cy="73152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5 ans</a:t>
            </a:r>
            <a:endParaRPr lang="en-US" sz="4400" dirty="0"/>
          </a:p>
        </p:txBody>
      </p:sp>
      <p:sp>
        <p:nvSpPr>
          <p:cNvPr id="6" name="Text 4"/>
          <p:cNvSpPr txBox="1"/>
          <p:nvPr/>
        </p:nvSpPr>
        <p:spPr>
          <a:xfrm>
            <a:off x="685800" y="2286000"/>
            <a:ext cx="2560320" cy="274320"/>
          </a:xfrm>
          <a:prstGeom prst="rect">
            <a:avLst/>
          </a:prstGeom>
          <a:noFill/>
          <a:ln/>
        </p:spPr>
        <p:txBody>
          <a:bodyPr wrap="square" lIns="0" tIns="0" rIns="0" bIns="0" rtlCol="0" anchor="t"/>
          <a:lstStyle/>
          <a:p>
            <a:pPr indent="0" marL="0">
              <a:buNone/>
            </a:pPr>
            <a:r>
              <a:rPr lang="en-US" sz="1200" dirty="0">
                <a:solidFill>
                  <a:srgbClr val="AFC0C8"/>
                </a:solidFill>
                <a:latin typeface="Arial" pitchFamily="34" charset="0"/>
                <a:ea typeface="Arial" pitchFamily="34" charset="-122"/>
                <a:cs typeface="Arial" pitchFamily="34" charset="-120"/>
              </a:rPr>
              <a:t>2021 → 2025, stations françaises</a:t>
            </a:r>
            <a:endParaRPr lang="en-US" sz="1200" dirty="0"/>
          </a:p>
        </p:txBody>
      </p:sp>
      <p:sp>
        <p:nvSpPr>
          <p:cNvPr id="7" name="Text 5"/>
          <p:cNvSpPr txBox="1"/>
          <p:nvPr/>
        </p:nvSpPr>
        <p:spPr>
          <a:xfrm>
            <a:off x="685800" y="2788920"/>
            <a:ext cx="2560320" cy="731520"/>
          </a:xfrm>
          <a:prstGeom prst="rect">
            <a:avLst/>
          </a:prstGeom>
          <a:noFill/>
          <a:ln/>
        </p:spPr>
        <p:txBody>
          <a:bodyPr wrap="square" lIns="0" tIns="0" rIns="0" bIns="0" rtlCol="0" anchor="t"/>
          <a:lstStyle/>
          <a:p>
            <a:pPr indent="0" marL="0">
              <a:buNone/>
            </a:pPr>
            <a:r>
              <a:rPr lang="en-US" sz="4400" b="1" dirty="0">
                <a:solidFill>
                  <a:srgbClr val="3A7BD5"/>
                </a:solidFill>
                <a:latin typeface="Arial" pitchFamily="34" charset="0"/>
                <a:ea typeface="Arial" pitchFamily="34" charset="-122"/>
                <a:cs typeface="Arial" pitchFamily="34" charset="-120"/>
              </a:rPr>
              <a:t>5</a:t>
            </a:r>
            <a:endParaRPr lang="en-US" sz="4400" dirty="0"/>
          </a:p>
        </p:txBody>
      </p:sp>
      <p:sp>
        <p:nvSpPr>
          <p:cNvPr id="8" name="Text 6"/>
          <p:cNvSpPr txBox="1"/>
          <p:nvPr/>
        </p:nvSpPr>
        <p:spPr>
          <a:xfrm>
            <a:off x="685800" y="3520440"/>
            <a:ext cx="2560320" cy="457200"/>
          </a:xfrm>
          <a:prstGeom prst="rect">
            <a:avLst/>
          </a:prstGeom>
          <a:noFill/>
          <a:ln/>
        </p:spPr>
        <p:txBody>
          <a:bodyPr wrap="square" lIns="0" tIns="0" rIns="0" bIns="0" rtlCol="0" anchor="t"/>
          <a:lstStyle/>
          <a:p>
            <a:pPr indent="0" marL="0">
              <a:buNone/>
            </a:pPr>
            <a:r>
              <a:rPr lang="en-US" sz="1200" dirty="0">
                <a:solidFill>
                  <a:srgbClr val="AFC0C8"/>
                </a:solidFill>
                <a:latin typeface="Arial" pitchFamily="34" charset="0"/>
                <a:ea typeface="Arial" pitchFamily="34" charset="-122"/>
                <a:cs typeface="Arial" pitchFamily="34" charset="-120"/>
              </a:rPr>
              <a:t>téléchargements en parallèle, un par année</a:t>
            </a:r>
            <a:endParaRPr lang="en-US" sz="1200" dirty="0"/>
          </a:p>
        </p:txBody>
      </p:sp>
      <p:sp>
        <p:nvSpPr>
          <p:cNvPr id="9" name="Text 7"/>
          <p:cNvSpPr txBox="1"/>
          <p:nvPr/>
        </p:nvSpPr>
        <p:spPr>
          <a:xfrm>
            <a:off x="3657600" y="1371600"/>
            <a:ext cx="502920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Source : NOAA Global Hourly (bucket S3 public)</a:t>
            </a:r>
            <a:endParaRPr lang="en-US" sz="1300" dirty="0"/>
          </a:p>
        </p:txBody>
      </p:sp>
      <p:sp>
        <p:nvSpPr>
          <p:cNvPr id="10" name="Text 8"/>
          <p:cNvSpPr txBox="1"/>
          <p:nvPr/>
        </p:nvSpPr>
        <p:spPr>
          <a:xfrm>
            <a:off x="3657600" y="1737360"/>
            <a:ext cx="502920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Variables à extraire</a:t>
            </a:r>
            <a:endParaRPr lang="en-US" sz="1100" dirty="0"/>
          </a:p>
        </p:txBody>
      </p:sp>
      <p:sp>
        <p:nvSpPr>
          <p:cNvPr id="11" name="Shape 9"/>
          <p:cNvSpPr/>
          <p:nvPr/>
        </p:nvSpPr>
        <p:spPr>
          <a:xfrm>
            <a:off x="3657600" y="2011680"/>
            <a:ext cx="978408" cy="292608"/>
          </a:xfrm>
          <a:prstGeom prst="roundRect">
            <a:avLst>
              <a:gd name="adj" fmla="val 50000"/>
            </a:avLst>
          </a:prstGeom>
          <a:solidFill>
            <a:srgbClr val="FFFFFF"/>
          </a:solidFill>
          <a:ln w="15875">
            <a:solidFill>
              <a:srgbClr val="3A7BD5"/>
            </a:solidFill>
            <a:prstDash val="solid"/>
          </a:ln>
        </p:spPr>
      </p:sp>
      <p:sp>
        <p:nvSpPr>
          <p:cNvPr id="12" name="Text 10"/>
          <p:cNvSpPr txBox="1"/>
          <p:nvPr/>
        </p:nvSpPr>
        <p:spPr>
          <a:xfrm>
            <a:off x="3657600" y="2011680"/>
            <a:ext cx="978408"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station_id</a:t>
            </a:r>
            <a:endParaRPr lang="en-US" sz="1100" dirty="0"/>
          </a:p>
        </p:txBody>
      </p:sp>
      <p:sp>
        <p:nvSpPr>
          <p:cNvPr id="13" name="Shape 11"/>
          <p:cNvSpPr/>
          <p:nvPr/>
        </p:nvSpPr>
        <p:spPr>
          <a:xfrm>
            <a:off x="4745736" y="2011680"/>
            <a:ext cx="900684" cy="292608"/>
          </a:xfrm>
          <a:prstGeom prst="roundRect">
            <a:avLst>
              <a:gd name="adj" fmla="val 50000"/>
            </a:avLst>
          </a:prstGeom>
          <a:solidFill>
            <a:srgbClr val="FFFFFF"/>
          </a:solidFill>
          <a:ln w="15875">
            <a:solidFill>
              <a:srgbClr val="3A7BD5"/>
            </a:solidFill>
            <a:prstDash val="solid"/>
          </a:ln>
        </p:spPr>
      </p:sp>
      <p:sp>
        <p:nvSpPr>
          <p:cNvPr id="14" name="Text 12"/>
          <p:cNvSpPr txBox="1"/>
          <p:nvPr/>
        </p:nvSpPr>
        <p:spPr>
          <a:xfrm>
            <a:off x="4745736" y="2011680"/>
            <a:ext cx="900684"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timestamp</a:t>
            </a:r>
            <a:endParaRPr lang="en-US" sz="1100" dirty="0"/>
          </a:p>
        </p:txBody>
      </p:sp>
      <p:sp>
        <p:nvSpPr>
          <p:cNvPr id="15" name="Shape 13"/>
          <p:cNvSpPr/>
          <p:nvPr/>
        </p:nvSpPr>
        <p:spPr>
          <a:xfrm>
            <a:off x="5756148" y="2011680"/>
            <a:ext cx="1056132" cy="292608"/>
          </a:xfrm>
          <a:prstGeom prst="roundRect">
            <a:avLst>
              <a:gd name="adj" fmla="val 50000"/>
            </a:avLst>
          </a:prstGeom>
          <a:solidFill>
            <a:srgbClr val="FFFFFF"/>
          </a:solidFill>
          <a:ln w="15875">
            <a:solidFill>
              <a:srgbClr val="3A7BD5"/>
            </a:solidFill>
            <a:prstDash val="solid"/>
          </a:ln>
        </p:spPr>
      </p:sp>
      <p:sp>
        <p:nvSpPr>
          <p:cNvPr id="16" name="Text 14"/>
          <p:cNvSpPr txBox="1"/>
          <p:nvPr/>
        </p:nvSpPr>
        <p:spPr>
          <a:xfrm>
            <a:off x="5756148" y="2011680"/>
            <a:ext cx="1056132"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temperature</a:t>
            </a:r>
            <a:endParaRPr lang="en-US" sz="1100" dirty="0"/>
          </a:p>
        </p:txBody>
      </p:sp>
      <p:sp>
        <p:nvSpPr>
          <p:cNvPr id="17" name="Shape 15"/>
          <p:cNvSpPr/>
          <p:nvPr/>
        </p:nvSpPr>
        <p:spPr>
          <a:xfrm>
            <a:off x="6922008" y="2011680"/>
            <a:ext cx="978408" cy="292608"/>
          </a:xfrm>
          <a:prstGeom prst="roundRect">
            <a:avLst>
              <a:gd name="adj" fmla="val 50000"/>
            </a:avLst>
          </a:prstGeom>
          <a:solidFill>
            <a:srgbClr val="FFFFFF"/>
          </a:solidFill>
          <a:ln w="15875">
            <a:solidFill>
              <a:srgbClr val="3A7BD5"/>
            </a:solidFill>
            <a:prstDash val="solid"/>
          </a:ln>
        </p:spPr>
      </p:sp>
      <p:sp>
        <p:nvSpPr>
          <p:cNvPr id="18" name="Text 16"/>
          <p:cNvSpPr txBox="1"/>
          <p:nvPr/>
        </p:nvSpPr>
        <p:spPr>
          <a:xfrm>
            <a:off x="6922008" y="2011680"/>
            <a:ext cx="978408"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wind_speed</a:t>
            </a:r>
            <a:endParaRPr lang="en-US" sz="1100" dirty="0"/>
          </a:p>
        </p:txBody>
      </p:sp>
      <p:sp>
        <p:nvSpPr>
          <p:cNvPr id="19" name="Shape 17"/>
          <p:cNvSpPr/>
          <p:nvPr/>
        </p:nvSpPr>
        <p:spPr>
          <a:xfrm>
            <a:off x="3657600" y="2395728"/>
            <a:ext cx="1289304" cy="292608"/>
          </a:xfrm>
          <a:prstGeom prst="roundRect">
            <a:avLst>
              <a:gd name="adj" fmla="val 50000"/>
            </a:avLst>
          </a:prstGeom>
          <a:solidFill>
            <a:srgbClr val="FFFFFF"/>
          </a:solidFill>
          <a:ln w="15875">
            <a:solidFill>
              <a:srgbClr val="3A7BD5"/>
            </a:solidFill>
            <a:prstDash val="solid"/>
          </a:ln>
        </p:spPr>
      </p:sp>
      <p:sp>
        <p:nvSpPr>
          <p:cNvPr id="20" name="Text 18"/>
          <p:cNvSpPr txBox="1"/>
          <p:nvPr/>
        </p:nvSpPr>
        <p:spPr>
          <a:xfrm>
            <a:off x="3657600" y="2395728"/>
            <a:ext cx="1289304"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wind_direction</a:t>
            </a:r>
            <a:endParaRPr lang="en-US" sz="1100" dirty="0"/>
          </a:p>
        </p:txBody>
      </p:sp>
      <p:sp>
        <p:nvSpPr>
          <p:cNvPr id="21" name="Shape 19"/>
          <p:cNvSpPr/>
          <p:nvPr/>
        </p:nvSpPr>
        <p:spPr>
          <a:xfrm>
            <a:off x="5056632" y="2395728"/>
            <a:ext cx="978408" cy="292608"/>
          </a:xfrm>
          <a:prstGeom prst="roundRect">
            <a:avLst>
              <a:gd name="adj" fmla="val 50000"/>
            </a:avLst>
          </a:prstGeom>
          <a:solidFill>
            <a:srgbClr val="FFFFFF"/>
          </a:solidFill>
          <a:ln w="15875">
            <a:solidFill>
              <a:srgbClr val="3A7BD5"/>
            </a:solidFill>
            <a:prstDash val="solid"/>
          </a:ln>
        </p:spPr>
      </p:sp>
      <p:sp>
        <p:nvSpPr>
          <p:cNvPr id="22" name="Text 20"/>
          <p:cNvSpPr txBox="1"/>
          <p:nvPr/>
        </p:nvSpPr>
        <p:spPr>
          <a:xfrm>
            <a:off x="5056632" y="2395728"/>
            <a:ext cx="978408"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visibility</a:t>
            </a:r>
            <a:endParaRPr lang="en-US" sz="1100" dirty="0"/>
          </a:p>
        </p:txBody>
      </p:sp>
      <p:sp>
        <p:nvSpPr>
          <p:cNvPr id="23" name="Shape 21"/>
          <p:cNvSpPr/>
          <p:nvPr/>
        </p:nvSpPr>
        <p:spPr>
          <a:xfrm>
            <a:off x="6144768" y="2395728"/>
            <a:ext cx="822960" cy="292608"/>
          </a:xfrm>
          <a:prstGeom prst="roundRect">
            <a:avLst>
              <a:gd name="adj" fmla="val 50000"/>
            </a:avLst>
          </a:prstGeom>
          <a:solidFill>
            <a:srgbClr val="FFFFFF"/>
          </a:solidFill>
          <a:ln w="15875">
            <a:solidFill>
              <a:srgbClr val="3A7BD5"/>
            </a:solidFill>
            <a:prstDash val="solid"/>
          </a:ln>
        </p:spPr>
      </p:sp>
      <p:sp>
        <p:nvSpPr>
          <p:cNvPr id="24" name="Text 22"/>
          <p:cNvSpPr txBox="1"/>
          <p:nvPr/>
        </p:nvSpPr>
        <p:spPr>
          <a:xfrm>
            <a:off x="6144768" y="2395728"/>
            <a:ext cx="822960"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pressure</a:t>
            </a:r>
            <a:endParaRPr lang="en-US" sz="1100" dirty="0"/>
          </a:p>
        </p:txBody>
      </p:sp>
      <p:sp>
        <p:nvSpPr>
          <p:cNvPr id="25" name="Shape 23"/>
          <p:cNvSpPr/>
          <p:nvPr/>
        </p:nvSpPr>
        <p:spPr>
          <a:xfrm>
            <a:off x="7077456" y="2395728"/>
            <a:ext cx="1211580" cy="292608"/>
          </a:xfrm>
          <a:prstGeom prst="roundRect">
            <a:avLst>
              <a:gd name="adj" fmla="val 50000"/>
            </a:avLst>
          </a:prstGeom>
          <a:solidFill>
            <a:srgbClr val="FFFFFF"/>
          </a:solidFill>
          <a:ln w="15875">
            <a:solidFill>
              <a:srgbClr val="3A7BD5"/>
            </a:solidFill>
            <a:prstDash val="solid"/>
          </a:ln>
        </p:spPr>
      </p:sp>
      <p:sp>
        <p:nvSpPr>
          <p:cNvPr id="26" name="Text 24"/>
          <p:cNvSpPr txBox="1"/>
          <p:nvPr/>
        </p:nvSpPr>
        <p:spPr>
          <a:xfrm>
            <a:off x="7077456" y="2395728"/>
            <a:ext cx="1211580"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precipitation</a:t>
            </a:r>
            <a:endParaRPr lang="en-US" sz="1100" dirty="0"/>
          </a:p>
        </p:txBody>
      </p:sp>
      <p:sp>
        <p:nvSpPr>
          <p:cNvPr id="27" name="Shape 25"/>
          <p:cNvSpPr/>
          <p:nvPr/>
        </p:nvSpPr>
        <p:spPr>
          <a:xfrm>
            <a:off x="3657600" y="3072384"/>
            <a:ext cx="146304" cy="146304"/>
          </a:xfrm>
          <a:prstGeom prst="ellipse">
            <a:avLst/>
          </a:prstGeom>
          <a:solidFill>
            <a:srgbClr val="2E9E5B"/>
          </a:solidFill>
          <a:ln w="12700">
            <a:solidFill>
              <a:srgbClr val="2E9E5B"/>
            </a:solidFill>
            <a:prstDash val="solid"/>
          </a:ln>
        </p:spPr>
      </p:sp>
      <p:sp>
        <p:nvSpPr>
          <p:cNvPr id="28" name="Text 26"/>
          <p:cNvSpPr txBox="1"/>
          <p:nvPr/>
        </p:nvSpPr>
        <p:spPr>
          <a:xfrm>
            <a:off x="3913632" y="3008376"/>
            <a:ext cx="47731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E + L : stations FR chargées brutes dans le Data Lake</a:t>
            </a:r>
            <a:endParaRPr lang="en-US" sz="1300" dirty="0"/>
          </a:p>
        </p:txBody>
      </p:sp>
      <p:sp>
        <p:nvSpPr>
          <p:cNvPr id="29" name="Shape 27"/>
          <p:cNvSpPr/>
          <p:nvPr/>
        </p:nvSpPr>
        <p:spPr>
          <a:xfrm>
            <a:off x="3657600" y="3438144"/>
            <a:ext cx="146304" cy="146304"/>
          </a:xfrm>
          <a:prstGeom prst="ellipse">
            <a:avLst/>
          </a:prstGeom>
          <a:solidFill>
            <a:srgbClr val="B9C4CA"/>
          </a:solidFill>
          <a:ln w="12700">
            <a:solidFill>
              <a:srgbClr val="B9C4CA"/>
            </a:solidFill>
            <a:prstDash val="solid"/>
          </a:ln>
        </p:spPr>
      </p:sp>
      <p:sp>
        <p:nvSpPr>
          <p:cNvPr id="30" name="Text 28"/>
          <p:cNvSpPr txBox="1"/>
          <p:nvPr/>
        </p:nvSpPr>
        <p:spPr>
          <a:xfrm>
            <a:off x="3913632" y="3374136"/>
            <a:ext cx="47731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T : extraction des 8 variables</a:t>
            </a:r>
            <a:endParaRPr lang="en-US" sz="1300" dirty="0"/>
          </a:p>
        </p:txBody>
      </p:sp>
      <p:sp>
        <p:nvSpPr>
          <p:cNvPr id="31" name="Shape 29"/>
          <p:cNvSpPr/>
          <p:nvPr/>
        </p:nvSpPr>
        <p:spPr>
          <a:xfrm>
            <a:off x="3657600" y="3803904"/>
            <a:ext cx="146304" cy="146304"/>
          </a:xfrm>
          <a:prstGeom prst="ellipse">
            <a:avLst/>
          </a:prstGeom>
          <a:solidFill>
            <a:srgbClr val="B9C4CA"/>
          </a:solidFill>
          <a:ln w="12700">
            <a:solidFill>
              <a:srgbClr val="B9C4CA"/>
            </a:solidFill>
            <a:prstDash val="solid"/>
          </a:ln>
        </p:spPr>
      </p:sp>
      <p:sp>
        <p:nvSpPr>
          <p:cNvPr id="32" name="Text 30"/>
          <p:cNvSpPr txBox="1"/>
          <p:nvPr/>
        </p:nvSpPr>
        <p:spPr>
          <a:xfrm>
            <a:off x="3913632" y="3739896"/>
            <a:ext cx="47731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T : nettoyage (manquants, unités, timestamp)</a:t>
            </a:r>
            <a:endParaRPr lang="en-US" sz="1300" dirty="0"/>
          </a:p>
        </p:txBody>
      </p:sp>
      <p:sp>
        <p:nvSpPr>
          <p:cNvPr id="33" name="Shape 31"/>
          <p:cNvSpPr/>
          <p:nvPr/>
        </p:nvSpPr>
        <p:spPr>
          <a:xfrm>
            <a:off x="3657600" y="4169664"/>
            <a:ext cx="146304" cy="146304"/>
          </a:xfrm>
          <a:prstGeom prst="ellipse">
            <a:avLst/>
          </a:prstGeom>
          <a:solidFill>
            <a:srgbClr val="B9C4CA"/>
          </a:solidFill>
          <a:ln w="12700">
            <a:solidFill>
              <a:srgbClr val="B9C4CA"/>
            </a:solidFill>
            <a:prstDash val="solid"/>
          </a:ln>
        </p:spPr>
      </p:sp>
      <p:sp>
        <p:nvSpPr>
          <p:cNvPr id="34" name="Text 32"/>
          <p:cNvSpPr txBox="1"/>
          <p:nvPr/>
        </p:nvSpPr>
        <p:spPr>
          <a:xfrm>
            <a:off x="3913632" y="4105656"/>
            <a:ext cx="47731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Chargement dans le Data Warehouse</a:t>
            </a:r>
            <a:endParaRPr lang="en-US" sz="1300" dirty="0"/>
          </a:p>
        </p:txBody>
      </p:sp>
      <p:sp>
        <p:nvSpPr>
          <p:cNvPr id="35" name="Text 3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6" name="Text 3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3A7BD5"/>
                </a:solidFill>
                <a:latin typeface="Arial" pitchFamily="34" charset="0"/>
                <a:ea typeface="Arial" pitchFamily="34" charset="-122"/>
                <a:cs typeface="Arial" pitchFamily="34" charset="-120"/>
              </a:rPr>
              <a:t>PARTIE 1 · QUESTIONS MÉTIER</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Ce que les données météo doivent nous dire</a:t>
            </a:r>
            <a:endParaRPr lang="en-US" sz="2600" dirty="0"/>
          </a:p>
        </p:txBody>
      </p:sp>
      <p:sp>
        <p:nvSpPr>
          <p:cNvPr id="4" name="Shape 2"/>
          <p:cNvSpPr/>
          <p:nvPr/>
        </p:nvSpPr>
        <p:spPr>
          <a:xfrm>
            <a:off x="457200" y="1417320"/>
            <a:ext cx="329184" cy="329184"/>
          </a:xfrm>
          <a:prstGeom prst="ellipse">
            <a:avLst/>
          </a:prstGeom>
          <a:solidFill>
            <a:srgbClr val="3A7BD5"/>
          </a:solidFill>
          <a:ln w="12700">
            <a:solidFill>
              <a:srgbClr val="3A7BD5"/>
            </a:solidFill>
            <a:prstDash val="solid"/>
          </a:ln>
        </p:spPr>
      </p:sp>
      <p:sp>
        <p:nvSpPr>
          <p:cNvPr id="5" name="Text 3"/>
          <p:cNvSpPr txBox="1"/>
          <p:nvPr/>
        </p:nvSpPr>
        <p:spPr>
          <a:xfrm>
            <a:off x="457200" y="141732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Q1</a:t>
            </a:r>
            <a:endParaRPr lang="en-US" sz="1000" dirty="0"/>
          </a:p>
        </p:txBody>
      </p:sp>
      <p:sp>
        <p:nvSpPr>
          <p:cNvPr id="6" name="Text 4"/>
          <p:cNvSpPr txBox="1"/>
          <p:nvPr/>
        </p:nvSpPr>
        <p:spPr>
          <a:xfrm>
            <a:off x="914400" y="1399032"/>
            <a:ext cx="777240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Peut-on identifier des périodes météorologiques anormales ?</a:t>
            </a:r>
            <a:endParaRPr lang="en-US" sz="1300" dirty="0"/>
          </a:p>
        </p:txBody>
      </p:sp>
      <p:sp>
        <p:nvSpPr>
          <p:cNvPr id="7" name="Text 5"/>
          <p:cNvSpPr txBox="1"/>
          <p:nvPr/>
        </p:nvSpPr>
        <p:spPr>
          <a:xfrm>
            <a:off x="914400" y="1655064"/>
            <a:ext cx="7772400" cy="237744"/>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Piste : écart à la moyenne saisonnière de chaque station</a:t>
            </a:r>
            <a:endParaRPr lang="en-US" sz="1100" dirty="0"/>
          </a:p>
        </p:txBody>
      </p:sp>
      <p:sp>
        <p:nvSpPr>
          <p:cNvPr id="8" name="Shape 6"/>
          <p:cNvSpPr/>
          <p:nvPr/>
        </p:nvSpPr>
        <p:spPr>
          <a:xfrm>
            <a:off x="457200" y="2167128"/>
            <a:ext cx="329184" cy="329184"/>
          </a:xfrm>
          <a:prstGeom prst="ellipse">
            <a:avLst/>
          </a:prstGeom>
          <a:solidFill>
            <a:srgbClr val="3A7BD5"/>
          </a:solidFill>
          <a:ln w="12700">
            <a:solidFill>
              <a:srgbClr val="3A7BD5"/>
            </a:solidFill>
            <a:prstDash val="solid"/>
          </a:ln>
        </p:spPr>
      </p:sp>
      <p:sp>
        <p:nvSpPr>
          <p:cNvPr id="9" name="Text 7"/>
          <p:cNvSpPr txBox="1"/>
          <p:nvPr/>
        </p:nvSpPr>
        <p:spPr>
          <a:xfrm>
            <a:off x="457200" y="21671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0" name="Text 8"/>
          <p:cNvSpPr txBox="1"/>
          <p:nvPr/>
        </p:nvSpPr>
        <p:spPr>
          <a:xfrm>
            <a:off x="914400" y="2148840"/>
            <a:ext cx="777240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Existe-t-il une corrélation entre conditions météo et visibilité ?</a:t>
            </a:r>
            <a:endParaRPr lang="en-US" sz="1300" dirty="0"/>
          </a:p>
        </p:txBody>
      </p:sp>
      <p:sp>
        <p:nvSpPr>
          <p:cNvPr id="11" name="Text 9"/>
          <p:cNvSpPr txBox="1"/>
          <p:nvPr/>
        </p:nvSpPr>
        <p:spPr>
          <a:xfrm>
            <a:off x="914400" y="2404872"/>
            <a:ext cx="7772400" cy="237744"/>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Piste : corrélation visibilité ↔ précipitations, vent, pression</a:t>
            </a:r>
            <a:endParaRPr lang="en-US" sz="1100" dirty="0"/>
          </a:p>
        </p:txBody>
      </p:sp>
      <p:sp>
        <p:nvSpPr>
          <p:cNvPr id="12" name="Shape 10"/>
          <p:cNvSpPr/>
          <p:nvPr/>
        </p:nvSpPr>
        <p:spPr>
          <a:xfrm>
            <a:off x="457200" y="2916936"/>
            <a:ext cx="329184" cy="329184"/>
          </a:xfrm>
          <a:prstGeom prst="ellipse">
            <a:avLst/>
          </a:prstGeom>
          <a:solidFill>
            <a:srgbClr val="3A7BD5"/>
          </a:solidFill>
          <a:ln w="12700">
            <a:solidFill>
              <a:srgbClr val="3A7BD5"/>
            </a:solidFill>
            <a:prstDash val="solid"/>
          </a:ln>
        </p:spPr>
      </p:sp>
      <p:sp>
        <p:nvSpPr>
          <p:cNvPr id="13" name="Text 11"/>
          <p:cNvSpPr txBox="1"/>
          <p:nvPr/>
        </p:nvSpPr>
        <p:spPr>
          <a:xfrm>
            <a:off x="457200" y="291693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4" name="Text 12"/>
          <p:cNvSpPr txBox="1"/>
          <p:nvPr/>
        </p:nvSpPr>
        <p:spPr>
          <a:xfrm>
            <a:off x="914400" y="2898648"/>
            <a:ext cx="777240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Quelle est l'évolution saisonnière de la température en France et dans les grandes villes ?</a:t>
            </a:r>
            <a:endParaRPr lang="en-US" sz="1300" dirty="0"/>
          </a:p>
        </p:txBody>
      </p:sp>
      <p:sp>
        <p:nvSpPr>
          <p:cNvPr id="15" name="Text 13"/>
          <p:cNvSpPr txBox="1"/>
          <p:nvPr/>
        </p:nvSpPr>
        <p:spPr>
          <a:xfrm>
            <a:off x="914400" y="3154680"/>
            <a:ext cx="7772400" cy="237744"/>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Piste : moyennes mensuelles par ville</a:t>
            </a:r>
            <a:endParaRPr lang="en-US" sz="1100" dirty="0"/>
          </a:p>
        </p:txBody>
      </p:sp>
      <p:sp>
        <p:nvSpPr>
          <p:cNvPr id="16" name="Shape 14"/>
          <p:cNvSpPr/>
          <p:nvPr/>
        </p:nvSpPr>
        <p:spPr>
          <a:xfrm>
            <a:off x="457200" y="3666744"/>
            <a:ext cx="329184" cy="329184"/>
          </a:xfrm>
          <a:prstGeom prst="ellipse">
            <a:avLst/>
          </a:prstGeom>
          <a:solidFill>
            <a:srgbClr val="3A7BD5"/>
          </a:solidFill>
          <a:ln w="12700">
            <a:solidFill>
              <a:srgbClr val="3A7BD5"/>
            </a:solidFill>
            <a:prstDash val="solid"/>
          </a:ln>
        </p:spPr>
      </p:sp>
      <p:sp>
        <p:nvSpPr>
          <p:cNvPr id="17" name="Text 15"/>
          <p:cNvSpPr txBox="1"/>
          <p:nvPr/>
        </p:nvSpPr>
        <p:spPr>
          <a:xfrm>
            <a:off x="457200" y="366674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18" name="Text 16"/>
          <p:cNvSpPr txBox="1"/>
          <p:nvPr/>
        </p:nvSpPr>
        <p:spPr>
          <a:xfrm>
            <a:off x="914400" y="3648456"/>
            <a:ext cx="777240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Quels jours présentent des conditions météorologiques extrêmes ?</a:t>
            </a:r>
            <a:endParaRPr lang="en-US" sz="1300" dirty="0"/>
          </a:p>
        </p:txBody>
      </p:sp>
      <p:sp>
        <p:nvSpPr>
          <p:cNvPr id="19" name="Text 17"/>
          <p:cNvSpPr txBox="1"/>
          <p:nvPr/>
        </p:nvSpPr>
        <p:spPr>
          <a:xfrm>
            <a:off x="914400" y="3904488"/>
            <a:ext cx="7772400" cy="237744"/>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Piste : seuils (canicule, tempête, fortes pluies)</a:t>
            </a:r>
            <a:endParaRPr lang="en-US" sz="1100" dirty="0"/>
          </a:p>
        </p:txBody>
      </p:sp>
      <p:sp>
        <p:nvSpPr>
          <p:cNvPr id="20" name="Text 18"/>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Pistes provisoires, à confirmer avec les résultats</a:t>
            </a:r>
            <a:endParaRPr lang="en-US" sz="1100" dirty="0"/>
          </a:p>
        </p:txBody>
      </p:sp>
      <p:sp>
        <p:nvSpPr>
          <p:cNvPr id="21" name="Text 19"/>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2" name="Text 20"/>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E0A10F"/>
                </a:solidFill>
                <a:latin typeface="Arial" pitchFamily="34" charset="0"/>
                <a:ea typeface="Arial" pitchFamily="34" charset="-122"/>
                <a:cs typeface="Arial" pitchFamily="34" charset="-120"/>
              </a:rPr>
              <a:t>PARTIE 2 · FLUX STREAMING</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Mobilité : un relevé des vélos toutes les 2 min 30</a:t>
            </a:r>
            <a:endParaRPr lang="en-US" sz="2600" dirty="0"/>
          </a:p>
        </p:txBody>
      </p:sp>
      <p:sp>
        <p:nvSpPr>
          <p:cNvPr id="4" name="Text 2"/>
          <p:cNvSpPr txBox="1"/>
          <p:nvPr/>
        </p:nvSpPr>
        <p:spPr>
          <a:xfrm>
            <a:off x="457200" y="1325880"/>
            <a:ext cx="1965960" cy="640080"/>
          </a:xfrm>
          <a:prstGeom prst="rect">
            <a:avLst/>
          </a:prstGeom>
          <a:noFill/>
          <a:ln/>
        </p:spPr>
        <p:txBody>
          <a:bodyPr wrap="square" lIns="0" tIns="0" rIns="0" bIns="0" rtlCol="0" anchor="t"/>
          <a:lstStyle/>
          <a:p>
            <a:pPr indent="0" marL="0">
              <a:buNone/>
            </a:pPr>
            <a:r>
              <a:rPr lang="en-US" sz="3400" b="1" dirty="0">
                <a:solidFill>
                  <a:srgbClr val="E0A10F"/>
                </a:solidFill>
                <a:latin typeface="Arial" pitchFamily="34" charset="0"/>
                <a:ea typeface="Arial" pitchFamily="34" charset="-122"/>
                <a:cs typeface="Arial" pitchFamily="34" charset="-120"/>
              </a:rPr>
              <a:t>10</a:t>
            </a:r>
            <a:endParaRPr lang="en-US" sz="3400" dirty="0"/>
          </a:p>
        </p:txBody>
      </p:sp>
      <p:sp>
        <p:nvSpPr>
          <p:cNvPr id="5" name="Text 3"/>
          <p:cNvSpPr txBox="1"/>
          <p:nvPr/>
        </p:nvSpPr>
        <p:spPr>
          <a:xfrm>
            <a:off x="457200" y="1965960"/>
            <a:ext cx="1965960" cy="27432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grandes villes</a:t>
            </a:r>
            <a:endParaRPr lang="en-US" sz="1200" dirty="0"/>
          </a:p>
        </p:txBody>
      </p:sp>
      <p:sp>
        <p:nvSpPr>
          <p:cNvPr id="6" name="Text 4"/>
          <p:cNvSpPr txBox="1"/>
          <p:nvPr/>
        </p:nvSpPr>
        <p:spPr>
          <a:xfrm>
            <a:off x="2560320" y="1325880"/>
            <a:ext cx="1965960" cy="640080"/>
          </a:xfrm>
          <a:prstGeom prst="rect">
            <a:avLst/>
          </a:prstGeom>
          <a:noFill/>
          <a:ln/>
        </p:spPr>
        <p:txBody>
          <a:bodyPr wrap="square" lIns="0" tIns="0" rIns="0" bIns="0" rtlCol="0" anchor="t"/>
          <a:lstStyle/>
          <a:p>
            <a:pPr indent="0" marL="0">
              <a:buNone/>
            </a:pPr>
            <a:r>
              <a:rPr lang="en-US" sz="3400" b="1" dirty="0">
                <a:solidFill>
                  <a:srgbClr val="16222B"/>
                </a:solidFill>
                <a:latin typeface="Arial" pitchFamily="34" charset="0"/>
                <a:ea typeface="Arial" pitchFamily="34" charset="-122"/>
                <a:cs typeface="Arial" pitchFamily="34" charset="-120"/>
              </a:rPr>
              <a:t>150 s</a:t>
            </a:r>
            <a:endParaRPr lang="en-US" sz="3400" dirty="0"/>
          </a:p>
        </p:txBody>
      </p:sp>
      <p:sp>
        <p:nvSpPr>
          <p:cNvPr id="7" name="Text 5"/>
          <p:cNvSpPr txBox="1"/>
          <p:nvPr/>
        </p:nvSpPr>
        <p:spPr>
          <a:xfrm>
            <a:off x="2560320" y="1965960"/>
            <a:ext cx="1965960" cy="27432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entre deux collectes</a:t>
            </a:r>
            <a:endParaRPr lang="en-US" sz="1200" dirty="0"/>
          </a:p>
        </p:txBody>
      </p:sp>
      <p:sp>
        <p:nvSpPr>
          <p:cNvPr id="8" name="Text 6"/>
          <p:cNvSpPr txBox="1"/>
          <p:nvPr/>
        </p:nvSpPr>
        <p:spPr>
          <a:xfrm>
            <a:off x="4663440" y="1325880"/>
            <a:ext cx="1965960" cy="640080"/>
          </a:xfrm>
          <a:prstGeom prst="rect">
            <a:avLst/>
          </a:prstGeom>
          <a:noFill/>
          <a:ln/>
        </p:spPr>
        <p:txBody>
          <a:bodyPr wrap="square" lIns="0" tIns="0" rIns="0" bIns="0" rtlCol="0" anchor="t"/>
          <a:lstStyle/>
          <a:p>
            <a:pPr indent="0" marL="0">
              <a:buNone/>
            </a:pPr>
            <a:r>
              <a:rPr lang="en-US" sz="3400" b="1" dirty="0">
                <a:solidFill>
                  <a:srgbClr val="16222B"/>
                </a:solidFill>
                <a:latin typeface="Arial" pitchFamily="34" charset="0"/>
                <a:ea typeface="Arial" pitchFamily="34" charset="-122"/>
                <a:cs typeface="Arial" pitchFamily="34" charset="-120"/>
              </a:rPr>
              <a:t>≈ 3 400</a:t>
            </a:r>
            <a:endParaRPr lang="en-US" sz="3400" dirty="0"/>
          </a:p>
        </p:txBody>
      </p:sp>
      <p:sp>
        <p:nvSpPr>
          <p:cNvPr id="9" name="Text 7"/>
          <p:cNvSpPr txBox="1"/>
          <p:nvPr/>
        </p:nvSpPr>
        <p:spPr>
          <a:xfrm>
            <a:off x="4663440" y="1965960"/>
            <a:ext cx="1965960" cy="27432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stations par passage</a:t>
            </a:r>
            <a:endParaRPr lang="en-US" sz="1200" dirty="0"/>
          </a:p>
        </p:txBody>
      </p:sp>
      <p:sp>
        <p:nvSpPr>
          <p:cNvPr id="10" name="Text 8"/>
          <p:cNvSpPr txBox="1"/>
          <p:nvPr/>
        </p:nvSpPr>
        <p:spPr>
          <a:xfrm>
            <a:off x="6766560" y="1325880"/>
            <a:ext cx="1965960" cy="640080"/>
          </a:xfrm>
          <a:prstGeom prst="rect">
            <a:avLst/>
          </a:prstGeom>
          <a:noFill/>
          <a:ln/>
        </p:spPr>
        <p:txBody>
          <a:bodyPr wrap="square" lIns="0" tIns="0" rIns="0" bIns="0" rtlCol="0" anchor="t"/>
          <a:lstStyle/>
          <a:p>
            <a:pPr indent="0" marL="0">
              <a:buNone/>
            </a:pPr>
            <a:r>
              <a:rPr lang="en-US" sz="3400" b="1" dirty="0">
                <a:solidFill>
                  <a:srgbClr val="16222B"/>
                </a:solidFill>
                <a:latin typeface="Arial" pitchFamily="34" charset="0"/>
                <a:ea typeface="Arial" pitchFamily="34" charset="-122"/>
                <a:cs typeface="Arial" pitchFamily="34" charset="-120"/>
              </a:rPr>
              <a:t>576</a:t>
            </a:r>
            <a:endParaRPr lang="en-US" sz="3400" dirty="0"/>
          </a:p>
        </p:txBody>
      </p:sp>
      <p:sp>
        <p:nvSpPr>
          <p:cNvPr id="11" name="Text 9"/>
          <p:cNvSpPr txBox="1"/>
          <p:nvPr/>
        </p:nvSpPr>
        <p:spPr>
          <a:xfrm>
            <a:off x="6766560" y="1965960"/>
            <a:ext cx="1965960" cy="27432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relevés par jour et par ville</a:t>
            </a:r>
            <a:endParaRPr lang="en-US" sz="1200" dirty="0"/>
          </a:p>
        </p:txBody>
      </p:sp>
      <p:sp>
        <p:nvSpPr>
          <p:cNvPr id="12" name="Shape 10"/>
          <p:cNvSpPr/>
          <p:nvPr/>
        </p:nvSpPr>
        <p:spPr>
          <a:xfrm>
            <a:off x="457200" y="2606040"/>
            <a:ext cx="2468880" cy="960120"/>
          </a:xfrm>
          <a:prstGeom prst="roundRect">
            <a:avLst>
              <a:gd name="adj" fmla="val 7619"/>
            </a:avLst>
          </a:prstGeom>
          <a:solidFill>
            <a:srgbClr val="EEF2F4"/>
          </a:solidFill>
          <a:ln w="12700">
            <a:solidFill>
              <a:srgbClr val="EEF2F4"/>
            </a:solidFill>
            <a:prstDash val="solid"/>
          </a:ln>
        </p:spPr>
      </p:sp>
      <p:sp>
        <p:nvSpPr>
          <p:cNvPr id="13" name="Text 11"/>
          <p:cNvSpPr txBox="1"/>
          <p:nvPr/>
        </p:nvSpPr>
        <p:spPr>
          <a:xfrm>
            <a:off x="640080" y="2724912"/>
            <a:ext cx="2103120" cy="320040"/>
          </a:xfrm>
          <a:prstGeom prst="rect">
            <a:avLst/>
          </a:prstGeom>
          <a:noFill/>
          <a:ln/>
        </p:spPr>
        <p:txBody>
          <a:bodyPr wrap="square" lIns="0" tIns="0" rIns="0" bIns="0" rtlCol="0" anchor="t"/>
          <a:lstStyle/>
          <a:p>
            <a:pPr indent="0" marL="0">
              <a:buNone/>
            </a:pPr>
            <a:r>
              <a:rPr lang="en-US" sz="1500" b="1" dirty="0">
                <a:solidFill>
                  <a:srgbClr val="16222B"/>
                </a:solidFill>
                <a:latin typeface="Arial" pitchFamily="34" charset="0"/>
                <a:ea typeface="Arial" pitchFamily="34" charset="-122"/>
                <a:cs typeface="Arial" pitchFamily="34" charset="-120"/>
              </a:rPr>
              <a:t>API CityBikes</a:t>
            </a:r>
            <a:endParaRPr lang="en-US" sz="1500" dirty="0"/>
          </a:p>
        </p:txBody>
      </p:sp>
      <p:sp>
        <p:nvSpPr>
          <p:cNvPr id="14" name="Text 12"/>
          <p:cNvSpPr txBox="1"/>
          <p:nvPr/>
        </p:nvSpPr>
        <p:spPr>
          <a:xfrm>
            <a:off x="640080" y="3090672"/>
            <a:ext cx="2103120" cy="36576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api.citybik.es · JSON</a:t>
            </a:r>
            <a:endParaRPr lang="en-US" sz="1200" dirty="0"/>
          </a:p>
        </p:txBody>
      </p:sp>
      <p:sp>
        <p:nvSpPr>
          <p:cNvPr id="15" name="Text 13"/>
          <p:cNvSpPr txBox="1"/>
          <p:nvPr/>
        </p:nvSpPr>
        <p:spPr>
          <a:xfrm>
            <a:off x="2926080" y="2880360"/>
            <a:ext cx="365760" cy="365760"/>
          </a:xfrm>
          <a:prstGeom prst="rect">
            <a:avLst/>
          </a:prstGeom>
          <a:noFill/>
          <a:ln/>
        </p:spPr>
        <p:txBody>
          <a:bodyPr wrap="square" lIns="0" tIns="0" rIns="0" bIns="0" rtlCol="0" anchor="ctr"/>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3291840" y="2606040"/>
            <a:ext cx="2468880" cy="960120"/>
          </a:xfrm>
          <a:prstGeom prst="roundRect">
            <a:avLst>
              <a:gd name="adj" fmla="val 7619"/>
            </a:avLst>
          </a:prstGeom>
          <a:solidFill>
            <a:srgbClr val="EEF2F4"/>
          </a:solidFill>
          <a:ln w="12700">
            <a:solidFill>
              <a:srgbClr val="EEF2F4"/>
            </a:solidFill>
            <a:prstDash val="solid"/>
          </a:ln>
        </p:spPr>
      </p:sp>
      <p:sp>
        <p:nvSpPr>
          <p:cNvPr id="17" name="Text 15"/>
          <p:cNvSpPr txBox="1"/>
          <p:nvPr/>
        </p:nvSpPr>
        <p:spPr>
          <a:xfrm>
            <a:off x="3474720" y="2724912"/>
            <a:ext cx="2103120" cy="320040"/>
          </a:xfrm>
          <a:prstGeom prst="rect">
            <a:avLst/>
          </a:prstGeom>
          <a:noFill/>
          <a:ln/>
        </p:spPr>
        <p:txBody>
          <a:bodyPr wrap="square" lIns="0" tIns="0" rIns="0" bIns="0" rtlCol="0" anchor="t"/>
          <a:lstStyle/>
          <a:p>
            <a:pPr indent="0" marL="0">
              <a:buNone/>
            </a:pPr>
            <a:r>
              <a:rPr lang="en-US" sz="1500" b="1" dirty="0">
                <a:solidFill>
                  <a:srgbClr val="16222B"/>
                </a:solidFill>
                <a:latin typeface="Arial" pitchFamily="34" charset="0"/>
                <a:ea typeface="Arial" pitchFamily="34" charset="-122"/>
                <a:cs typeface="Arial" pitchFamily="34" charset="-120"/>
              </a:rPr>
              <a:t>Script Python</a:t>
            </a:r>
            <a:endParaRPr lang="en-US" sz="1500" dirty="0"/>
          </a:p>
        </p:txBody>
      </p:sp>
      <p:sp>
        <p:nvSpPr>
          <p:cNvPr id="18" name="Text 16"/>
          <p:cNvSpPr txBox="1"/>
          <p:nvPr/>
        </p:nvSpPr>
        <p:spPr>
          <a:xfrm>
            <a:off x="3474720" y="3090672"/>
            <a:ext cx="2103120" cy="36576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garde 7 variables → CSV</a:t>
            </a:r>
            <a:endParaRPr lang="en-US" sz="1200" dirty="0"/>
          </a:p>
        </p:txBody>
      </p:sp>
      <p:sp>
        <p:nvSpPr>
          <p:cNvPr id="19" name="Text 17"/>
          <p:cNvSpPr txBox="1"/>
          <p:nvPr/>
        </p:nvSpPr>
        <p:spPr>
          <a:xfrm>
            <a:off x="5760720" y="2880360"/>
            <a:ext cx="365760" cy="365760"/>
          </a:xfrm>
          <a:prstGeom prst="rect">
            <a:avLst/>
          </a:prstGeom>
          <a:noFill/>
          <a:ln/>
        </p:spPr>
        <p:txBody>
          <a:bodyPr wrap="square" lIns="0" tIns="0" rIns="0" bIns="0" rtlCol="0" anchor="ctr"/>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6126480" y="2606040"/>
            <a:ext cx="2468880" cy="960120"/>
          </a:xfrm>
          <a:prstGeom prst="roundRect">
            <a:avLst>
              <a:gd name="adj" fmla="val 7619"/>
            </a:avLst>
          </a:prstGeom>
          <a:solidFill>
            <a:srgbClr val="16222B"/>
          </a:solidFill>
          <a:ln w="12700">
            <a:solidFill>
              <a:srgbClr val="16222B"/>
            </a:solidFill>
            <a:prstDash val="solid"/>
          </a:ln>
        </p:spPr>
      </p:sp>
      <p:sp>
        <p:nvSpPr>
          <p:cNvPr id="21" name="Text 19"/>
          <p:cNvSpPr txBox="1"/>
          <p:nvPr/>
        </p:nvSpPr>
        <p:spPr>
          <a:xfrm>
            <a:off x="6309360" y="2724912"/>
            <a:ext cx="2103120" cy="32004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MinIO</a:t>
            </a:r>
            <a:endParaRPr lang="en-US" sz="1500" dirty="0"/>
          </a:p>
        </p:txBody>
      </p:sp>
      <p:sp>
        <p:nvSpPr>
          <p:cNvPr id="22" name="Text 20"/>
          <p:cNvSpPr txBox="1"/>
          <p:nvPr/>
        </p:nvSpPr>
        <p:spPr>
          <a:xfrm>
            <a:off x="6309360" y="3090672"/>
            <a:ext cx="2103120" cy="365760"/>
          </a:xfrm>
          <a:prstGeom prst="rect">
            <a:avLst/>
          </a:prstGeom>
          <a:noFill/>
          <a:ln/>
        </p:spPr>
        <p:txBody>
          <a:bodyPr wrap="square" lIns="0" tIns="0" rIns="0" bIns="0" rtlCol="0" anchor="t"/>
          <a:lstStyle/>
          <a:p>
            <a:pPr indent="0" marL="0">
              <a:buNone/>
            </a:pPr>
            <a:r>
              <a:rPr lang="en-US" sz="1200" dirty="0">
                <a:solidFill>
                  <a:srgbClr val="AFC0C8"/>
                </a:solidFill>
                <a:latin typeface="Arial" pitchFamily="34" charset="0"/>
                <a:ea typeface="Arial" pitchFamily="34" charset="-122"/>
                <a:cs typeface="Arial" pitchFamily="34" charset="-120"/>
              </a:rPr>
              <a:t>bucket datalake-citybikes</a:t>
            </a:r>
            <a:endParaRPr lang="en-US" sz="1200" dirty="0"/>
          </a:p>
        </p:txBody>
      </p:sp>
      <p:sp>
        <p:nvSpPr>
          <p:cNvPr id="23" name="Text 21"/>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200" dirty="0">
                <a:solidFill>
                  <a:srgbClr val="5B6B74"/>
                </a:solidFill>
                <a:latin typeface="Arial" pitchFamily="34" charset="0"/>
                <a:ea typeface="Arial" pitchFamily="34" charset="-122"/>
                <a:cs typeface="Arial" pitchFamily="34" charset="-120"/>
              </a:rPr>
              <a:t>Paris · Lyon · Marseille · Toulouse · Nantes · Bordeaux · Lille · Strasbourg · Montpellier · Rennes</a:t>
            </a:r>
            <a:endParaRPr lang="en-US" sz="1200" dirty="0"/>
          </a:p>
        </p:txBody>
      </p:sp>
      <p:sp>
        <p:nvSpPr>
          <p:cNvPr id="24" name="Shape 22"/>
          <p:cNvSpPr/>
          <p:nvPr/>
        </p:nvSpPr>
        <p:spPr>
          <a:xfrm>
            <a:off x="457200" y="4270248"/>
            <a:ext cx="146304" cy="146304"/>
          </a:xfrm>
          <a:prstGeom prst="ellipse">
            <a:avLst/>
          </a:prstGeom>
          <a:solidFill>
            <a:srgbClr val="2E9E5B"/>
          </a:solidFill>
          <a:ln w="12700">
            <a:solidFill>
              <a:srgbClr val="2E9E5B"/>
            </a:solidFill>
            <a:prstDash val="solid"/>
          </a:ln>
        </p:spPr>
      </p:sp>
      <p:sp>
        <p:nvSpPr>
          <p:cNvPr id="25" name="Text 23"/>
          <p:cNvSpPr txBox="1"/>
          <p:nvPr/>
        </p:nvSpPr>
        <p:spPr>
          <a:xfrm>
            <a:off x="713232" y="4206240"/>
            <a:ext cx="79735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E + L en continu opérationnels : velib/2026-10-21/150556.csv, etc.</a:t>
            </a:r>
            <a:endParaRPr lang="en-US" sz="1300" dirty="0"/>
          </a:p>
        </p:txBody>
      </p:sp>
      <p:sp>
        <p:nvSpPr>
          <p:cNvPr id="26" name="Text 24"/>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7" name="Text 25"/>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E0A10F"/>
                </a:solidFill>
                <a:latin typeface="Arial" pitchFamily="34" charset="0"/>
                <a:ea typeface="Arial" pitchFamily="34" charset="-122"/>
                <a:cs typeface="Arial" pitchFamily="34" charset="-120"/>
              </a:rPr>
              <a:t>PARTIE 2 · DONNÉES &amp; QUESTIONS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Ce qu'on stocke, et ce qu'on veut en tirer</a:t>
            </a:r>
            <a:endParaRPr lang="en-US" sz="2600" dirty="0"/>
          </a:p>
        </p:txBody>
      </p:sp>
      <p:sp>
        <p:nvSpPr>
          <p:cNvPr id="4" name="Text 2"/>
          <p:cNvSpPr txBox="1"/>
          <p:nvPr/>
        </p:nvSpPr>
        <p:spPr>
          <a:xfrm>
            <a:off x="457200" y="1325880"/>
            <a:ext cx="393192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Un CSV par ville et par passage (exemple réel)</a:t>
            </a:r>
            <a:endParaRPr lang="en-US" sz="1100" dirty="0"/>
          </a:p>
        </p:txBody>
      </p:sp>
      <p:sp>
        <p:nvSpPr>
          <p:cNvPr id="5" name="Shape 3"/>
          <p:cNvSpPr/>
          <p:nvPr/>
        </p:nvSpPr>
        <p:spPr>
          <a:xfrm>
            <a:off x="457200" y="1627632"/>
            <a:ext cx="3931920" cy="292608"/>
          </a:xfrm>
          <a:prstGeom prst="roundRect">
            <a:avLst>
              <a:gd name="adj" fmla="val 25000"/>
            </a:avLst>
          </a:prstGeom>
          <a:solidFill>
            <a:srgbClr val="EEF2F4"/>
          </a:solidFill>
          <a:ln w="12700">
            <a:solidFill>
              <a:srgbClr val="EEF2F4"/>
            </a:solidFill>
            <a:prstDash val="solid"/>
          </a:ln>
        </p:spPr>
      </p:sp>
      <p:sp>
        <p:nvSpPr>
          <p:cNvPr id="6" name="Text 4"/>
          <p:cNvSpPr txBox="1"/>
          <p:nvPr/>
        </p:nvSpPr>
        <p:spPr>
          <a:xfrm>
            <a:off x="566928" y="1627632"/>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station_id</a:t>
            </a:r>
            <a:endParaRPr lang="en-US" sz="1100" dirty="0"/>
          </a:p>
        </p:txBody>
      </p:sp>
      <p:sp>
        <p:nvSpPr>
          <p:cNvPr id="7" name="Text 5"/>
          <p:cNvSpPr txBox="1"/>
          <p:nvPr/>
        </p:nvSpPr>
        <p:spPr>
          <a:xfrm>
            <a:off x="2240280" y="1627632"/>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0003131b…</a:t>
            </a:r>
            <a:endParaRPr lang="en-US" sz="1100" dirty="0"/>
          </a:p>
        </p:txBody>
      </p:sp>
      <p:sp>
        <p:nvSpPr>
          <p:cNvPr id="8" name="Shape 6"/>
          <p:cNvSpPr/>
          <p:nvPr/>
        </p:nvSpPr>
        <p:spPr>
          <a:xfrm>
            <a:off x="457200" y="1965960"/>
            <a:ext cx="3931920" cy="292608"/>
          </a:xfrm>
          <a:prstGeom prst="roundRect">
            <a:avLst>
              <a:gd name="adj" fmla="val 25000"/>
            </a:avLst>
          </a:prstGeom>
          <a:solidFill>
            <a:srgbClr val="FFFFFF"/>
          </a:solidFill>
          <a:ln w="12700">
            <a:solidFill>
              <a:srgbClr val="FFFFFF"/>
            </a:solidFill>
            <a:prstDash val="solid"/>
          </a:ln>
        </p:spPr>
      </p:sp>
      <p:sp>
        <p:nvSpPr>
          <p:cNvPr id="9" name="Text 7"/>
          <p:cNvSpPr txBox="1"/>
          <p:nvPr/>
        </p:nvSpPr>
        <p:spPr>
          <a:xfrm>
            <a:off x="566928" y="1965960"/>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station_name</a:t>
            </a:r>
            <a:endParaRPr lang="en-US" sz="1100" dirty="0"/>
          </a:p>
        </p:txBody>
      </p:sp>
      <p:sp>
        <p:nvSpPr>
          <p:cNvPr id="10" name="Text 8"/>
          <p:cNvSpPr txBox="1"/>
          <p:nvPr/>
        </p:nvSpPr>
        <p:spPr>
          <a:xfrm>
            <a:off x="2240280" y="1965960"/>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Argenson - Château</a:t>
            </a:r>
            <a:endParaRPr lang="en-US" sz="1100" dirty="0"/>
          </a:p>
        </p:txBody>
      </p:sp>
      <p:sp>
        <p:nvSpPr>
          <p:cNvPr id="11" name="Shape 9"/>
          <p:cNvSpPr/>
          <p:nvPr/>
        </p:nvSpPr>
        <p:spPr>
          <a:xfrm>
            <a:off x="457200" y="2304288"/>
            <a:ext cx="3931920" cy="292608"/>
          </a:xfrm>
          <a:prstGeom prst="roundRect">
            <a:avLst>
              <a:gd name="adj" fmla="val 25000"/>
            </a:avLst>
          </a:prstGeom>
          <a:solidFill>
            <a:srgbClr val="EEF2F4"/>
          </a:solidFill>
          <a:ln w="12700">
            <a:solidFill>
              <a:srgbClr val="EEF2F4"/>
            </a:solidFill>
            <a:prstDash val="solid"/>
          </a:ln>
        </p:spPr>
      </p:sp>
      <p:sp>
        <p:nvSpPr>
          <p:cNvPr id="12" name="Text 10"/>
          <p:cNvSpPr txBox="1"/>
          <p:nvPr/>
        </p:nvSpPr>
        <p:spPr>
          <a:xfrm>
            <a:off x="566928" y="2304288"/>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timestamp</a:t>
            </a:r>
            <a:endParaRPr lang="en-US" sz="1100" dirty="0"/>
          </a:p>
        </p:txBody>
      </p:sp>
      <p:sp>
        <p:nvSpPr>
          <p:cNvPr id="13" name="Text 11"/>
          <p:cNvSpPr txBox="1"/>
          <p:nvPr/>
        </p:nvSpPr>
        <p:spPr>
          <a:xfrm>
            <a:off x="2240280" y="2304288"/>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2026-10-21T15:01:21Z</a:t>
            </a:r>
            <a:endParaRPr lang="en-US" sz="1100" dirty="0"/>
          </a:p>
        </p:txBody>
      </p:sp>
      <p:sp>
        <p:nvSpPr>
          <p:cNvPr id="14" name="Shape 12"/>
          <p:cNvSpPr/>
          <p:nvPr/>
        </p:nvSpPr>
        <p:spPr>
          <a:xfrm>
            <a:off x="457200" y="2642616"/>
            <a:ext cx="3931920" cy="292608"/>
          </a:xfrm>
          <a:prstGeom prst="roundRect">
            <a:avLst>
              <a:gd name="adj" fmla="val 25000"/>
            </a:avLst>
          </a:prstGeom>
          <a:solidFill>
            <a:srgbClr val="FFFFFF"/>
          </a:solidFill>
          <a:ln w="12700">
            <a:solidFill>
              <a:srgbClr val="FFFFFF"/>
            </a:solidFill>
            <a:prstDash val="solid"/>
          </a:ln>
        </p:spPr>
      </p:sp>
      <p:sp>
        <p:nvSpPr>
          <p:cNvPr id="15" name="Text 13"/>
          <p:cNvSpPr txBox="1"/>
          <p:nvPr/>
        </p:nvSpPr>
        <p:spPr>
          <a:xfrm>
            <a:off x="566928" y="2642616"/>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latitude</a:t>
            </a:r>
            <a:endParaRPr lang="en-US" sz="1100" dirty="0"/>
          </a:p>
        </p:txBody>
      </p:sp>
      <p:sp>
        <p:nvSpPr>
          <p:cNvPr id="16" name="Text 14"/>
          <p:cNvSpPr txBox="1"/>
          <p:nvPr/>
        </p:nvSpPr>
        <p:spPr>
          <a:xfrm>
            <a:off x="2240280" y="2642616"/>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48.888559</a:t>
            </a:r>
            <a:endParaRPr lang="en-US" sz="1100" dirty="0"/>
          </a:p>
        </p:txBody>
      </p:sp>
      <p:sp>
        <p:nvSpPr>
          <p:cNvPr id="17" name="Shape 15"/>
          <p:cNvSpPr/>
          <p:nvPr/>
        </p:nvSpPr>
        <p:spPr>
          <a:xfrm>
            <a:off x="457200" y="2980944"/>
            <a:ext cx="3931920" cy="292608"/>
          </a:xfrm>
          <a:prstGeom prst="roundRect">
            <a:avLst>
              <a:gd name="adj" fmla="val 25000"/>
            </a:avLst>
          </a:prstGeom>
          <a:solidFill>
            <a:srgbClr val="EEF2F4"/>
          </a:solidFill>
          <a:ln w="12700">
            <a:solidFill>
              <a:srgbClr val="EEF2F4"/>
            </a:solidFill>
            <a:prstDash val="solid"/>
          </a:ln>
        </p:spPr>
      </p:sp>
      <p:sp>
        <p:nvSpPr>
          <p:cNvPr id="18" name="Text 16"/>
          <p:cNvSpPr txBox="1"/>
          <p:nvPr/>
        </p:nvSpPr>
        <p:spPr>
          <a:xfrm>
            <a:off x="566928" y="2980944"/>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longitude</a:t>
            </a:r>
            <a:endParaRPr lang="en-US" sz="1100" dirty="0"/>
          </a:p>
        </p:txBody>
      </p:sp>
      <p:sp>
        <p:nvSpPr>
          <p:cNvPr id="19" name="Text 17"/>
          <p:cNvSpPr txBox="1"/>
          <p:nvPr/>
        </p:nvSpPr>
        <p:spPr>
          <a:xfrm>
            <a:off x="2240280" y="2980944"/>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2.2642</a:t>
            </a:r>
            <a:endParaRPr lang="en-US" sz="1100" dirty="0"/>
          </a:p>
        </p:txBody>
      </p:sp>
      <p:sp>
        <p:nvSpPr>
          <p:cNvPr id="20" name="Shape 18"/>
          <p:cNvSpPr/>
          <p:nvPr/>
        </p:nvSpPr>
        <p:spPr>
          <a:xfrm>
            <a:off x="457200" y="3319272"/>
            <a:ext cx="3931920" cy="292608"/>
          </a:xfrm>
          <a:prstGeom prst="roundRect">
            <a:avLst>
              <a:gd name="adj" fmla="val 25000"/>
            </a:avLst>
          </a:prstGeom>
          <a:solidFill>
            <a:srgbClr val="FFFFFF"/>
          </a:solidFill>
          <a:ln w="12700">
            <a:solidFill>
              <a:srgbClr val="FFFFFF"/>
            </a:solidFill>
            <a:prstDash val="solid"/>
          </a:ln>
        </p:spPr>
      </p:sp>
      <p:sp>
        <p:nvSpPr>
          <p:cNvPr id="21" name="Text 19"/>
          <p:cNvSpPr txBox="1"/>
          <p:nvPr/>
        </p:nvSpPr>
        <p:spPr>
          <a:xfrm>
            <a:off x="566928" y="3319272"/>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free_slots</a:t>
            </a:r>
            <a:endParaRPr lang="en-US" sz="1100" dirty="0"/>
          </a:p>
        </p:txBody>
      </p:sp>
      <p:sp>
        <p:nvSpPr>
          <p:cNvPr id="22" name="Text 20"/>
          <p:cNvSpPr txBox="1"/>
          <p:nvPr/>
        </p:nvSpPr>
        <p:spPr>
          <a:xfrm>
            <a:off x="2240280" y="3319272"/>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21</a:t>
            </a:r>
            <a:endParaRPr lang="en-US" sz="1100" dirty="0"/>
          </a:p>
        </p:txBody>
      </p:sp>
      <p:sp>
        <p:nvSpPr>
          <p:cNvPr id="23" name="Shape 21"/>
          <p:cNvSpPr/>
          <p:nvPr/>
        </p:nvSpPr>
        <p:spPr>
          <a:xfrm>
            <a:off x="457200" y="3657600"/>
            <a:ext cx="3931920" cy="292608"/>
          </a:xfrm>
          <a:prstGeom prst="roundRect">
            <a:avLst>
              <a:gd name="adj" fmla="val 25000"/>
            </a:avLst>
          </a:prstGeom>
          <a:solidFill>
            <a:srgbClr val="EEF2F4"/>
          </a:solidFill>
          <a:ln w="12700">
            <a:solidFill>
              <a:srgbClr val="EEF2F4"/>
            </a:solidFill>
            <a:prstDash val="solid"/>
          </a:ln>
        </p:spPr>
      </p:sp>
      <p:sp>
        <p:nvSpPr>
          <p:cNvPr id="24" name="Text 22"/>
          <p:cNvSpPr txBox="1"/>
          <p:nvPr/>
        </p:nvSpPr>
        <p:spPr>
          <a:xfrm>
            <a:off x="566928" y="3657600"/>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bikes_available</a:t>
            </a:r>
            <a:endParaRPr lang="en-US" sz="1100" dirty="0"/>
          </a:p>
        </p:txBody>
      </p:sp>
      <p:sp>
        <p:nvSpPr>
          <p:cNvPr id="25" name="Text 23"/>
          <p:cNvSpPr txBox="1"/>
          <p:nvPr/>
        </p:nvSpPr>
        <p:spPr>
          <a:xfrm>
            <a:off x="2240280" y="3657600"/>
            <a:ext cx="2103120" cy="292608"/>
          </a:xfrm>
          <a:prstGeom prst="rect">
            <a:avLst/>
          </a:prstGeom>
          <a:noFill/>
          <a:ln/>
        </p:spPr>
        <p:txBody>
          <a:bodyPr wrap="square" lIns="0" tIns="0" rIns="0" bIns="0" rtlCol="0" anchor="ctr"/>
          <a:lstStyle/>
          <a:p>
            <a:pPr indent="0" marL="0">
              <a:buNone/>
            </a:pPr>
            <a:r>
              <a:rPr lang="en-US" sz="1100" b="1" dirty="0">
                <a:solidFill>
                  <a:srgbClr val="E0A10F"/>
                </a:solidFill>
                <a:latin typeface="Arial" pitchFamily="34" charset="0"/>
                <a:ea typeface="Arial" pitchFamily="34" charset="-122"/>
                <a:cs typeface="Arial" pitchFamily="34" charset="-120"/>
              </a:rPr>
              <a:t>1</a:t>
            </a:r>
            <a:endParaRPr lang="en-US" sz="1100" dirty="0"/>
          </a:p>
        </p:txBody>
      </p:sp>
      <p:sp>
        <p:nvSpPr>
          <p:cNvPr id="26" name="Shape 24"/>
          <p:cNvSpPr/>
          <p:nvPr/>
        </p:nvSpPr>
        <p:spPr>
          <a:xfrm>
            <a:off x="457200" y="3995928"/>
            <a:ext cx="3931920" cy="292608"/>
          </a:xfrm>
          <a:prstGeom prst="roundRect">
            <a:avLst>
              <a:gd name="adj" fmla="val 25000"/>
            </a:avLst>
          </a:prstGeom>
          <a:solidFill>
            <a:srgbClr val="FFFFFF"/>
          </a:solidFill>
          <a:ln w="12700">
            <a:solidFill>
              <a:srgbClr val="FFFFFF"/>
            </a:solidFill>
            <a:prstDash val="solid"/>
          </a:ln>
        </p:spPr>
      </p:sp>
      <p:sp>
        <p:nvSpPr>
          <p:cNvPr id="27" name="Text 25"/>
          <p:cNvSpPr txBox="1"/>
          <p:nvPr/>
        </p:nvSpPr>
        <p:spPr>
          <a:xfrm>
            <a:off x="566928" y="3995928"/>
            <a:ext cx="1645920" cy="292608"/>
          </a:xfrm>
          <a:prstGeom prst="rect">
            <a:avLst/>
          </a:prstGeom>
          <a:noFill/>
          <a:ln/>
        </p:spPr>
        <p:txBody>
          <a:bodyPr wrap="square" lIns="0" tIns="0" rIns="0" bIns="0" rtlCol="0" anchor="ctr"/>
          <a:lstStyle/>
          <a:p>
            <a:pPr indent="0" marL="0">
              <a:buNone/>
            </a:pPr>
            <a:r>
              <a:rPr lang="en-US" sz="1100" b="1" dirty="0">
                <a:solidFill>
                  <a:srgbClr val="16222B"/>
                </a:solidFill>
                <a:latin typeface="Courier New" pitchFamily="34" charset="0"/>
                <a:ea typeface="Courier New" pitchFamily="34" charset="-122"/>
                <a:cs typeface="Courier New" pitchFamily="34" charset="-120"/>
              </a:rPr>
              <a:t>city</a:t>
            </a:r>
            <a:endParaRPr lang="en-US" sz="1100" dirty="0"/>
          </a:p>
        </p:txBody>
      </p:sp>
      <p:sp>
        <p:nvSpPr>
          <p:cNvPr id="28" name="Text 26"/>
          <p:cNvSpPr txBox="1"/>
          <p:nvPr/>
        </p:nvSpPr>
        <p:spPr>
          <a:xfrm>
            <a:off x="2240280" y="3995928"/>
            <a:ext cx="2103120" cy="29260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Paris</a:t>
            </a:r>
            <a:endParaRPr lang="en-US" sz="1100" dirty="0"/>
          </a:p>
        </p:txBody>
      </p:sp>
      <p:sp>
        <p:nvSpPr>
          <p:cNvPr id="29" name="Shape 27"/>
          <p:cNvSpPr/>
          <p:nvPr/>
        </p:nvSpPr>
        <p:spPr>
          <a:xfrm>
            <a:off x="4754880" y="1371600"/>
            <a:ext cx="329184" cy="329184"/>
          </a:xfrm>
          <a:prstGeom prst="ellipse">
            <a:avLst/>
          </a:prstGeom>
          <a:solidFill>
            <a:srgbClr val="E0A10F"/>
          </a:solidFill>
          <a:ln w="12700">
            <a:solidFill>
              <a:srgbClr val="E0A10F"/>
            </a:solidFill>
            <a:prstDash val="solid"/>
          </a:ln>
        </p:spPr>
      </p:sp>
      <p:sp>
        <p:nvSpPr>
          <p:cNvPr id="30" name="Text 28"/>
          <p:cNvSpPr txBox="1"/>
          <p:nvPr/>
        </p:nvSpPr>
        <p:spPr>
          <a:xfrm>
            <a:off x="4754880" y="137160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Q1</a:t>
            </a:r>
            <a:endParaRPr lang="en-US" sz="1000" dirty="0"/>
          </a:p>
        </p:txBody>
      </p:sp>
      <p:sp>
        <p:nvSpPr>
          <p:cNvPr id="31" name="Text 29"/>
          <p:cNvSpPr txBox="1"/>
          <p:nvPr/>
        </p:nvSpPr>
        <p:spPr>
          <a:xfrm>
            <a:off x="5212080" y="135331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Stations au plus fort taux d'utilisation</a:t>
            </a:r>
            <a:endParaRPr lang="en-US" sz="1300" dirty="0"/>
          </a:p>
        </p:txBody>
      </p:sp>
      <p:sp>
        <p:nvSpPr>
          <p:cNvPr id="32" name="Shape 30"/>
          <p:cNvSpPr/>
          <p:nvPr/>
        </p:nvSpPr>
        <p:spPr>
          <a:xfrm>
            <a:off x="4754880" y="1938528"/>
            <a:ext cx="329184" cy="329184"/>
          </a:xfrm>
          <a:prstGeom prst="ellipse">
            <a:avLst/>
          </a:prstGeom>
          <a:solidFill>
            <a:srgbClr val="E0A10F"/>
          </a:solidFill>
          <a:ln w="12700">
            <a:solidFill>
              <a:srgbClr val="E0A10F"/>
            </a:solidFill>
            <a:prstDash val="solid"/>
          </a:ln>
        </p:spPr>
      </p:sp>
      <p:sp>
        <p:nvSpPr>
          <p:cNvPr id="33" name="Text 31"/>
          <p:cNvSpPr txBox="1"/>
          <p:nvPr/>
        </p:nvSpPr>
        <p:spPr>
          <a:xfrm>
            <a:off x="4754880" y="19385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34" name="Text 32"/>
          <p:cNvSpPr txBox="1"/>
          <p:nvPr/>
        </p:nvSpPr>
        <p:spPr>
          <a:xfrm>
            <a:off x="5212080" y="1920240"/>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Zones où l'offre de vélos est insuffisante</a:t>
            </a:r>
            <a:endParaRPr lang="en-US" sz="1300" dirty="0"/>
          </a:p>
        </p:txBody>
      </p:sp>
      <p:sp>
        <p:nvSpPr>
          <p:cNvPr id="35" name="Shape 33"/>
          <p:cNvSpPr/>
          <p:nvPr/>
        </p:nvSpPr>
        <p:spPr>
          <a:xfrm>
            <a:off x="4754880" y="2505456"/>
            <a:ext cx="329184" cy="329184"/>
          </a:xfrm>
          <a:prstGeom prst="ellipse">
            <a:avLst/>
          </a:prstGeom>
          <a:solidFill>
            <a:srgbClr val="E0A10F"/>
          </a:solidFill>
          <a:ln w="12700">
            <a:solidFill>
              <a:srgbClr val="E0A10F"/>
            </a:solidFill>
            <a:prstDash val="solid"/>
          </a:ln>
        </p:spPr>
      </p:sp>
      <p:sp>
        <p:nvSpPr>
          <p:cNvPr id="36" name="Text 34"/>
          <p:cNvSpPr txBox="1"/>
          <p:nvPr/>
        </p:nvSpPr>
        <p:spPr>
          <a:xfrm>
            <a:off x="4754880" y="250545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37" name="Text 35"/>
          <p:cNvSpPr txBox="1"/>
          <p:nvPr/>
        </p:nvSpPr>
        <p:spPr>
          <a:xfrm>
            <a:off x="5212080" y="2487168"/>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Pics d'utilisation journaliers</a:t>
            </a:r>
            <a:endParaRPr lang="en-US" sz="1300" dirty="0"/>
          </a:p>
        </p:txBody>
      </p:sp>
      <p:sp>
        <p:nvSpPr>
          <p:cNvPr id="38" name="Shape 36"/>
          <p:cNvSpPr/>
          <p:nvPr/>
        </p:nvSpPr>
        <p:spPr>
          <a:xfrm>
            <a:off x="4754880" y="3072384"/>
            <a:ext cx="329184" cy="329184"/>
          </a:xfrm>
          <a:prstGeom prst="ellipse">
            <a:avLst/>
          </a:prstGeom>
          <a:solidFill>
            <a:srgbClr val="E0A10F"/>
          </a:solidFill>
          <a:ln w="12700">
            <a:solidFill>
              <a:srgbClr val="E0A10F"/>
            </a:solidFill>
            <a:prstDash val="solid"/>
          </a:ln>
        </p:spPr>
      </p:sp>
      <p:sp>
        <p:nvSpPr>
          <p:cNvPr id="39" name="Text 37"/>
          <p:cNvSpPr txBox="1"/>
          <p:nvPr/>
        </p:nvSpPr>
        <p:spPr>
          <a:xfrm>
            <a:off x="4754880" y="307238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40" name="Text 38"/>
          <p:cNvSpPr txBox="1"/>
          <p:nvPr/>
        </p:nvSpPr>
        <p:spPr>
          <a:xfrm>
            <a:off x="5212080" y="3054096"/>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Déséquilibres géographiques</a:t>
            </a:r>
            <a:endParaRPr lang="en-US" sz="1300" dirty="0"/>
          </a:p>
        </p:txBody>
      </p:sp>
      <p:sp>
        <p:nvSpPr>
          <p:cNvPr id="41" name="Shape 39"/>
          <p:cNvSpPr/>
          <p:nvPr/>
        </p:nvSpPr>
        <p:spPr>
          <a:xfrm>
            <a:off x="4754880" y="3639312"/>
            <a:ext cx="329184" cy="329184"/>
          </a:xfrm>
          <a:prstGeom prst="ellipse">
            <a:avLst/>
          </a:prstGeom>
          <a:solidFill>
            <a:srgbClr val="E0A10F"/>
          </a:solidFill>
          <a:ln w="12700">
            <a:solidFill>
              <a:srgbClr val="E0A10F"/>
            </a:solidFill>
            <a:prstDash val="solid"/>
          </a:ln>
        </p:spPr>
      </p:sp>
      <p:sp>
        <p:nvSpPr>
          <p:cNvPr id="42" name="Text 40"/>
          <p:cNvSpPr txBox="1"/>
          <p:nvPr/>
        </p:nvSpPr>
        <p:spPr>
          <a:xfrm>
            <a:off x="4754880" y="363931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Q5</a:t>
            </a:r>
            <a:endParaRPr lang="en-US" sz="1000" dirty="0"/>
          </a:p>
        </p:txBody>
      </p:sp>
      <p:sp>
        <p:nvSpPr>
          <p:cNvPr id="43" name="Text 41"/>
          <p:cNvSpPr txBox="1"/>
          <p:nvPr/>
        </p:nvSpPr>
        <p:spPr>
          <a:xfrm>
            <a:off x="5212080" y="3621024"/>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Stations critiques à rééquilibrer</a:t>
            </a:r>
            <a:endParaRPr lang="en-US" sz="1300" dirty="0"/>
          </a:p>
        </p:txBody>
      </p:sp>
      <p:sp>
        <p:nvSpPr>
          <p:cNvPr id="44" name="Text 42"/>
          <p:cNvSpPr txBox="1"/>
          <p:nvPr/>
        </p:nvSpPr>
        <p:spPr>
          <a:xfrm>
            <a:off x="4754880" y="4251960"/>
            <a:ext cx="3931920" cy="365760"/>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Indicateur clé : variation de bikes_available entre deux passages</a:t>
            </a:r>
            <a:endParaRPr lang="en-US" sz="1100" dirty="0"/>
          </a:p>
        </p:txBody>
      </p:sp>
      <p:sp>
        <p:nvSpPr>
          <p:cNvPr id="45" name="Text 4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46" name="Text 4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8A5CC2"/>
                </a:solidFill>
                <a:latin typeface="Arial" pitchFamily="34" charset="0"/>
                <a:ea typeface="Arial" pitchFamily="34" charset="-122"/>
                <a:cs typeface="Arial" pitchFamily="34" charset="-120"/>
              </a:rPr>
              <a:t>PARTIE 3 · FLUX IOT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Pollution : simuler un réseau de capteurs</a:t>
            </a:r>
            <a:endParaRPr lang="en-US" sz="2600" dirty="0"/>
          </a:p>
        </p:txBody>
      </p:sp>
      <p:sp>
        <p:nvSpPr>
          <p:cNvPr id="4" name="Shape 2"/>
          <p:cNvSpPr/>
          <p:nvPr/>
        </p:nvSpPr>
        <p:spPr>
          <a:xfrm>
            <a:off x="457200" y="1371600"/>
            <a:ext cx="3931920" cy="3108960"/>
          </a:xfrm>
          <a:prstGeom prst="roundRect">
            <a:avLst>
              <a:gd name="adj" fmla="val 2353"/>
            </a:avLst>
          </a:prstGeom>
          <a:solidFill>
            <a:srgbClr val="EEF2F4"/>
          </a:solidFill>
          <a:ln w="12700">
            <a:solidFill>
              <a:srgbClr val="EEF2F4"/>
            </a:solidFill>
            <a:prstDash val="solid"/>
          </a:ln>
        </p:spPr>
      </p:sp>
      <p:sp>
        <p:nvSpPr>
          <p:cNvPr id="5" name="Text 3"/>
          <p:cNvSpPr txBox="1"/>
          <p:nvPr/>
        </p:nvSpPr>
        <p:spPr>
          <a:xfrm>
            <a:off x="685800" y="1536192"/>
            <a:ext cx="3474720" cy="274320"/>
          </a:xfrm>
          <a:prstGeom prst="rect">
            <a:avLst/>
          </a:prstGeom>
          <a:noFill/>
          <a:ln/>
        </p:spPr>
        <p:txBody>
          <a:bodyPr wrap="square" lIns="0" tIns="0" rIns="0" bIns="0" rtlCol="0" anchor="t"/>
          <a:lstStyle/>
          <a:p>
            <a:pPr indent="0" marL="0">
              <a:buNone/>
            </a:pPr>
            <a:r>
              <a:rPr lang="en-US" sz="1500" b="1" dirty="0">
                <a:solidFill>
                  <a:srgbClr val="16222B"/>
                </a:solidFill>
                <a:latin typeface="Arial" pitchFamily="34" charset="0"/>
                <a:ea typeface="Arial" pitchFamily="34" charset="-122"/>
                <a:cs typeface="Arial" pitchFamily="34" charset="-120"/>
              </a:rPr>
              <a:t>Ce qui est prévu</a:t>
            </a:r>
            <a:endParaRPr lang="en-US" sz="1500" dirty="0"/>
          </a:p>
        </p:txBody>
      </p:sp>
      <p:sp>
        <p:nvSpPr>
          <p:cNvPr id="6" name="Text 4"/>
          <p:cNvSpPr txBox="1"/>
          <p:nvPr/>
        </p:nvSpPr>
        <p:spPr>
          <a:xfrm>
            <a:off x="685800" y="1920240"/>
            <a:ext cx="35204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6222B"/>
                </a:solidFill>
                <a:latin typeface="Arial" pitchFamily="34" charset="0"/>
                <a:ea typeface="Arial" pitchFamily="34" charset="-122"/>
                <a:cs typeface="Arial" pitchFamily="34" charset="-120"/>
              </a:rPr>
              <a:t>Source : API OpenAQ (capteurs en France, grandes villes)</a:t>
            </a:r>
            <a:endParaRPr lang="en-US" sz="1300" dirty="0"/>
          </a:p>
          <a:p>
            <a:pPr marL="342900" indent="-342900">
              <a:spcAft>
                <a:spcPts val="600"/>
              </a:spcAft>
              <a:buSzPct val="100000"/>
              <a:buChar char="•"/>
            </a:pPr>
            <a:r>
              <a:rPr lang="en-US" sz="1300" dirty="0">
                <a:solidFill>
                  <a:srgbClr val="16222B"/>
                </a:solidFill>
                <a:latin typeface="Arial" pitchFamily="34" charset="0"/>
                <a:ea typeface="Arial" pitchFamily="34" charset="-122"/>
                <a:cs typeface="Arial" pitchFamily="34" charset="-120"/>
              </a:rPr>
              <a:t>Ingestion régulière qui imite l'envoi d'un capteur</a:t>
            </a:r>
            <a:endParaRPr lang="en-US" sz="1300" dirty="0"/>
          </a:p>
          <a:p>
            <a:pPr marL="342900" indent="-342900">
              <a:spcAft>
                <a:spcPts val="600"/>
              </a:spcAft>
              <a:buSzPct val="100000"/>
              <a:buChar char="•"/>
            </a:pPr>
            <a:r>
              <a:rPr lang="en-US" sz="1300" dirty="0">
                <a:solidFill>
                  <a:srgbClr val="16222B"/>
                </a:solidFill>
                <a:latin typeface="Arial" pitchFamily="34" charset="0"/>
                <a:ea typeface="Arial" pitchFamily="34" charset="-122"/>
                <a:cs typeface="Arial" pitchFamily="34" charset="-120"/>
              </a:rPr>
              <a:t>Stockage dans un bucket datalake-openaq</a:t>
            </a:r>
            <a:endParaRPr lang="en-US" sz="1300" dirty="0"/>
          </a:p>
          <a:p>
            <a:pPr marL="342900" indent="-342900">
              <a:spcAft>
                <a:spcPts val="600"/>
              </a:spcAft>
              <a:buSzPct val="100000"/>
              <a:buChar char="•"/>
            </a:pPr>
            <a:r>
              <a:rPr lang="en-US" sz="1300" dirty="0">
                <a:solidFill>
                  <a:srgbClr val="16222B"/>
                </a:solidFill>
                <a:latin typeface="Arial" pitchFamily="34" charset="0"/>
                <a:ea typeface="Arial" pitchFamily="34" charset="-122"/>
                <a:cs typeface="Arial" pitchFamily="34" charset="-120"/>
              </a:rPr>
              <a:t>Même logique que la partie 2</a:t>
            </a:r>
            <a:endParaRPr lang="en-US" sz="1300" dirty="0"/>
          </a:p>
        </p:txBody>
      </p:sp>
      <p:sp>
        <p:nvSpPr>
          <p:cNvPr id="7" name="Shape 5"/>
          <p:cNvSpPr/>
          <p:nvPr/>
        </p:nvSpPr>
        <p:spPr>
          <a:xfrm>
            <a:off x="685800" y="4041648"/>
            <a:ext cx="146304" cy="146304"/>
          </a:xfrm>
          <a:prstGeom prst="ellipse">
            <a:avLst/>
          </a:prstGeom>
          <a:solidFill>
            <a:srgbClr val="B9C4CA"/>
          </a:solidFill>
          <a:ln w="12700">
            <a:solidFill>
              <a:srgbClr val="B9C4CA"/>
            </a:solidFill>
            <a:prstDash val="solid"/>
          </a:ln>
        </p:spPr>
      </p:sp>
      <p:sp>
        <p:nvSpPr>
          <p:cNvPr id="8" name="Text 6"/>
          <p:cNvSpPr txBox="1"/>
          <p:nvPr/>
        </p:nvSpPr>
        <p:spPr>
          <a:xfrm>
            <a:off x="941832" y="3977640"/>
            <a:ext cx="321868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À réaliser</a:t>
            </a:r>
            <a:endParaRPr lang="en-US" sz="1300" dirty="0"/>
          </a:p>
        </p:txBody>
      </p:sp>
      <p:sp>
        <p:nvSpPr>
          <p:cNvPr id="9" name="Text 7"/>
          <p:cNvSpPr txBox="1"/>
          <p:nvPr/>
        </p:nvSpPr>
        <p:spPr>
          <a:xfrm>
            <a:off x="4754880" y="1371600"/>
            <a:ext cx="393192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Polluants suivis</a:t>
            </a:r>
            <a:endParaRPr lang="en-US" sz="1100" dirty="0"/>
          </a:p>
        </p:txBody>
      </p:sp>
      <p:sp>
        <p:nvSpPr>
          <p:cNvPr id="10" name="Shape 8"/>
          <p:cNvSpPr/>
          <p:nvPr/>
        </p:nvSpPr>
        <p:spPr>
          <a:xfrm>
            <a:off x="4754880" y="1645920"/>
            <a:ext cx="589788" cy="292608"/>
          </a:xfrm>
          <a:prstGeom prst="roundRect">
            <a:avLst>
              <a:gd name="adj" fmla="val 50000"/>
            </a:avLst>
          </a:prstGeom>
          <a:solidFill>
            <a:srgbClr val="FFFFFF"/>
          </a:solidFill>
          <a:ln w="15875">
            <a:solidFill>
              <a:srgbClr val="8A5CC2"/>
            </a:solidFill>
            <a:prstDash val="solid"/>
          </a:ln>
        </p:spPr>
      </p:sp>
      <p:sp>
        <p:nvSpPr>
          <p:cNvPr id="11" name="Text 9"/>
          <p:cNvSpPr txBox="1"/>
          <p:nvPr/>
        </p:nvSpPr>
        <p:spPr>
          <a:xfrm>
            <a:off x="4754880" y="1645920"/>
            <a:ext cx="589788"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PM2.5</a:t>
            </a:r>
            <a:endParaRPr lang="en-US" sz="1100" dirty="0"/>
          </a:p>
        </p:txBody>
      </p:sp>
      <p:sp>
        <p:nvSpPr>
          <p:cNvPr id="12" name="Shape 10"/>
          <p:cNvSpPr/>
          <p:nvPr/>
        </p:nvSpPr>
        <p:spPr>
          <a:xfrm>
            <a:off x="5454396" y="1645920"/>
            <a:ext cx="512064" cy="292608"/>
          </a:xfrm>
          <a:prstGeom prst="roundRect">
            <a:avLst>
              <a:gd name="adj" fmla="val 50000"/>
            </a:avLst>
          </a:prstGeom>
          <a:solidFill>
            <a:srgbClr val="FFFFFF"/>
          </a:solidFill>
          <a:ln w="15875">
            <a:solidFill>
              <a:srgbClr val="8A5CC2"/>
            </a:solidFill>
            <a:prstDash val="solid"/>
          </a:ln>
        </p:spPr>
      </p:sp>
      <p:sp>
        <p:nvSpPr>
          <p:cNvPr id="13" name="Text 11"/>
          <p:cNvSpPr txBox="1"/>
          <p:nvPr/>
        </p:nvSpPr>
        <p:spPr>
          <a:xfrm>
            <a:off x="5454396" y="1645920"/>
            <a:ext cx="512064"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PM10</a:t>
            </a:r>
            <a:endParaRPr lang="en-US" sz="1100" dirty="0"/>
          </a:p>
        </p:txBody>
      </p:sp>
      <p:sp>
        <p:nvSpPr>
          <p:cNvPr id="14" name="Shape 12"/>
          <p:cNvSpPr/>
          <p:nvPr/>
        </p:nvSpPr>
        <p:spPr>
          <a:xfrm>
            <a:off x="6076188" y="1645920"/>
            <a:ext cx="434340" cy="292608"/>
          </a:xfrm>
          <a:prstGeom prst="roundRect">
            <a:avLst>
              <a:gd name="adj" fmla="val 50000"/>
            </a:avLst>
          </a:prstGeom>
          <a:solidFill>
            <a:srgbClr val="FFFFFF"/>
          </a:solidFill>
          <a:ln w="15875">
            <a:solidFill>
              <a:srgbClr val="8A5CC2"/>
            </a:solidFill>
            <a:prstDash val="solid"/>
          </a:ln>
        </p:spPr>
      </p:sp>
      <p:sp>
        <p:nvSpPr>
          <p:cNvPr id="15" name="Text 13"/>
          <p:cNvSpPr txBox="1"/>
          <p:nvPr/>
        </p:nvSpPr>
        <p:spPr>
          <a:xfrm>
            <a:off x="6076188" y="1645920"/>
            <a:ext cx="434340"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NO₂</a:t>
            </a:r>
            <a:endParaRPr lang="en-US" sz="1100" dirty="0"/>
          </a:p>
        </p:txBody>
      </p:sp>
      <p:sp>
        <p:nvSpPr>
          <p:cNvPr id="16" name="Shape 14"/>
          <p:cNvSpPr/>
          <p:nvPr/>
        </p:nvSpPr>
        <p:spPr>
          <a:xfrm>
            <a:off x="6620256" y="1645920"/>
            <a:ext cx="356616" cy="292608"/>
          </a:xfrm>
          <a:prstGeom prst="roundRect">
            <a:avLst>
              <a:gd name="adj" fmla="val 50000"/>
            </a:avLst>
          </a:prstGeom>
          <a:solidFill>
            <a:srgbClr val="FFFFFF"/>
          </a:solidFill>
          <a:ln w="15875">
            <a:solidFill>
              <a:srgbClr val="8A5CC2"/>
            </a:solidFill>
            <a:prstDash val="solid"/>
          </a:ln>
        </p:spPr>
      </p:sp>
      <p:sp>
        <p:nvSpPr>
          <p:cNvPr id="17" name="Text 15"/>
          <p:cNvSpPr txBox="1"/>
          <p:nvPr/>
        </p:nvSpPr>
        <p:spPr>
          <a:xfrm>
            <a:off x="6620256" y="1645920"/>
            <a:ext cx="356616"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O₃</a:t>
            </a:r>
            <a:endParaRPr lang="en-US" sz="1100" dirty="0"/>
          </a:p>
        </p:txBody>
      </p:sp>
      <p:sp>
        <p:nvSpPr>
          <p:cNvPr id="18" name="Shape 16"/>
          <p:cNvSpPr/>
          <p:nvPr/>
        </p:nvSpPr>
        <p:spPr>
          <a:xfrm>
            <a:off x="7086600" y="1645920"/>
            <a:ext cx="356616" cy="292608"/>
          </a:xfrm>
          <a:prstGeom prst="roundRect">
            <a:avLst>
              <a:gd name="adj" fmla="val 50000"/>
            </a:avLst>
          </a:prstGeom>
          <a:solidFill>
            <a:srgbClr val="FFFFFF"/>
          </a:solidFill>
          <a:ln w="15875">
            <a:solidFill>
              <a:srgbClr val="8A5CC2"/>
            </a:solidFill>
            <a:prstDash val="solid"/>
          </a:ln>
        </p:spPr>
      </p:sp>
      <p:sp>
        <p:nvSpPr>
          <p:cNvPr id="19" name="Text 17"/>
          <p:cNvSpPr txBox="1"/>
          <p:nvPr/>
        </p:nvSpPr>
        <p:spPr>
          <a:xfrm>
            <a:off x="7086600" y="1645920"/>
            <a:ext cx="356616" cy="292608"/>
          </a:xfrm>
          <a:prstGeom prst="rect">
            <a:avLst/>
          </a:prstGeom>
          <a:noFill/>
          <a:ln/>
        </p:spPr>
        <p:txBody>
          <a:bodyPr wrap="square" lIns="0" tIns="0" rIns="0" bIns="0" rtlCol="0" anchor="ctr"/>
          <a:lstStyle/>
          <a:p>
            <a:pPr algn="ctr" indent="0" marL="0">
              <a:buNone/>
            </a:pPr>
            <a:r>
              <a:rPr lang="en-US" sz="1100" dirty="0">
                <a:solidFill>
                  <a:srgbClr val="16222B"/>
                </a:solidFill>
                <a:latin typeface="Courier New" pitchFamily="34" charset="0"/>
                <a:ea typeface="Courier New" pitchFamily="34" charset="-122"/>
                <a:cs typeface="Courier New" pitchFamily="34" charset="-120"/>
              </a:rPr>
              <a:t>CO</a:t>
            </a:r>
            <a:endParaRPr lang="en-US" sz="1100" dirty="0"/>
          </a:p>
        </p:txBody>
      </p:sp>
      <p:sp>
        <p:nvSpPr>
          <p:cNvPr id="20" name="Shape 18"/>
          <p:cNvSpPr/>
          <p:nvPr/>
        </p:nvSpPr>
        <p:spPr>
          <a:xfrm>
            <a:off x="4754880" y="2331720"/>
            <a:ext cx="329184" cy="329184"/>
          </a:xfrm>
          <a:prstGeom prst="ellipse">
            <a:avLst/>
          </a:prstGeom>
          <a:solidFill>
            <a:srgbClr val="8A5CC2"/>
          </a:solidFill>
          <a:ln w="12700">
            <a:solidFill>
              <a:srgbClr val="8A5CC2"/>
            </a:solidFill>
            <a:prstDash val="solid"/>
          </a:ln>
        </p:spPr>
      </p:sp>
      <p:sp>
        <p:nvSpPr>
          <p:cNvPr id="21" name="Text 19"/>
          <p:cNvSpPr txBox="1"/>
          <p:nvPr/>
        </p:nvSpPr>
        <p:spPr>
          <a:xfrm>
            <a:off x="4754880" y="233172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Q1</a:t>
            </a:r>
            <a:endParaRPr lang="en-US" sz="1000" dirty="0"/>
          </a:p>
        </p:txBody>
      </p:sp>
      <p:sp>
        <p:nvSpPr>
          <p:cNvPr id="22" name="Text 20"/>
          <p:cNvSpPr txBox="1"/>
          <p:nvPr/>
        </p:nvSpPr>
        <p:spPr>
          <a:xfrm>
            <a:off x="5212080" y="231343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Zones les plus polluées</a:t>
            </a:r>
            <a:endParaRPr lang="en-US" sz="1300" dirty="0"/>
          </a:p>
        </p:txBody>
      </p:sp>
      <p:sp>
        <p:nvSpPr>
          <p:cNvPr id="23" name="Shape 21"/>
          <p:cNvSpPr/>
          <p:nvPr/>
        </p:nvSpPr>
        <p:spPr>
          <a:xfrm>
            <a:off x="4754880" y="2862072"/>
            <a:ext cx="329184" cy="329184"/>
          </a:xfrm>
          <a:prstGeom prst="ellipse">
            <a:avLst/>
          </a:prstGeom>
          <a:solidFill>
            <a:srgbClr val="8A5CC2"/>
          </a:solidFill>
          <a:ln w="12700">
            <a:solidFill>
              <a:srgbClr val="8A5CC2"/>
            </a:solidFill>
            <a:prstDash val="solid"/>
          </a:ln>
        </p:spPr>
      </p:sp>
      <p:sp>
        <p:nvSpPr>
          <p:cNvPr id="24" name="Text 22"/>
          <p:cNvSpPr txBox="1"/>
          <p:nvPr/>
        </p:nvSpPr>
        <p:spPr>
          <a:xfrm>
            <a:off x="4754880" y="28620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25" name="Text 23"/>
          <p:cNvSpPr txBox="1"/>
          <p:nvPr/>
        </p:nvSpPr>
        <p:spPr>
          <a:xfrm>
            <a:off x="5212080" y="2843784"/>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Variation au cours de la journée</a:t>
            </a:r>
            <a:endParaRPr lang="en-US" sz="1300" dirty="0"/>
          </a:p>
        </p:txBody>
      </p:sp>
      <p:sp>
        <p:nvSpPr>
          <p:cNvPr id="26" name="Shape 24"/>
          <p:cNvSpPr/>
          <p:nvPr/>
        </p:nvSpPr>
        <p:spPr>
          <a:xfrm>
            <a:off x="4754880" y="3392424"/>
            <a:ext cx="329184" cy="329184"/>
          </a:xfrm>
          <a:prstGeom prst="ellipse">
            <a:avLst/>
          </a:prstGeom>
          <a:solidFill>
            <a:srgbClr val="8A5CC2"/>
          </a:solidFill>
          <a:ln w="12700">
            <a:solidFill>
              <a:srgbClr val="8A5CC2"/>
            </a:solidFill>
            <a:prstDash val="solid"/>
          </a:ln>
        </p:spPr>
      </p:sp>
      <p:sp>
        <p:nvSpPr>
          <p:cNvPr id="27" name="Text 25"/>
          <p:cNvSpPr txBox="1"/>
          <p:nvPr/>
        </p:nvSpPr>
        <p:spPr>
          <a:xfrm>
            <a:off x="4754880" y="339242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28" name="Text 26"/>
          <p:cNvSpPr txBox="1"/>
          <p:nvPr/>
        </p:nvSpPr>
        <p:spPr>
          <a:xfrm>
            <a:off x="5212080" y="3374136"/>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Polluant dominant par ville</a:t>
            </a:r>
            <a:endParaRPr lang="en-US" sz="1300" dirty="0"/>
          </a:p>
        </p:txBody>
      </p:sp>
      <p:sp>
        <p:nvSpPr>
          <p:cNvPr id="29" name="Shape 27"/>
          <p:cNvSpPr/>
          <p:nvPr/>
        </p:nvSpPr>
        <p:spPr>
          <a:xfrm>
            <a:off x="4754880" y="3922776"/>
            <a:ext cx="329184" cy="329184"/>
          </a:xfrm>
          <a:prstGeom prst="ellipse">
            <a:avLst/>
          </a:prstGeom>
          <a:solidFill>
            <a:srgbClr val="8A5CC2"/>
          </a:solidFill>
          <a:ln w="12700">
            <a:solidFill>
              <a:srgbClr val="8A5CC2"/>
            </a:solidFill>
            <a:prstDash val="solid"/>
          </a:ln>
        </p:spPr>
      </p:sp>
      <p:sp>
        <p:nvSpPr>
          <p:cNvPr id="30" name="Text 28"/>
          <p:cNvSpPr txBox="1"/>
          <p:nvPr/>
        </p:nvSpPr>
        <p:spPr>
          <a:xfrm>
            <a:off x="4754880" y="392277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31" name="Text 29"/>
          <p:cNvSpPr txBox="1"/>
          <p:nvPr/>
        </p:nvSpPr>
        <p:spPr>
          <a:xfrm>
            <a:off x="5212080" y="3904488"/>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Épisodes de pollution anormale</a:t>
            </a:r>
            <a:endParaRPr lang="en-US" sz="1300" dirty="0"/>
          </a:p>
        </p:txBody>
      </p:sp>
      <p:sp>
        <p:nvSpPr>
          <p:cNvPr id="32" name="Text 30"/>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3" name="Text 31"/>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C9A8A"/>
                </a:solidFill>
                <a:latin typeface="Arial" pitchFamily="34" charset="0"/>
                <a:ea typeface="Arial" pitchFamily="34" charset="-122"/>
                <a:cs typeface="Arial" pitchFamily="34" charset="-120"/>
              </a:rPr>
              <a:t>PARTIE 4 · ANALYSE CROISÉE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Croiser météo, mobilité et pollution</a:t>
            </a:r>
            <a:endParaRPr lang="en-US" sz="2600" dirty="0"/>
          </a:p>
        </p:txBody>
      </p:sp>
      <p:sp>
        <p:nvSpPr>
          <p:cNvPr id="4" name="Shape 2"/>
          <p:cNvSpPr/>
          <p:nvPr/>
        </p:nvSpPr>
        <p:spPr>
          <a:xfrm>
            <a:off x="822960" y="1463040"/>
            <a:ext cx="1737360" cy="1737360"/>
          </a:xfrm>
          <a:prstGeom prst="ellipse">
            <a:avLst/>
          </a:prstGeom>
          <a:solidFill>
            <a:srgbClr val="3A7BD5">
              <a:alpha val="75000"/>
            </a:srgbClr>
          </a:solidFill>
          <a:ln w="25400">
            <a:solidFill>
              <a:srgbClr val="FFFFFF"/>
            </a:solidFill>
            <a:prstDash val="solid"/>
          </a:ln>
        </p:spPr>
      </p:sp>
      <p:sp>
        <p:nvSpPr>
          <p:cNvPr id="5" name="Shape 3"/>
          <p:cNvSpPr/>
          <p:nvPr/>
        </p:nvSpPr>
        <p:spPr>
          <a:xfrm>
            <a:off x="2286000" y="1463040"/>
            <a:ext cx="1737360" cy="1737360"/>
          </a:xfrm>
          <a:prstGeom prst="ellipse">
            <a:avLst/>
          </a:prstGeom>
          <a:solidFill>
            <a:srgbClr val="E0A10F">
              <a:alpha val="75000"/>
            </a:srgbClr>
          </a:solidFill>
          <a:ln w="25400">
            <a:solidFill>
              <a:srgbClr val="FFFFFF"/>
            </a:solidFill>
            <a:prstDash val="solid"/>
          </a:ln>
        </p:spPr>
      </p:sp>
      <p:sp>
        <p:nvSpPr>
          <p:cNvPr id="6" name="Shape 4"/>
          <p:cNvSpPr/>
          <p:nvPr/>
        </p:nvSpPr>
        <p:spPr>
          <a:xfrm>
            <a:off x="1554480" y="2606040"/>
            <a:ext cx="1737360" cy="1737360"/>
          </a:xfrm>
          <a:prstGeom prst="ellipse">
            <a:avLst/>
          </a:prstGeom>
          <a:solidFill>
            <a:srgbClr val="8A5CC2">
              <a:alpha val="75000"/>
            </a:srgbClr>
          </a:solidFill>
          <a:ln w="25400">
            <a:solidFill>
              <a:srgbClr val="FFFFFF"/>
            </a:solidFill>
            <a:prstDash val="solid"/>
          </a:ln>
        </p:spPr>
      </p:sp>
      <p:sp>
        <p:nvSpPr>
          <p:cNvPr id="7" name="Text 5"/>
          <p:cNvSpPr txBox="1"/>
          <p:nvPr/>
        </p:nvSpPr>
        <p:spPr>
          <a:xfrm>
            <a:off x="868680" y="1965960"/>
            <a:ext cx="1097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Météo</a:t>
            </a:r>
            <a:endParaRPr lang="en-US" sz="1300" dirty="0"/>
          </a:p>
        </p:txBody>
      </p:sp>
      <p:sp>
        <p:nvSpPr>
          <p:cNvPr id="8" name="Text 6"/>
          <p:cNvSpPr txBox="1"/>
          <p:nvPr/>
        </p:nvSpPr>
        <p:spPr>
          <a:xfrm>
            <a:off x="2880360" y="1965960"/>
            <a:ext cx="1097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Mobilité</a:t>
            </a:r>
            <a:endParaRPr lang="en-US" sz="1300" dirty="0"/>
          </a:p>
        </p:txBody>
      </p:sp>
      <p:sp>
        <p:nvSpPr>
          <p:cNvPr id="9" name="Text 7"/>
          <p:cNvSpPr txBox="1"/>
          <p:nvPr/>
        </p:nvSpPr>
        <p:spPr>
          <a:xfrm>
            <a:off x="1874520" y="3794760"/>
            <a:ext cx="1097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Pollution</a:t>
            </a:r>
            <a:endParaRPr lang="en-US" sz="1300" dirty="0"/>
          </a:p>
        </p:txBody>
      </p:sp>
      <p:sp>
        <p:nvSpPr>
          <p:cNvPr id="10" name="Text 8"/>
          <p:cNvSpPr txBox="1"/>
          <p:nvPr/>
        </p:nvSpPr>
        <p:spPr>
          <a:xfrm>
            <a:off x="457200" y="4434840"/>
            <a:ext cx="3840480" cy="228600"/>
          </a:xfrm>
          <a:prstGeom prst="rect">
            <a:avLst/>
          </a:prstGeom>
          <a:noFill/>
          <a:ln/>
        </p:spPr>
        <p:txBody>
          <a:bodyPr wrap="square" lIns="0" tIns="0" rIns="0" bIns="0" rtlCol="0" anchor="t"/>
          <a:lstStyle/>
          <a:p>
            <a:pPr indent="0" marL="0">
              <a:buNone/>
            </a:pPr>
            <a:r>
              <a:rPr lang="en-US" sz="1100" i="1" dirty="0">
                <a:solidFill>
                  <a:srgbClr val="5B6B74"/>
                </a:solidFill>
                <a:latin typeface="Arial" pitchFamily="34" charset="0"/>
                <a:ea typeface="Arial" pitchFamily="34" charset="-122"/>
                <a:cs typeface="Arial" pitchFamily="34" charset="-120"/>
              </a:rPr>
              <a:t>Clé de jointure : ville + heure</a:t>
            </a:r>
            <a:endParaRPr lang="en-US" sz="1100" dirty="0"/>
          </a:p>
        </p:txBody>
      </p:sp>
      <p:sp>
        <p:nvSpPr>
          <p:cNvPr id="11" name="Shape 9"/>
          <p:cNvSpPr/>
          <p:nvPr/>
        </p:nvSpPr>
        <p:spPr>
          <a:xfrm>
            <a:off x="4754880" y="1417320"/>
            <a:ext cx="329184" cy="329184"/>
          </a:xfrm>
          <a:prstGeom prst="ellipse">
            <a:avLst/>
          </a:prstGeom>
          <a:solidFill>
            <a:srgbClr val="1C9A8A"/>
          </a:solidFill>
          <a:ln w="12700">
            <a:solidFill>
              <a:srgbClr val="1C9A8A"/>
            </a:solidFill>
            <a:prstDash val="solid"/>
          </a:ln>
        </p:spPr>
      </p:sp>
      <p:sp>
        <p:nvSpPr>
          <p:cNvPr id="12" name="Text 10"/>
          <p:cNvSpPr txBox="1"/>
          <p:nvPr/>
        </p:nvSpPr>
        <p:spPr>
          <a:xfrm>
            <a:off x="4754880" y="141732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Q1</a:t>
            </a:r>
            <a:endParaRPr lang="en-US" sz="1000" dirty="0"/>
          </a:p>
        </p:txBody>
      </p:sp>
      <p:sp>
        <p:nvSpPr>
          <p:cNvPr id="13" name="Text 11"/>
          <p:cNvSpPr txBox="1"/>
          <p:nvPr/>
        </p:nvSpPr>
        <p:spPr>
          <a:xfrm>
            <a:off x="5212080" y="139903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La météo influence-t-elle la pollution ?</a:t>
            </a:r>
            <a:endParaRPr lang="en-US" sz="1300" dirty="0"/>
          </a:p>
        </p:txBody>
      </p:sp>
      <p:sp>
        <p:nvSpPr>
          <p:cNvPr id="14" name="Shape 12"/>
          <p:cNvSpPr/>
          <p:nvPr/>
        </p:nvSpPr>
        <p:spPr>
          <a:xfrm>
            <a:off x="4754880" y="2057400"/>
            <a:ext cx="329184" cy="329184"/>
          </a:xfrm>
          <a:prstGeom prst="ellipse">
            <a:avLst/>
          </a:prstGeom>
          <a:solidFill>
            <a:srgbClr val="1C9A8A"/>
          </a:solidFill>
          <a:ln w="12700">
            <a:solidFill>
              <a:srgbClr val="1C9A8A"/>
            </a:solidFill>
            <a:prstDash val="solid"/>
          </a:ln>
        </p:spPr>
      </p:sp>
      <p:sp>
        <p:nvSpPr>
          <p:cNvPr id="15" name="Text 13"/>
          <p:cNvSpPr txBox="1"/>
          <p:nvPr/>
        </p:nvSpPr>
        <p:spPr>
          <a:xfrm>
            <a:off x="4754880" y="205740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6" name="Text 14"/>
          <p:cNvSpPr txBox="1"/>
          <p:nvPr/>
        </p:nvSpPr>
        <p:spPr>
          <a:xfrm>
            <a:off x="5212080" y="203911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La météo influence-t-elle l'usage des vélos ?</a:t>
            </a:r>
            <a:endParaRPr lang="en-US" sz="1300" dirty="0"/>
          </a:p>
        </p:txBody>
      </p:sp>
      <p:sp>
        <p:nvSpPr>
          <p:cNvPr id="17" name="Shape 15"/>
          <p:cNvSpPr/>
          <p:nvPr/>
        </p:nvSpPr>
        <p:spPr>
          <a:xfrm>
            <a:off x="4754880" y="2697480"/>
            <a:ext cx="329184" cy="329184"/>
          </a:xfrm>
          <a:prstGeom prst="ellipse">
            <a:avLst/>
          </a:prstGeom>
          <a:solidFill>
            <a:srgbClr val="1C9A8A"/>
          </a:solidFill>
          <a:ln w="12700">
            <a:solidFill>
              <a:srgbClr val="1C9A8A"/>
            </a:solidFill>
            <a:prstDash val="solid"/>
          </a:ln>
        </p:spPr>
      </p:sp>
      <p:sp>
        <p:nvSpPr>
          <p:cNvPr id="18" name="Text 16"/>
          <p:cNvSpPr txBox="1"/>
          <p:nvPr/>
        </p:nvSpPr>
        <p:spPr>
          <a:xfrm>
            <a:off x="4754880" y="26974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9" name="Text 17"/>
          <p:cNvSpPr txBox="1"/>
          <p:nvPr/>
        </p:nvSpPr>
        <p:spPr>
          <a:xfrm>
            <a:off x="5212080" y="267919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Quelles conditions favorisent la mobilité douce ?</a:t>
            </a:r>
            <a:endParaRPr lang="en-US" sz="1300" dirty="0"/>
          </a:p>
        </p:txBody>
      </p:sp>
      <p:sp>
        <p:nvSpPr>
          <p:cNvPr id="20" name="Shape 18"/>
          <p:cNvSpPr/>
          <p:nvPr/>
        </p:nvSpPr>
        <p:spPr>
          <a:xfrm>
            <a:off x="4754880" y="3337560"/>
            <a:ext cx="329184" cy="329184"/>
          </a:xfrm>
          <a:prstGeom prst="ellipse">
            <a:avLst/>
          </a:prstGeom>
          <a:solidFill>
            <a:srgbClr val="1C9A8A"/>
          </a:solidFill>
          <a:ln w="12700">
            <a:solidFill>
              <a:srgbClr val="1C9A8A"/>
            </a:solidFill>
            <a:prstDash val="solid"/>
          </a:ln>
        </p:spPr>
      </p:sp>
      <p:sp>
        <p:nvSpPr>
          <p:cNvPr id="21" name="Text 19"/>
          <p:cNvSpPr txBox="1"/>
          <p:nvPr/>
        </p:nvSpPr>
        <p:spPr>
          <a:xfrm>
            <a:off x="4754880" y="333756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22" name="Text 20"/>
          <p:cNvSpPr txBox="1"/>
          <p:nvPr/>
        </p:nvSpPr>
        <p:spPr>
          <a:xfrm>
            <a:off x="5212080" y="3319272"/>
            <a:ext cx="3474720" cy="274320"/>
          </a:xfrm>
          <a:prstGeom prst="rect">
            <a:avLst/>
          </a:prstGeom>
          <a:noFill/>
          <a:ln/>
        </p:spPr>
        <p:txBody>
          <a:bodyPr wrap="square" lIns="0" tIns="0" rIns="0" bIns="0" rtlCol="0" anchor="t"/>
          <a:lstStyle/>
          <a:p>
            <a:pPr indent="0" marL="0">
              <a:buNone/>
            </a:pPr>
            <a:r>
              <a:rPr lang="en-US" sz="1300" b="1" dirty="0">
                <a:solidFill>
                  <a:srgbClr val="16222B"/>
                </a:solidFill>
                <a:latin typeface="Arial" pitchFamily="34" charset="0"/>
                <a:ea typeface="Arial" pitchFamily="34" charset="-122"/>
                <a:cs typeface="Arial" pitchFamily="34" charset="-120"/>
              </a:rPr>
              <a:t>Quand les trois interagissent-elles le plus ?</a:t>
            </a:r>
            <a:endParaRPr lang="en-US" sz="1300" dirty="0"/>
          </a:p>
        </p:txBody>
      </p:sp>
      <p:sp>
        <p:nvSpPr>
          <p:cNvPr id="23" name="Shape 21"/>
          <p:cNvSpPr/>
          <p:nvPr/>
        </p:nvSpPr>
        <p:spPr>
          <a:xfrm>
            <a:off x="4754880" y="4133088"/>
            <a:ext cx="146304" cy="146304"/>
          </a:xfrm>
          <a:prstGeom prst="ellipse">
            <a:avLst/>
          </a:prstGeom>
          <a:solidFill>
            <a:srgbClr val="B9C4CA"/>
          </a:solidFill>
          <a:ln w="12700">
            <a:solidFill>
              <a:srgbClr val="B9C4CA"/>
            </a:solidFill>
            <a:prstDash val="solid"/>
          </a:ln>
        </p:spPr>
      </p:sp>
      <p:sp>
        <p:nvSpPr>
          <p:cNvPr id="24" name="Text 22"/>
          <p:cNvSpPr txBox="1"/>
          <p:nvPr/>
        </p:nvSpPr>
        <p:spPr>
          <a:xfrm>
            <a:off x="5010912" y="4069080"/>
            <a:ext cx="367588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À faire : requêtes OLAP + dashboards BI</a:t>
            </a:r>
            <a:endParaRPr lang="en-US" sz="1300" dirty="0"/>
          </a:p>
        </p:txBody>
      </p:sp>
      <p:sp>
        <p:nvSpPr>
          <p:cNvPr id="25" name="Text 23"/>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6" name="Text 24"/>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AVANCEMENT</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Où en est-on ?</a:t>
            </a:r>
            <a:endParaRPr lang="en-US" sz="2600" dirty="0"/>
          </a:p>
        </p:txBody>
      </p:sp>
      <p:sp>
        <p:nvSpPr>
          <p:cNvPr id="4" name="Text 2"/>
          <p:cNvSpPr txBox="1"/>
          <p:nvPr/>
        </p:nvSpPr>
        <p:spPr>
          <a:xfrm>
            <a:off x="457200" y="1371600"/>
            <a:ext cx="2194560" cy="27432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Infrastructure</a:t>
            </a:r>
            <a:endParaRPr lang="en-US" sz="1400" dirty="0"/>
          </a:p>
        </p:txBody>
      </p:sp>
      <p:sp>
        <p:nvSpPr>
          <p:cNvPr id="5" name="Text 3"/>
          <p:cNvSpPr txBox="1"/>
          <p:nvPr/>
        </p:nvSpPr>
        <p:spPr>
          <a:xfrm>
            <a:off x="457200" y="1627632"/>
            <a:ext cx="292608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Docker, MinIO, PostgreSQL, Metabase</a:t>
            </a:r>
            <a:endParaRPr lang="en-US" sz="1100" dirty="0"/>
          </a:p>
        </p:txBody>
      </p:sp>
      <p:sp>
        <p:nvSpPr>
          <p:cNvPr id="6" name="Shape 4"/>
          <p:cNvSpPr/>
          <p:nvPr/>
        </p:nvSpPr>
        <p:spPr>
          <a:xfrm>
            <a:off x="3566160" y="1481328"/>
            <a:ext cx="4297680" cy="219456"/>
          </a:xfrm>
          <a:prstGeom prst="roundRect">
            <a:avLst>
              <a:gd name="adj" fmla="val 50000"/>
            </a:avLst>
          </a:prstGeom>
          <a:solidFill>
            <a:srgbClr val="EEF2F4"/>
          </a:solidFill>
          <a:ln w="12700">
            <a:solidFill>
              <a:srgbClr val="EEF2F4"/>
            </a:solidFill>
            <a:prstDash val="solid"/>
          </a:ln>
        </p:spPr>
      </p:sp>
      <p:sp>
        <p:nvSpPr>
          <p:cNvPr id="7" name="Shape 5"/>
          <p:cNvSpPr/>
          <p:nvPr/>
        </p:nvSpPr>
        <p:spPr>
          <a:xfrm>
            <a:off x="3566160" y="1481328"/>
            <a:ext cx="3438144" cy="219456"/>
          </a:xfrm>
          <a:prstGeom prst="roundRect">
            <a:avLst>
              <a:gd name="adj" fmla="val 50000"/>
            </a:avLst>
          </a:prstGeom>
          <a:solidFill>
            <a:srgbClr val="5B6B74"/>
          </a:solidFill>
          <a:ln w="12700">
            <a:solidFill>
              <a:srgbClr val="5B6B74"/>
            </a:solidFill>
            <a:prstDash val="solid"/>
          </a:ln>
        </p:spPr>
      </p:sp>
      <p:sp>
        <p:nvSpPr>
          <p:cNvPr id="8" name="Text 6"/>
          <p:cNvSpPr txBox="1"/>
          <p:nvPr/>
        </p:nvSpPr>
        <p:spPr>
          <a:xfrm>
            <a:off x="8001000" y="1426464"/>
            <a:ext cx="685800" cy="320040"/>
          </a:xfrm>
          <a:prstGeom prst="rect">
            <a:avLst/>
          </a:prstGeom>
          <a:noFill/>
          <a:ln/>
        </p:spPr>
        <p:txBody>
          <a:bodyPr wrap="square" lIns="0" tIns="0" rIns="0" bIns="0" rtlCol="0" anchor="t"/>
          <a:lstStyle/>
          <a:p>
            <a:pPr algn="r" indent="0" marL="0">
              <a:buNone/>
            </a:pPr>
            <a:r>
              <a:rPr lang="en-US" sz="1300" b="1" dirty="0">
                <a:solidFill>
                  <a:srgbClr val="16222B"/>
                </a:solidFill>
                <a:latin typeface="Arial" pitchFamily="34" charset="0"/>
                <a:ea typeface="Arial" pitchFamily="34" charset="-122"/>
                <a:cs typeface="Arial" pitchFamily="34" charset="-120"/>
              </a:rPr>
              <a:t>80 %</a:t>
            </a:r>
            <a:endParaRPr lang="en-US" sz="1300" dirty="0"/>
          </a:p>
        </p:txBody>
      </p:sp>
      <p:sp>
        <p:nvSpPr>
          <p:cNvPr id="9" name="Text 7"/>
          <p:cNvSpPr txBox="1"/>
          <p:nvPr/>
        </p:nvSpPr>
        <p:spPr>
          <a:xfrm>
            <a:off x="457200" y="1975104"/>
            <a:ext cx="2194560" cy="27432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Partie 1 · Batch</a:t>
            </a:r>
            <a:endParaRPr lang="en-US" sz="1400" dirty="0"/>
          </a:p>
        </p:txBody>
      </p:sp>
      <p:sp>
        <p:nvSpPr>
          <p:cNvPr id="10" name="Text 8"/>
          <p:cNvSpPr txBox="1"/>
          <p:nvPr/>
        </p:nvSpPr>
        <p:spPr>
          <a:xfrm>
            <a:off x="457200" y="2231136"/>
            <a:ext cx="292608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Collecte faite, nettoyage à faire</a:t>
            </a:r>
            <a:endParaRPr lang="en-US" sz="1100" dirty="0"/>
          </a:p>
        </p:txBody>
      </p:sp>
      <p:sp>
        <p:nvSpPr>
          <p:cNvPr id="11" name="Shape 9"/>
          <p:cNvSpPr/>
          <p:nvPr/>
        </p:nvSpPr>
        <p:spPr>
          <a:xfrm>
            <a:off x="3566160" y="2084832"/>
            <a:ext cx="4297680" cy="219456"/>
          </a:xfrm>
          <a:prstGeom prst="roundRect">
            <a:avLst>
              <a:gd name="adj" fmla="val 50000"/>
            </a:avLst>
          </a:prstGeom>
          <a:solidFill>
            <a:srgbClr val="EEF2F4"/>
          </a:solidFill>
          <a:ln w="12700">
            <a:solidFill>
              <a:srgbClr val="EEF2F4"/>
            </a:solidFill>
            <a:prstDash val="solid"/>
          </a:ln>
        </p:spPr>
      </p:sp>
      <p:sp>
        <p:nvSpPr>
          <p:cNvPr id="12" name="Shape 10"/>
          <p:cNvSpPr/>
          <p:nvPr/>
        </p:nvSpPr>
        <p:spPr>
          <a:xfrm>
            <a:off x="3566160" y="2084832"/>
            <a:ext cx="1719072" cy="219456"/>
          </a:xfrm>
          <a:prstGeom prst="roundRect">
            <a:avLst>
              <a:gd name="adj" fmla="val 50000"/>
            </a:avLst>
          </a:prstGeom>
          <a:solidFill>
            <a:srgbClr val="3A7BD5"/>
          </a:solidFill>
          <a:ln w="12700">
            <a:solidFill>
              <a:srgbClr val="3A7BD5"/>
            </a:solidFill>
            <a:prstDash val="solid"/>
          </a:ln>
        </p:spPr>
      </p:sp>
      <p:sp>
        <p:nvSpPr>
          <p:cNvPr id="13" name="Text 11"/>
          <p:cNvSpPr txBox="1"/>
          <p:nvPr/>
        </p:nvSpPr>
        <p:spPr>
          <a:xfrm>
            <a:off x="8001000" y="2029968"/>
            <a:ext cx="685800" cy="320040"/>
          </a:xfrm>
          <a:prstGeom prst="rect">
            <a:avLst/>
          </a:prstGeom>
          <a:noFill/>
          <a:ln/>
        </p:spPr>
        <p:txBody>
          <a:bodyPr wrap="square" lIns="0" tIns="0" rIns="0" bIns="0" rtlCol="0" anchor="t"/>
          <a:lstStyle/>
          <a:p>
            <a:pPr algn="r" indent="0" marL="0">
              <a:buNone/>
            </a:pPr>
            <a:r>
              <a:rPr lang="en-US" sz="1300" b="1" dirty="0">
                <a:solidFill>
                  <a:srgbClr val="16222B"/>
                </a:solidFill>
                <a:latin typeface="Arial" pitchFamily="34" charset="0"/>
                <a:ea typeface="Arial" pitchFamily="34" charset="-122"/>
                <a:cs typeface="Arial" pitchFamily="34" charset="-120"/>
              </a:rPr>
              <a:t>40 %</a:t>
            </a:r>
            <a:endParaRPr lang="en-US" sz="1300" dirty="0"/>
          </a:p>
        </p:txBody>
      </p:sp>
      <p:sp>
        <p:nvSpPr>
          <p:cNvPr id="14" name="Text 12"/>
          <p:cNvSpPr txBox="1"/>
          <p:nvPr/>
        </p:nvSpPr>
        <p:spPr>
          <a:xfrm>
            <a:off x="457200" y="2578608"/>
            <a:ext cx="2194560" cy="27432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Partie 2 · Streaming</a:t>
            </a:r>
            <a:endParaRPr lang="en-US" sz="1400" dirty="0"/>
          </a:p>
        </p:txBody>
      </p:sp>
      <p:sp>
        <p:nvSpPr>
          <p:cNvPr id="15" name="Text 13"/>
          <p:cNvSpPr txBox="1"/>
          <p:nvPr/>
        </p:nvSpPr>
        <p:spPr>
          <a:xfrm>
            <a:off x="457200" y="2834640"/>
            <a:ext cx="292608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Collecte en continu opérationnelle</a:t>
            </a:r>
            <a:endParaRPr lang="en-US" sz="1100" dirty="0"/>
          </a:p>
        </p:txBody>
      </p:sp>
      <p:sp>
        <p:nvSpPr>
          <p:cNvPr id="16" name="Shape 14"/>
          <p:cNvSpPr/>
          <p:nvPr/>
        </p:nvSpPr>
        <p:spPr>
          <a:xfrm>
            <a:off x="3566160" y="2688336"/>
            <a:ext cx="4297680" cy="219456"/>
          </a:xfrm>
          <a:prstGeom prst="roundRect">
            <a:avLst>
              <a:gd name="adj" fmla="val 50000"/>
            </a:avLst>
          </a:prstGeom>
          <a:solidFill>
            <a:srgbClr val="EEF2F4"/>
          </a:solidFill>
          <a:ln w="12700">
            <a:solidFill>
              <a:srgbClr val="EEF2F4"/>
            </a:solidFill>
            <a:prstDash val="solid"/>
          </a:ln>
        </p:spPr>
      </p:sp>
      <p:sp>
        <p:nvSpPr>
          <p:cNvPr id="17" name="Shape 15"/>
          <p:cNvSpPr/>
          <p:nvPr/>
        </p:nvSpPr>
        <p:spPr>
          <a:xfrm>
            <a:off x="3566160" y="2688336"/>
            <a:ext cx="2578608" cy="219456"/>
          </a:xfrm>
          <a:prstGeom prst="roundRect">
            <a:avLst>
              <a:gd name="adj" fmla="val 50000"/>
            </a:avLst>
          </a:prstGeom>
          <a:solidFill>
            <a:srgbClr val="E0A10F"/>
          </a:solidFill>
          <a:ln w="12700">
            <a:solidFill>
              <a:srgbClr val="E0A10F"/>
            </a:solidFill>
            <a:prstDash val="solid"/>
          </a:ln>
        </p:spPr>
      </p:sp>
      <p:sp>
        <p:nvSpPr>
          <p:cNvPr id="18" name="Text 16"/>
          <p:cNvSpPr txBox="1"/>
          <p:nvPr/>
        </p:nvSpPr>
        <p:spPr>
          <a:xfrm>
            <a:off x="8001000" y="2633472"/>
            <a:ext cx="685800" cy="320040"/>
          </a:xfrm>
          <a:prstGeom prst="rect">
            <a:avLst/>
          </a:prstGeom>
          <a:noFill/>
          <a:ln/>
        </p:spPr>
        <p:txBody>
          <a:bodyPr wrap="square" lIns="0" tIns="0" rIns="0" bIns="0" rtlCol="0" anchor="t"/>
          <a:lstStyle/>
          <a:p>
            <a:pPr algn="r" indent="0" marL="0">
              <a:buNone/>
            </a:pPr>
            <a:r>
              <a:rPr lang="en-US" sz="1300" b="1" dirty="0">
                <a:solidFill>
                  <a:srgbClr val="16222B"/>
                </a:solidFill>
                <a:latin typeface="Arial" pitchFamily="34" charset="0"/>
                <a:ea typeface="Arial" pitchFamily="34" charset="-122"/>
                <a:cs typeface="Arial" pitchFamily="34" charset="-120"/>
              </a:rPr>
              <a:t>60 %</a:t>
            </a:r>
            <a:endParaRPr lang="en-US" sz="1300" dirty="0"/>
          </a:p>
        </p:txBody>
      </p:sp>
      <p:sp>
        <p:nvSpPr>
          <p:cNvPr id="19" name="Text 17"/>
          <p:cNvSpPr txBox="1"/>
          <p:nvPr/>
        </p:nvSpPr>
        <p:spPr>
          <a:xfrm>
            <a:off x="457200" y="3182112"/>
            <a:ext cx="2194560" cy="27432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Partie 3 · IoT</a:t>
            </a:r>
            <a:endParaRPr lang="en-US" sz="1400" dirty="0"/>
          </a:p>
        </p:txBody>
      </p:sp>
      <p:sp>
        <p:nvSpPr>
          <p:cNvPr id="20" name="Text 18"/>
          <p:cNvSpPr txBox="1"/>
          <p:nvPr/>
        </p:nvSpPr>
        <p:spPr>
          <a:xfrm>
            <a:off x="457200" y="3438144"/>
            <a:ext cx="292608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Pas encore commencée</a:t>
            </a:r>
            <a:endParaRPr lang="en-US" sz="1100" dirty="0"/>
          </a:p>
        </p:txBody>
      </p:sp>
      <p:sp>
        <p:nvSpPr>
          <p:cNvPr id="21" name="Shape 19"/>
          <p:cNvSpPr/>
          <p:nvPr/>
        </p:nvSpPr>
        <p:spPr>
          <a:xfrm>
            <a:off x="3566160" y="3291840"/>
            <a:ext cx="4297680" cy="219456"/>
          </a:xfrm>
          <a:prstGeom prst="roundRect">
            <a:avLst>
              <a:gd name="adj" fmla="val 50000"/>
            </a:avLst>
          </a:prstGeom>
          <a:solidFill>
            <a:srgbClr val="EEF2F4"/>
          </a:solidFill>
          <a:ln w="12700">
            <a:solidFill>
              <a:srgbClr val="EEF2F4"/>
            </a:solidFill>
            <a:prstDash val="solid"/>
          </a:ln>
        </p:spPr>
      </p:sp>
      <p:sp>
        <p:nvSpPr>
          <p:cNvPr id="22" name="Text 20"/>
          <p:cNvSpPr txBox="1"/>
          <p:nvPr/>
        </p:nvSpPr>
        <p:spPr>
          <a:xfrm>
            <a:off x="8001000" y="3236976"/>
            <a:ext cx="685800" cy="320040"/>
          </a:xfrm>
          <a:prstGeom prst="rect">
            <a:avLst/>
          </a:prstGeom>
          <a:noFill/>
          <a:ln/>
        </p:spPr>
        <p:txBody>
          <a:bodyPr wrap="square" lIns="0" tIns="0" rIns="0" bIns="0" rtlCol="0" anchor="t"/>
          <a:lstStyle/>
          <a:p>
            <a:pPr algn="r" indent="0" marL="0">
              <a:buNone/>
            </a:pPr>
            <a:r>
              <a:rPr lang="en-US" sz="1300" b="1" dirty="0">
                <a:solidFill>
                  <a:srgbClr val="16222B"/>
                </a:solidFill>
                <a:latin typeface="Arial" pitchFamily="34" charset="0"/>
                <a:ea typeface="Arial" pitchFamily="34" charset="-122"/>
                <a:cs typeface="Arial" pitchFamily="34" charset="-120"/>
              </a:rPr>
              <a:t>0 %</a:t>
            </a:r>
            <a:endParaRPr lang="en-US" sz="1300" dirty="0"/>
          </a:p>
        </p:txBody>
      </p:sp>
      <p:sp>
        <p:nvSpPr>
          <p:cNvPr id="23" name="Text 21"/>
          <p:cNvSpPr txBox="1"/>
          <p:nvPr/>
        </p:nvSpPr>
        <p:spPr>
          <a:xfrm>
            <a:off x="457200" y="3785616"/>
            <a:ext cx="2194560" cy="274320"/>
          </a:xfrm>
          <a:prstGeom prst="rect">
            <a:avLst/>
          </a:prstGeom>
          <a:noFill/>
          <a:ln/>
        </p:spPr>
        <p:txBody>
          <a:bodyPr wrap="square" lIns="0" tIns="0" rIns="0" bIns="0" rtlCol="0" anchor="t"/>
          <a:lstStyle/>
          <a:p>
            <a:pPr indent="0" marL="0">
              <a:buNone/>
            </a:pPr>
            <a:r>
              <a:rPr lang="en-US" sz="1400" b="1" dirty="0">
                <a:solidFill>
                  <a:srgbClr val="16222B"/>
                </a:solidFill>
                <a:latin typeface="Arial" pitchFamily="34" charset="0"/>
                <a:ea typeface="Arial" pitchFamily="34" charset="-122"/>
                <a:cs typeface="Arial" pitchFamily="34" charset="-120"/>
              </a:rPr>
              <a:t>Partie 4 · Croisée</a:t>
            </a:r>
            <a:endParaRPr lang="en-US" sz="1400" dirty="0"/>
          </a:p>
        </p:txBody>
      </p:sp>
      <p:sp>
        <p:nvSpPr>
          <p:cNvPr id="24" name="Text 22"/>
          <p:cNvSpPr txBox="1"/>
          <p:nvPr/>
        </p:nvSpPr>
        <p:spPr>
          <a:xfrm>
            <a:off x="457200" y="4041648"/>
            <a:ext cx="2926080" cy="228600"/>
          </a:xfrm>
          <a:prstGeom prst="rect">
            <a:avLst/>
          </a:prstGeom>
          <a:noFill/>
          <a:ln/>
        </p:spPr>
        <p:txBody>
          <a:bodyPr wrap="square" lIns="0" tIns="0" rIns="0" bIns="0" rtlCol="0" anchor="t"/>
          <a:lstStyle/>
          <a:p>
            <a:pPr indent="0" marL="0">
              <a:buNone/>
            </a:pPr>
            <a:r>
              <a:rPr lang="en-US" sz="1100" dirty="0">
                <a:solidFill>
                  <a:srgbClr val="5B6B74"/>
                </a:solidFill>
                <a:latin typeface="Arial" pitchFamily="34" charset="0"/>
                <a:ea typeface="Arial" pitchFamily="34" charset="-122"/>
                <a:cs typeface="Arial" pitchFamily="34" charset="-120"/>
              </a:rPr>
              <a:t>Dépend des parties 1 à 3</a:t>
            </a:r>
            <a:endParaRPr lang="en-US" sz="1100" dirty="0"/>
          </a:p>
        </p:txBody>
      </p:sp>
      <p:sp>
        <p:nvSpPr>
          <p:cNvPr id="25" name="Shape 23"/>
          <p:cNvSpPr/>
          <p:nvPr/>
        </p:nvSpPr>
        <p:spPr>
          <a:xfrm>
            <a:off x="3566160" y="3895344"/>
            <a:ext cx="4297680" cy="219456"/>
          </a:xfrm>
          <a:prstGeom prst="roundRect">
            <a:avLst>
              <a:gd name="adj" fmla="val 50000"/>
            </a:avLst>
          </a:prstGeom>
          <a:solidFill>
            <a:srgbClr val="EEF2F4"/>
          </a:solidFill>
          <a:ln w="12700">
            <a:solidFill>
              <a:srgbClr val="EEF2F4"/>
            </a:solidFill>
            <a:prstDash val="solid"/>
          </a:ln>
        </p:spPr>
      </p:sp>
      <p:sp>
        <p:nvSpPr>
          <p:cNvPr id="26" name="Text 24"/>
          <p:cNvSpPr txBox="1"/>
          <p:nvPr/>
        </p:nvSpPr>
        <p:spPr>
          <a:xfrm>
            <a:off x="8001000" y="3840480"/>
            <a:ext cx="685800" cy="320040"/>
          </a:xfrm>
          <a:prstGeom prst="rect">
            <a:avLst/>
          </a:prstGeom>
          <a:noFill/>
          <a:ln/>
        </p:spPr>
        <p:txBody>
          <a:bodyPr wrap="square" lIns="0" tIns="0" rIns="0" bIns="0" rtlCol="0" anchor="t"/>
          <a:lstStyle/>
          <a:p>
            <a:pPr algn="r" indent="0" marL="0">
              <a:buNone/>
            </a:pPr>
            <a:r>
              <a:rPr lang="en-US" sz="1300" b="1" dirty="0">
                <a:solidFill>
                  <a:srgbClr val="16222B"/>
                </a:solidFill>
                <a:latin typeface="Arial" pitchFamily="34" charset="0"/>
                <a:ea typeface="Arial" pitchFamily="34" charset="-122"/>
                <a:cs typeface="Arial" pitchFamily="34" charset="-120"/>
              </a:rPr>
              <a:t>0 %</a:t>
            </a:r>
            <a:endParaRPr lang="en-US" sz="1300" dirty="0"/>
          </a:p>
        </p:txBody>
      </p:sp>
      <p:sp>
        <p:nvSpPr>
          <p:cNvPr id="27" name="Text 25"/>
          <p:cNvSpPr txBox="1"/>
          <p:nvPr/>
        </p:nvSpPr>
        <p:spPr>
          <a:xfrm>
            <a:off x="457200" y="4480560"/>
            <a:ext cx="8229600" cy="201168"/>
          </a:xfrm>
          <a:prstGeom prst="rect">
            <a:avLst/>
          </a:prstGeom>
          <a:noFill/>
          <a:ln/>
        </p:spPr>
        <p:txBody>
          <a:bodyPr wrap="square" lIns="0" tIns="0" rIns="0" bIns="0" rtlCol="0" anchor="t"/>
          <a:lstStyle/>
          <a:p>
            <a:pPr indent="0" marL="0">
              <a:buNone/>
            </a:pPr>
            <a:r>
              <a:rPr lang="en-US" sz="1000" i="1" dirty="0">
                <a:solidFill>
                  <a:srgbClr val="5B6B74"/>
                </a:solidFill>
                <a:latin typeface="Arial" pitchFamily="34" charset="0"/>
                <a:ea typeface="Arial" pitchFamily="34" charset="-122"/>
                <a:cs typeface="Arial" pitchFamily="34" charset="-120"/>
              </a:rPr>
              <a:t>Pourcentages indicatifs, à mettre à jour</a:t>
            </a:r>
            <a:endParaRPr lang="en-US" sz="1000" dirty="0"/>
          </a:p>
        </p:txBody>
      </p:sp>
      <p:sp>
        <p:nvSpPr>
          <p:cNvPr id="28" name="Text 26"/>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9" name="Text 27"/>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RETOUR D'EXPÉRIENCE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Difficultés rencontrées et solutions</a:t>
            </a:r>
            <a:endParaRPr lang="en-US" sz="2600" dirty="0"/>
          </a:p>
        </p:txBody>
      </p:sp>
      <p:sp>
        <p:nvSpPr>
          <p:cNvPr id="4" name="Shape 2"/>
          <p:cNvSpPr/>
          <p:nvPr/>
        </p:nvSpPr>
        <p:spPr>
          <a:xfrm>
            <a:off x="457200" y="1371600"/>
            <a:ext cx="3840480" cy="640080"/>
          </a:xfrm>
          <a:prstGeom prst="roundRect">
            <a:avLst>
              <a:gd name="adj" fmla="val 11429"/>
            </a:avLst>
          </a:prstGeom>
          <a:solidFill>
            <a:srgbClr val="EEF2F4"/>
          </a:solidFill>
          <a:ln w="12700">
            <a:solidFill>
              <a:srgbClr val="EEF2F4"/>
            </a:solidFill>
            <a:prstDash val="solid"/>
          </a:ln>
        </p:spPr>
      </p:sp>
      <p:sp>
        <p:nvSpPr>
          <p:cNvPr id="5" name="Text 3"/>
          <p:cNvSpPr txBox="1"/>
          <p:nvPr/>
        </p:nvSpPr>
        <p:spPr>
          <a:xfrm>
            <a:off x="640080" y="1371600"/>
            <a:ext cx="3566160" cy="64008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Des milliers de fichiers NOAA à récupérer</a:t>
            </a:r>
            <a:endParaRPr lang="en-US" sz="1300" dirty="0"/>
          </a:p>
        </p:txBody>
      </p:sp>
      <p:sp>
        <p:nvSpPr>
          <p:cNvPr id="6" name="Text 4"/>
          <p:cNvSpPr txBox="1"/>
          <p:nvPr/>
        </p:nvSpPr>
        <p:spPr>
          <a:xfrm>
            <a:off x="4343400" y="1371600"/>
            <a:ext cx="457200" cy="640080"/>
          </a:xfrm>
          <a:prstGeom prst="rect">
            <a:avLst/>
          </a:prstGeom>
          <a:noFill/>
          <a:ln/>
        </p:spPr>
        <p:txBody>
          <a:bodyPr wrap="square" lIns="0" tIns="0" rIns="0" bIns="0" rtlCol="0" anchor="ctr"/>
          <a:lstStyle/>
          <a:p>
            <a:pPr algn="ctr" indent="0" marL="0">
              <a:buNone/>
            </a:pPr>
            <a:r>
              <a:rPr lang="en-US" sz="2000" b="1" dirty="0">
                <a:solidFill>
                  <a:srgbClr val="3A7BD5"/>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4846320" y="1371600"/>
            <a:ext cx="3840480" cy="640080"/>
          </a:xfrm>
          <a:prstGeom prst="roundRect">
            <a:avLst>
              <a:gd name="adj" fmla="val 11429"/>
            </a:avLst>
          </a:prstGeom>
          <a:solidFill>
            <a:srgbClr val="16222B"/>
          </a:solidFill>
          <a:ln w="12700">
            <a:solidFill>
              <a:srgbClr val="16222B"/>
            </a:solidFill>
            <a:prstDash val="solid"/>
          </a:ln>
        </p:spPr>
      </p:sp>
      <p:sp>
        <p:nvSpPr>
          <p:cNvPr id="8" name="Text 6"/>
          <p:cNvSpPr txBox="1"/>
          <p:nvPr/>
        </p:nvSpPr>
        <p:spPr>
          <a:xfrm>
            <a:off x="5029200" y="1371600"/>
            <a:ext cx="356616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Téléchargement en parallèle, une tâche par année</a:t>
            </a:r>
            <a:endParaRPr lang="en-US" sz="1300" dirty="0"/>
          </a:p>
        </p:txBody>
      </p:sp>
      <p:sp>
        <p:nvSpPr>
          <p:cNvPr id="9" name="Shape 7"/>
          <p:cNvSpPr/>
          <p:nvPr/>
        </p:nvSpPr>
        <p:spPr>
          <a:xfrm>
            <a:off x="457200" y="2148840"/>
            <a:ext cx="3840480" cy="640080"/>
          </a:xfrm>
          <a:prstGeom prst="roundRect">
            <a:avLst>
              <a:gd name="adj" fmla="val 11429"/>
            </a:avLst>
          </a:prstGeom>
          <a:solidFill>
            <a:srgbClr val="EEF2F4"/>
          </a:solidFill>
          <a:ln w="12700">
            <a:solidFill>
              <a:srgbClr val="EEF2F4"/>
            </a:solidFill>
            <a:prstDash val="solid"/>
          </a:ln>
        </p:spPr>
      </p:sp>
      <p:sp>
        <p:nvSpPr>
          <p:cNvPr id="10" name="Text 8"/>
          <p:cNvSpPr txBox="1"/>
          <p:nvPr/>
        </p:nvSpPr>
        <p:spPr>
          <a:xfrm>
            <a:off x="640080" y="2148840"/>
            <a:ext cx="3566160" cy="64008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L'API vélos ne donne que l'état actuel</a:t>
            </a:r>
            <a:endParaRPr lang="en-US" sz="1300" dirty="0"/>
          </a:p>
        </p:txBody>
      </p:sp>
      <p:sp>
        <p:nvSpPr>
          <p:cNvPr id="11" name="Text 9"/>
          <p:cNvSpPr txBox="1"/>
          <p:nvPr/>
        </p:nvSpPr>
        <p:spPr>
          <a:xfrm>
            <a:off x="4343400" y="2148840"/>
            <a:ext cx="457200" cy="640080"/>
          </a:xfrm>
          <a:prstGeom prst="rect">
            <a:avLst/>
          </a:prstGeom>
          <a:noFill/>
          <a:ln/>
        </p:spPr>
        <p:txBody>
          <a:bodyPr wrap="square" lIns="0" tIns="0" rIns="0" bIns="0" rtlCol="0" anchor="ctr"/>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4846320" y="2148840"/>
            <a:ext cx="3840480" cy="640080"/>
          </a:xfrm>
          <a:prstGeom prst="roundRect">
            <a:avLst>
              <a:gd name="adj" fmla="val 11429"/>
            </a:avLst>
          </a:prstGeom>
          <a:solidFill>
            <a:srgbClr val="16222B"/>
          </a:solidFill>
          <a:ln w="12700">
            <a:solidFill>
              <a:srgbClr val="16222B"/>
            </a:solidFill>
            <a:prstDash val="solid"/>
          </a:ln>
        </p:spPr>
      </p:sp>
      <p:sp>
        <p:nvSpPr>
          <p:cNvPr id="13" name="Text 11"/>
          <p:cNvSpPr txBox="1"/>
          <p:nvPr/>
        </p:nvSpPr>
        <p:spPr>
          <a:xfrm>
            <a:off x="5029200" y="2148840"/>
            <a:ext cx="356616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On construit l'historique : un relevé toutes les 150 s</a:t>
            </a:r>
            <a:endParaRPr lang="en-US" sz="1300" dirty="0"/>
          </a:p>
        </p:txBody>
      </p:sp>
      <p:sp>
        <p:nvSpPr>
          <p:cNvPr id="14" name="Shape 12"/>
          <p:cNvSpPr/>
          <p:nvPr/>
        </p:nvSpPr>
        <p:spPr>
          <a:xfrm>
            <a:off x="457200" y="2926080"/>
            <a:ext cx="3840480" cy="640080"/>
          </a:xfrm>
          <a:prstGeom prst="roundRect">
            <a:avLst>
              <a:gd name="adj" fmla="val 11429"/>
            </a:avLst>
          </a:prstGeom>
          <a:solidFill>
            <a:srgbClr val="EEF2F4"/>
          </a:solidFill>
          <a:ln w="12700">
            <a:solidFill>
              <a:srgbClr val="EEF2F4"/>
            </a:solidFill>
            <a:prstDash val="solid"/>
          </a:ln>
        </p:spPr>
      </p:sp>
      <p:sp>
        <p:nvSpPr>
          <p:cNvPr id="15" name="Text 13"/>
          <p:cNvSpPr txBox="1"/>
          <p:nvPr/>
        </p:nvSpPr>
        <p:spPr>
          <a:xfrm>
            <a:off x="640080" y="2926080"/>
            <a:ext cx="3566160" cy="64008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Le conteneur MinIO n'a ni curl ni Python</a:t>
            </a:r>
            <a:endParaRPr lang="en-US" sz="1300" dirty="0"/>
          </a:p>
        </p:txBody>
      </p:sp>
      <p:sp>
        <p:nvSpPr>
          <p:cNvPr id="16" name="Text 14"/>
          <p:cNvSpPr txBox="1"/>
          <p:nvPr/>
        </p:nvSpPr>
        <p:spPr>
          <a:xfrm>
            <a:off x="4343400" y="2926080"/>
            <a:ext cx="457200" cy="640080"/>
          </a:xfrm>
          <a:prstGeom prst="rect">
            <a:avLst/>
          </a:prstGeom>
          <a:noFill/>
          <a:ln/>
        </p:spPr>
        <p:txBody>
          <a:bodyPr wrap="square" lIns="0" tIns="0" rIns="0" bIns="0" rtlCol="0" anchor="ctr"/>
          <a:lstStyle/>
          <a:p>
            <a:pPr algn="ctr" indent="0" marL="0">
              <a:buNone/>
            </a:pPr>
            <a:r>
              <a:rPr lang="en-US" sz="2000" b="1" dirty="0">
                <a:solidFill>
                  <a:srgbClr val="5B6B74"/>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846320" y="2926080"/>
            <a:ext cx="3840480" cy="640080"/>
          </a:xfrm>
          <a:prstGeom prst="roundRect">
            <a:avLst>
              <a:gd name="adj" fmla="val 11429"/>
            </a:avLst>
          </a:prstGeom>
          <a:solidFill>
            <a:srgbClr val="16222B"/>
          </a:solidFill>
          <a:ln w="12700">
            <a:solidFill>
              <a:srgbClr val="16222B"/>
            </a:solidFill>
            <a:prstDash val="solid"/>
          </a:ln>
        </p:spPr>
      </p:sp>
      <p:sp>
        <p:nvSpPr>
          <p:cNvPr id="18" name="Text 16"/>
          <p:cNvSpPr txBox="1"/>
          <p:nvPr/>
        </p:nvSpPr>
        <p:spPr>
          <a:xfrm>
            <a:off x="5029200" y="2926080"/>
            <a:ext cx="356616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Le collecteur tourne sur la machine hôte</a:t>
            </a:r>
            <a:endParaRPr lang="en-US" sz="1300" dirty="0"/>
          </a:p>
        </p:txBody>
      </p:sp>
      <p:sp>
        <p:nvSpPr>
          <p:cNvPr id="19" name="Shape 17"/>
          <p:cNvSpPr/>
          <p:nvPr/>
        </p:nvSpPr>
        <p:spPr>
          <a:xfrm>
            <a:off x="457200" y="3703320"/>
            <a:ext cx="3840480" cy="640080"/>
          </a:xfrm>
          <a:prstGeom prst="roundRect">
            <a:avLst>
              <a:gd name="adj" fmla="val 11429"/>
            </a:avLst>
          </a:prstGeom>
          <a:solidFill>
            <a:srgbClr val="EEF2F4"/>
          </a:solidFill>
          <a:ln w="12700">
            <a:solidFill>
              <a:srgbClr val="EEF2F4"/>
            </a:solidFill>
            <a:prstDash val="solid"/>
          </a:ln>
        </p:spPr>
      </p:sp>
      <p:sp>
        <p:nvSpPr>
          <p:cNvPr id="20" name="Text 18"/>
          <p:cNvSpPr txBox="1"/>
          <p:nvPr/>
        </p:nvSpPr>
        <p:spPr>
          <a:xfrm>
            <a:off x="640080" y="3703320"/>
            <a:ext cx="3566160" cy="64008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Envoi vers MinIO trop complexe (signature S3)</a:t>
            </a:r>
            <a:endParaRPr lang="en-US" sz="1300" dirty="0"/>
          </a:p>
        </p:txBody>
      </p:sp>
      <p:sp>
        <p:nvSpPr>
          <p:cNvPr id="21" name="Text 19"/>
          <p:cNvSpPr txBox="1"/>
          <p:nvPr/>
        </p:nvSpPr>
        <p:spPr>
          <a:xfrm>
            <a:off x="4343400" y="3703320"/>
            <a:ext cx="457200" cy="640080"/>
          </a:xfrm>
          <a:prstGeom prst="rect">
            <a:avLst/>
          </a:prstGeom>
          <a:noFill/>
          <a:ln/>
        </p:spPr>
        <p:txBody>
          <a:bodyPr wrap="square" lIns="0" tIns="0" rIns="0" bIns="0" rtlCol="0" anchor="ctr"/>
          <a:lstStyle/>
          <a:p>
            <a:pPr algn="ctr" indent="0" marL="0">
              <a:buNone/>
            </a:pPr>
            <a:r>
              <a:rPr lang="en-US" sz="2000" b="1" dirty="0">
                <a:solidFill>
                  <a:srgbClr val="E0A10F"/>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4846320" y="3703320"/>
            <a:ext cx="3840480" cy="640080"/>
          </a:xfrm>
          <a:prstGeom prst="roundRect">
            <a:avLst>
              <a:gd name="adj" fmla="val 11429"/>
            </a:avLst>
          </a:prstGeom>
          <a:solidFill>
            <a:srgbClr val="16222B"/>
          </a:solidFill>
          <a:ln w="12700">
            <a:solidFill>
              <a:srgbClr val="16222B"/>
            </a:solidFill>
            <a:prstDash val="solid"/>
          </a:ln>
        </p:spPr>
      </p:sp>
      <p:sp>
        <p:nvSpPr>
          <p:cNvPr id="23" name="Text 21"/>
          <p:cNvSpPr txBox="1"/>
          <p:nvPr/>
        </p:nvSpPr>
        <p:spPr>
          <a:xfrm>
            <a:off x="5029200" y="3703320"/>
            <a:ext cx="356616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Bucket en accès anonyme en local : un simple curl suffit</a:t>
            </a:r>
            <a:endParaRPr lang="en-US" sz="1300" dirty="0"/>
          </a:p>
        </p:txBody>
      </p:sp>
      <p:sp>
        <p:nvSpPr>
          <p:cNvPr id="24" name="Text 22"/>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5" name="Text 23"/>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LIVRABLES</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Ce qu'on doit rendre</a:t>
            </a:r>
            <a:endParaRPr lang="en-US" sz="2600" dirty="0"/>
          </a:p>
        </p:txBody>
      </p:sp>
      <p:sp>
        <p:nvSpPr>
          <p:cNvPr id="4" name="Shape 2"/>
          <p:cNvSpPr/>
          <p:nvPr/>
        </p:nvSpPr>
        <p:spPr>
          <a:xfrm>
            <a:off x="457200" y="1417320"/>
            <a:ext cx="3931920" cy="566928"/>
          </a:xfrm>
          <a:prstGeom prst="roundRect">
            <a:avLst>
              <a:gd name="adj" fmla="val 12903"/>
            </a:avLst>
          </a:prstGeom>
          <a:solidFill>
            <a:srgbClr val="EEF2F4"/>
          </a:solidFill>
          <a:ln w="12700">
            <a:solidFill>
              <a:srgbClr val="EEF2F4"/>
            </a:solidFill>
            <a:prstDash val="solid"/>
          </a:ln>
        </p:spPr>
      </p:sp>
      <p:sp>
        <p:nvSpPr>
          <p:cNvPr id="5" name="Text 3"/>
          <p:cNvSpPr txBox="1"/>
          <p:nvPr/>
        </p:nvSpPr>
        <p:spPr>
          <a:xfrm>
            <a:off x="594360" y="1417320"/>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01</a:t>
            </a:r>
            <a:endParaRPr lang="en-US" sz="1400" dirty="0"/>
          </a:p>
        </p:txBody>
      </p:sp>
      <p:sp>
        <p:nvSpPr>
          <p:cNvPr id="6" name="Shape 4"/>
          <p:cNvSpPr/>
          <p:nvPr/>
        </p:nvSpPr>
        <p:spPr>
          <a:xfrm>
            <a:off x="1051560" y="1627632"/>
            <a:ext cx="146304" cy="146304"/>
          </a:xfrm>
          <a:prstGeom prst="ellipse">
            <a:avLst/>
          </a:prstGeom>
          <a:solidFill>
            <a:srgbClr val="E0A10F"/>
          </a:solidFill>
          <a:ln w="12700">
            <a:solidFill>
              <a:srgbClr val="E0A10F"/>
            </a:solidFill>
            <a:prstDash val="solid"/>
          </a:ln>
        </p:spPr>
      </p:sp>
      <p:sp>
        <p:nvSpPr>
          <p:cNvPr id="7" name="Text 5"/>
          <p:cNvSpPr txBox="1"/>
          <p:nvPr/>
        </p:nvSpPr>
        <p:spPr>
          <a:xfrm>
            <a:off x="1307592" y="1563624"/>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Scripts de collecte des données</a:t>
            </a:r>
            <a:endParaRPr lang="en-US" sz="1300" dirty="0"/>
          </a:p>
        </p:txBody>
      </p:sp>
      <p:sp>
        <p:nvSpPr>
          <p:cNvPr id="8" name="Shape 6"/>
          <p:cNvSpPr/>
          <p:nvPr/>
        </p:nvSpPr>
        <p:spPr>
          <a:xfrm>
            <a:off x="457200" y="2130552"/>
            <a:ext cx="3931920" cy="566928"/>
          </a:xfrm>
          <a:prstGeom prst="roundRect">
            <a:avLst>
              <a:gd name="adj" fmla="val 12903"/>
            </a:avLst>
          </a:prstGeom>
          <a:solidFill>
            <a:srgbClr val="EEF2F4"/>
          </a:solidFill>
          <a:ln w="12700">
            <a:solidFill>
              <a:srgbClr val="EEF2F4"/>
            </a:solidFill>
            <a:prstDash val="solid"/>
          </a:ln>
        </p:spPr>
      </p:sp>
      <p:sp>
        <p:nvSpPr>
          <p:cNvPr id="9" name="Text 7"/>
          <p:cNvSpPr txBox="1"/>
          <p:nvPr/>
        </p:nvSpPr>
        <p:spPr>
          <a:xfrm>
            <a:off x="594360" y="2130552"/>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02</a:t>
            </a:r>
            <a:endParaRPr lang="en-US" sz="1400" dirty="0"/>
          </a:p>
        </p:txBody>
      </p:sp>
      <p:sp>
        <p:nvSpPr>
          <p:cNvPr id="10" name="Shape 8"/>
          <p:cNvSpPr/>
          <p:nvPr/>
        </p:nvSpPr>
        <p:spPr>
          <a:xfrm>
            <a:off x="1051560" y="2340864"/>
            <a:ext cx="146304" cy="146304"/>
          </a:xfrm>
          <a:prstGeom prst="ellipse">
            <a:avLst/>
          </a:prstGeom>
          <a:solidFill>
            <a:srgbClr val="E0A10F"/>
          </a:solidFill>
          <a:ln w="12700">
            <a:solidFill>
              <a:srgbClr val="E0A10F"/>
            </a:solidFill>
            <a:prstDash val="solid"/>
          </a:ln>
        </p:spPr>
      </p:sp>
      <p:sp>
        <p:nvSpPr>
          <p:cNvPr id="11" name="Text 9"/>
          <p:cNvSpPr txBox="1"/>
          <p:nvPr/>
        </p:nvSpPr>
        <p:spPr>
          <a:xfrm>
            <a:off x="1307592" y="2276856"/>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Stockage structuré des données</a:t>
            </a:r>
            <a:endParaRPr lang="en-US" sz="1300" dirty="0"/>
          </a:p>
        </p:txBody>
      </p:sp>
      <p:sp>
        <p:nvSpPr>
          <p:cNvPr id="12" name="Shape 10"/>
          <p:cNvSpPr/>
          <p:nvPr/>
        </p:nvSpPr>
        <p:spPr>
          <a:xfrm>
            <a:off x="457200" y="2843784"/>
            <a:ext cx="3931920" cy="566928"/>
          </a:xfrm>
          <a:prstGeom prst="roundRect">
            <a:avLst>
              <a:gd name="adj" fmla="val 12903"/>
            </a:avLst>
          </a:prstGeom>
          <a:solidFill>
            <a:srgbClr val="EEF2F4"/>
          </a:solidFill>
          <a:ln w="12700">
            <a:solidFill>
              <a:srgbClr val="EEF2F4"/>
            </a:solidFill>
            <a:prstDash val="solid"/>
          </a:ln>
        </p:spPr>
      </p:sp>
      <p:sp>
        <p:nvSpPr>
          <p:cNvPr id="13" name="Text 11"/>
          <p:cNvSpPr txBox="1"/>
          <p:nvPr/>
        </p:nvSpPr>
        <p:spPr>
          <a:xfrm>
            <a:off x="594360" y="2843784"/>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03</a:t>
            </a:r>
            <a:endParaRPr lang="en-US" sz="1400" dirty="0"/>
          </a:p>
        </p:txBody>
      </p:sp>
      <p:sp>
        <p:nvSpPr>
          <p:cNvPr id="14" name="Shape 12"/>
          <p:cNvSpPr/>
          <p:nvPr/>
        </p:nvSpPr>
        <p:spPr>
          <a:xfrm>
            <a:off x="1051560" y="3054096"/>
            <a:ext cx="146304" cy="146304"/>
          </a:xfrm>
          <a:prstGeom prst="ellipse">
            <a:avLst/>
          </a:prstGeom>
          <a:solidFill>
            <a:srgbClr val="B9C4CA"/>
          </a:solidFill>
          <a:ln w="12700">
            <a:solidFill>
              <a:srgbClr val="B9C4CA"/>
            </a:solidFill>
            <a:prstDash val="solid"/>
          </a:ln>
        </p:spPr>
      </p:sp>
      <p:sp>
        <p:nvSpPr>
          <p:cNvPr id="15" name="Text 13"/>
          <p:cNvSpPr txBox="1"/>
          <p:nvPr/>
        </p:nvSpPr>
        <p:spPr>
          <a:xfrm>
            <a:off x="1307592" y="2990088"/>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Pipeline de traitement</a:t>
            </a:r>
            <a:endParaRPr lang="en-US" sz="1300" dirty="0"/>
          </a:p>
        </p:txBody>
      </p:sp>
      <p:sp>
        <p:nvSpPr>
          <p:cNvPr id="16" name="Shape 14"/>
          <p:cNvSpPr/>
          <p:nvPr/>
        </p:nvSpPr>
        <p:spPr>
          <a:xfrm>
            <a:off x="457200" y="3557016"/>
            <a:ext cx="3931920" cy="566928"/>
          </a:xfrm>
          <a:prstGeom prst="roundRect">
            <a:avLst>
              <a:gd name="adj" fmla="val 12903"/>
            </a:avLst>
          </a:prstGeom>
          <a:solidFill>
            <a:srgbClr val="EEF2F4"/>
          </a:solidFill>
          <a:ln w="12700">
            <a:solidFill>
              <a:srgbClr val="EEF2F4"/>
            </a:solidFill>
            <a:prstDash val="solid"/>
          </a:ln>
        </p:spPr>
      </p:sp>
      <p:sp>
        <p:nvSpPr>
          <p:cNvPr id="17" name="Text 15"/>
          <p:cNvSpPr txBox="1"/>
          <p:nvPr/>
        </p:nvSpPr>
        <p:spPr>
          <a:xfrm>
            <a:off x="594360" y="3557016"/>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04</a:t>
            </a:r>
            <a:endParaRPr lang="en-US" sz="1400" dirty="0"/>
          </a:p>
        </p:txBody>
      </p:sp>
      <p:sp>
        <p:nvSpPr>
          <p:cNvPr id="18" name="Shape 16"/>
          <p:cNvSpPr/>
          <p:nvPr/>
        </p:nvSpPr>
        <p:spPr>
          <a:xfrm>
            <a:off x="1051560" y="3767328"/>
            <a:ext cx="146304" cy="146304"/>
          </a:xfrm>
          <a:prstGeom prst="ellipse">
            <a:avLst/>
          </a:prstGeom>
          <a:solidFill>
            <a:srgbClr val="B9C4CA"/>
          </a:solidFill>
          <a:ln w="12700">
            <a:solidFill>
              <a:srgbClr val="B9C4CA"/>
            </a:solidFill>
            <a:prstDash val="solid"/>
          </a:ln>
        </p:spPr>
      </p:sp>
      <p:sp>
        <p:nvSpPr>
          <p:cNvPr id="19" name="Text 17"/>
          <p:cNvSpPr txBox="1"/>
          <p:nvPr/>
        </p:nvSpPr>
        <p:spPr>
          <a:xfrm>
            <a:off x="1307592" y="3703320"/>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Analyses exploratoires</a:t>
            </a:r>
            <a:endParaRPr lang="en-US" sz="1300" dirty="0"/>
          </a:p>
        </p:txBody>
      </p:sp>
      <p:sp>
        <p:nvSpPr>
          <p:cNvPr id="20" name="Shape 18"/>
          <p:cNvSpPr/>
          <p:nvPr/>
        </p:nvSpPr>
        <p:spPr>
          <a:xfrm>
            <a:off x="4754880" y="1417320"/>
            <a:ext cx="3931920" cy="566928"/>
          </a:xfrm>
          <a:prstGeom prst="roundRect">
            <a:avLst>
              <a:gd name="adj" fmla="val 12903"/>
            </a:avLst>
          </a:prstGeom>
          <a:solidFill>
            <a:srgbClr val="EEF2F4"/>
          </a:solidFill>
          <a:ln w="12700">
            <a:solidFill>
              <a:srgbClr val="EEF2F4"/>
            </a:solidFill>
            <a:prstDash val="solid"/>
          </a:ln>
        </p:spPr>
      </p:sp>
      <p:sp>
        <p:nvSpPr>
          <p:cNvPr id="21" name="Text 19"/>
          <p:cNvSpPr txBox="1"/>
          <p:nvPr/>
        </p:nvSpPr>
        <p:spPr>
          <a:xfrm>
            <a:off x="4892040" y="1417320"/>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05</a:t>
            </a:r>
            <a:endParaRPr lang="en-US" sz="1400" dirty="0"/>
          </a:p>
        </p:txBody>
      </p:sp>
      <p:sp>
        <p:nvSpPr>
          <p:cNvPr id="22" name="Shape 20"/>
          <p:cNvSpPr/>
          <p:nvPr/>
        </p:nvSpPr>
        <p:spPr>
          <a:xfrm>
            <a:off x="5349240" y="1627632"/>
            <a:ext cx="146304" cy="146304"/>
          </a:xfrm>
          <a:prstGeom prst="ellipse">
            <a:avLst/>
          </a:prstGeom>
          <a:solidFill>
            <a:srgbClr val="B9C4CA"/>
          </a:solidFill>
          <a:ln w="12700">
            <a:solidFill>
              <a:srgbClr val="B9C4CA"/>
            </a:solidFill>
            <a:prstDash val="solid"/>
          </a:ln>
        </p:spPr>
      </p:sp>
      <p:sp>
        <p:nvSpPr>
          <p:cNvPr id="23" name="Text 21"/>
          <p:cNvSpPr txBox="1"/>
          <p:nvPr/>
        </p:nvSpPr>
        <p:spPr>
          <a:xfrm>
            <a:off x="5605272" y="1563624"/>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Visualisations</a:t>
            </a:r>
            <a:endParaRPr lang="en-US" sz="1300" dirty="0"/>
          </a:p>
        </p:txBody>
      </p:sp>
      <p:sp>
        <p:nvSpPr>
          <p:cNvPr id="24" name="Shape 22"/>
          <p:cNvSpPr/>
          <p:nvPr/>
        </p:nvSpPr>
        <p:spPr>
          <a:xfrm>
            <a:off x="4754880" y="2130552"/>
            <a:ext cx="3931920" cy="566928"/>
          </a:xfrm>
          <a:prstGeom prst="roundRect">
            <a:avLst>
              <a:gd name="adj" fmla="val 12903"/>
            </a:avLst>
          </a:prstGeom>
          <a:solidFill>
            <a:srgbClr val="EEF2F4"/>
          </a:solidFill>
          <a:ln w="12700">
            <a:solidFill>
              <a:srgbClr val="EEF2F4"/>
            </a:solidFill>
            <a:prstDash val="solid"/>
          </a:ln>
        </p:spPr>
      </p:sp>
      <p:sp>
        <p:nvSpPr>
          <p:cNvPr id="25" name="Text 23"/>
          <p:cNvSpPr txBox="1"/>
          <p:nvPr/>
        </p:nvSpPr>
        <p:spPr>
          <a:xfrm>
            <a:off x="4892040" y="2130552"/>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06</a:t>
            </a:r>
            <a:endParaRPr lang="en-US" sz="1400" dirty="0"/>
          </a:p>
        </p:txBody>
      </p:sp>
      <p:sp>
        <p:nvSpPr>
          <p:cNvPr id="26" name="Shape 24"/>
          <p:cNvSpPr/>
          <p:nvPr/>
        </p:nvSpPr>
        <p:spPr>
          <a:xfrm>
            <a:off x="5349240" y="2340864"/>
            <a:ext cx="146304" cy="146304"/>
          </a:xfrm>
          <a:prstGeom prst="ellipse">
            <a:avLst/>
          </a:prstGeom>
          <a:solidFill>
            <a:srgbClr val="B9C4CA"/>
          </a:solidFill>
          <a:ln w="12700">
            <a:solidFill>
              <a:srgbClr val="B9C4CA"/>
            </a:solidFill>
            <a:prstDash val="solid"/>
          </a:ln>
        </p:spPr>
      </p:sp>
      <p:sp>
        <p:nvSpPr>
          <p:cNvPr id="27" name="Text 25"/>
          <p:cNvSpPr txBox="1"/>
          <p:nvPr/>
        </p:nvSpPr>
        <p:spPr>
          <a:xfrm>
            <a:off x="5605272" y="2276856"/>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Interprétation des résultats</a:t>
            </a:r>
            <a:endParaRPr lang="en-US" sz="1300" dirty="0"/>
          </a:p>
        </p:txBody>
      </p:sp>
      <p:sp>
        <p:nvSpPr>
          <p:cNvPr id="28" name="Shape 26"/>
          <p:cNvSpPr/>
          <p:nvPr/>
        </p:nvSpPr>
        <p:spPr>
          <a:xfrm>
            <a:off x="4754880" y="2843784"/>
            <a:ext cx="3931920" cy="566928"/>
          </a:xfrm>
          <a:prstGeom prst="roundRect">
            <a:avLst>
              <a:gd name="adj" fmla="val 12903"/>
            </a:avLst>
          </a:prstGeom>
          <a:solidFill>
            <a:srgbClr val="EEF2F4"/>
          </a:solidFill>
          <a:ln w="12700">
            <a:solidFill>
              <a:srgbClr val="EEF2F4"/>
            </a:solidFill>
            <a:prstDash val="solid"/>
          </a:ln>
        </p:spPr>
      </p:sp>
      <p:sp>
        <p:nvSpPr>
          <p:cNvPr id="29" name="Text 27"/>
          <p:cNvSpPr txBox="1"/>
          <p:nvPr/>
        </p:nvSpPr>
        <p:spPr>
          <a:xfrm>
            <a:off x="4892040" y="2843784"/>
            <a:ext cx="457200" cy="566928"/>
          </a:xfrm>
          <a:prstGeom prst="rect">
            <a:avLst/>
          </a:prstGeom>
          <a:noFill/>
          <a:ln/>
        </p:spPr>
        <p:txBody>
          <a:bodyPr wrap="square" lIns="0" tIns="0" rIns="0" bIns="0" rtlCol="0" anchor="ctr"/>
          <a:lstStyle/>
          <a:p>
            <a:pPr indent="0" marL="0">
              <a:buNone/>
            </a:pPr>
            <a:r>
              <a:rPr lang="en-US" sz="1400" b="1" dirty="0">
                <a:solidFill>
                  <a:srgbClr val="AFC0C8"/>
                </a:solidFill>
                <a:latin typeface="Arial" pitchFamily="34" charset="0"/>
                <a:ea typeface="Arial" pitchFamily="34" charset="-122"/>
                <a:cs typeface="Arial" pitchFamily="34" charset="-120"/>
              </a:rPr>
              <a:t>07</a:t>
            </a:r>
            <a:endParaRPr lang="en-US" sz="1400" dirty="0"/>
          </a:p>
        </p:txBody>
      </p:sp>
      <p:sp>
        <p:nvSpPr>
          <p:cNvPr id="30" name="Shape 28"/>
          <p:cNvSpPr/>
          <p:nvPr/>
        </p:nvSpPr>
        <p:spPr>
          <a:xfrm>
            <a:off x="5349240" y="3054096"/>
            <a:ext cx="146304" cy="146304"/>
          </a:xfrm>
          <a:prstGeom prst="ellipse">
            <a:avLst/>
          </a:prstGeom>
          <a:solidFill>
            <a:srgbClr val="B9C4CA"/>
          </a:solidFill>
          <a:ln w="12700">
            <a:solidFill>
              <a:srgbClr val="B9C4CA"/>
            </a:solidFill>
            <a:prstDash val="solid"/>
          </a:ln>
        </p:spPr>
      </p:sp>
      <p:sp>
        <p:nvSpPr>
          <p:cNvPr id="31" name="Text 29"/>
          <p:cNvSpPr txBox="1"/>
          <p:nvPr/>
        </p:nvSpPr>
        <p:spPr>
          <a:xfrm>
            <a:off x="5605272" y="2990088"/>
            <a:ext cx="29443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Vidéos de démonstration (Partie 1 et Partie 2)</a:t>
            </a:r>
            <a:endParaRPr lang="en-US" sz="1300" dirty="0"/>
          </a:p>
        </p:txBody>
      </p:sp>
      <p:sp>
        <p:nvSpPr>
          <p:cNvPr id="32" name="Shape 30"/>
          <p:cNvSpPr/>
          <p:nvPr/>
        </p:nvSpPr>
        <p:spPr>
          <a:xfrm>
            <a:off x="4892040" y="3813048"/>
            <a:ext cx="146304" cy="146304"/>
          </a:xfrm>
          <a:prstGeom prst="ellipse">
            <a:avLst/>
          </a:prstGeom>
          <a:solidFill>
            <a:srgbClr val="2E9E5B"/>
          </a:solidFill>
          <a:ln w="12700">
            <a:solidFill>
              <a:srgbClr val="2E9E5B"/>
            </a:solidFill>
            <a:prstDash val="solid"/>
          </a:ln>
        </p:spPr>
      </p:sp>
      <p:sp>
        <p:nvSpPr>
          <p:cNvPr id="33" name="Text 31"/>
          <p:cNvSpPr txBox="1"/>
          <p:nvPr/>
        </p:nvSpPr>
        <p:spPr>
          <a:xfrm>
            <a:off x="5148072" y="3749040"/>
            <a:ext cx="11155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Fait</a:t>
            </a:r>
            <a:endParaRPr lang="en-US" sz="1300" dirty="0"/>
          </a:p>
        </p:txBody>
      </p:sp>
      <p:sp>
        <p:nvSpPr>
          <p:cNvPr id="34" name="Shape 32"/>
          <p:cNvSpPr/>
          <p:nvPr/>
        </p:nvSpPr>
        <p:spPr>
          <a:xfrm>
            <a:off x="6080760" y="3813048"/>
            <a:ext cx="146304" cy="146304"/>
          </a:xfrm>
          <a:prstGeom prst="ellipse">
            <a:avLst/>
          </a:prstGeom>
          <a:solidFill>
            <a:srgbClr val="E0A10F"/>
          </a:solidFill>
          <a:ln w="12700">
            <a:solidFill>
              <a:srgbClr val="E0A10F"/>
            </a:solidFill>
            <a:prstDash val="solid"/>
          </a:ln>
        </p:spPr>
      </p:sp>
      <p:sp>
        <p:nvSpPr>
          <p:cNvPr id="35" name="Text 33"/>
          <p:cNvSpPr txBox="1"/>
          <p:nvPr/>
        </p:nvSpPr>
        <p:spPr>
          <a:xfrm>
            <a:off x="6336792" y="3749040"/>
            <a:ext cx="11155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En cours</a:t>
            </a:r>
            <a:endParaRPr lang="en-US" sz="1300" dirty="0"/>
          </a:p>
        </p:txBody>
      </p:sp>
      <p:sp>
        <p:nvSpPr>
          <p:cNvPr id="36" name="Shape 34"/>
          <p:cNvSpPr/>
          <p:nvPr/>
        </p:nvSpPr>
        <p:spPr>
          <a:xfrm>
            <a:off x="7452360" y="3813048"/>
            <a:ext cx="146304" cy="146304"/>
          </a:xfrm>
          <a:prstGeom prst="ellipse">
            <a:avLst/>
          </a:prstGeom>
          <a:solidFill>
            <a:srgbClr val="B9C4CA"/>
          </a:solidFill>
          <a:ln w="12700">
            <a:solidFill>
              <a:srgbClr val="B9C4CA"/>
            </a:solidFill>
            <a:prstDash val="solid"/>
          </a:ln>
        </p:spPr>
      </p:sp>
      <p:sp>
        <p:nvSpPr>
          <p:cNvPr id="37" name="Text 35"/>
          <p:cNvSpPr txBox="1"/>
          <p:nvPr/>
        </p:nvSpPr>
        <p:spPr>
          <a:xfrm>
            <a:off x="7708392" y="3749040"/>
            <a:ext cx="1115568" cy="274320"/>
          </a:xfrm>
          <a:prstGeom prst="rect">
            <a:avLst/>
          </a:prstGeom>
          <a:noFill/>
          <a:ln/>
        </p:spPr>
        <p:txBody>
          <a:bodyPr wrap="square" lIns="0" tIns="0" rIns="0" bIns="0" rtlCol="0" anchor="ctr"/>
          <a:lstStyle/>
          <a:p>
            <a:pPr indent="0" marL="0">
              <a:buNone/>
            </a:pPr>
            <a:r>
              <a:rPr lang="en-US" sz="1300" dirty="0">
                <a:solidFill>
                  <a:srgbClr val="16222B"/>
                </a:solidFill>
                <a:latin typeface="Arial" pitchFamily="34" charset="0"/>
                <a:ea typeface="Arial" pitchFamily="34" charset="-122"/>
                <a:cs typeface="Arial" pitchFamily="34" charset="-120"/>
              </a:rPr>
              <a:t>À faire</a:t>
            </a:r>
            <a:endParaRPr lang="en-US" sz="1300" dirty="0"/>
          </a:p>
        </p:txBody>
      </p:sp>
      <p:sp>
        <p:nvSpPr>
          <p:cNvPr id="38" name="Text 36"/>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39" name="Text 37"/>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200" kern="0" dirty="0">
                <a:solidFill>
                  <a:srgbClr val="16222B"/>
                </a:solidFill>
                <a:latin typeface="Arial" pitchFamily="34" charset="0"/>
                <a:ea typeface="Arial" pitchFamily="34" charset="-122"/>
                <a:cs typeface="Arial" pitchFamily="34" charset="-120"/>
              </a:rPr>
              <a:t>LEXIQUE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600" b="1" dirty="0">
                <a:solidFill>
                  <a:srgbClr val="16222B"/>
                </a:solidFill>
                <a:latin typeface="Arial" pitchFamily="34" charset="0"/>
                <a:ea typeface="Arial" pitchFamily="34" charset="-122"/>
                <a:cs typeface="Arial" pitchFamily="34" charset="-120"/>
              </a:rPr>
              <a:t>Les mots du projet, en une ligne</a:t>
            </a:r>
            <a:endParaRPr lang="en-US" sz="2600" dirty="0"/>
          </a:p>
        </p:txBody>
      </p:sp>
      <p:sp>
        <p:nvSpPr>
          <p:cNvPr id="4" name="Shape 2"/>
          <p:cNvSpPr/>
          <p:nvPr/>
        </p:nvSpPr>
        <p:spPr>
          <a:xfrm>
            <a:off x="457200" y="1325880"/>
            <a:ext cx="4023360" cy="658368"/>
          </a:xfrm>
          <a:prstGeom prst="roundRect">
            <a:avLst>
              <a:gd name="adj" fmla="val 11111"/>
            </a:avLst>
          </a:prstGeom>
          <a:solidFill>
            <a:srgbClr val="EEF2F4"/>
          </a:solidFill>
          <a:ln w="12700">
            <a:solidFill>
              <a:srgbClr val="EEF2F4"/>
            </a:solidFill>
            <a:prstDash val="solid"/>
          </a:ln>
        </p:spPr>
      </p:sp>
      <p:sp>
        <p:nvSpPr>
          <p:cNvPr id="5" name="Text 3"/>
          <p:cNvSpPr txBox="1"/>
          <p:nvPr/>
        </p:nvSpPr>
        <p:spPr>
          <a:xfrm>
            <a:off x="640080" y="1325880"/>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Data Lake</a:t>
            </a:r>
            <a:endParaRPr lang="en-US" sz="1300" dirty="0"/>
          </a:p>
        </p:txBody>
      </p:sp>
      <p:sp>
        <p:nvSpPr>
          <p:cNvPr id="6" name="Text 4"/>
          <p:cNvSpPr txBox="1"/>
          <p:nvPr/>
        </p:nvSpPr>
        <p:spPr>
          <a:xfrm>
            <a:off x="2194560" y="1325880"/>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Stockage de données brutes, tous formats (MinIO)</a:t>
            </a:r>
            <a:endParaRPr lang="en-US" sz="1100" dirty="0"/>
          </a:p>
        </p:txBody>
      </p:sp>
      <p:sp>
        <p:nvSpPr>
          <p:cNvPr id="7" name="Shape 5"/>
          <p:cNvSpPr/>
          <p:nvPr/>
        </p:nvSpPr>
        <p:spPr>
          <a:xfrm>
            <a:off x="4663440" y="1325880"/>
            <a:ext cx="4023360" cy="658368"/>
          </a:xfrm>
          <a:prstGeom prst="roundRect">
            <a:avLst>
              <a:gd name="adj" fmla="val 11111"/>
            </a:avLst>
          </a:prstGeom>
          <a:solidFill>
            <a:srgbClr val="EEF2F4"/>
          </a:solidFill>
          <a:ln w="12700">
            <a:solidFill>
              <a:srgbClr val="EEF2F4"/>
            </a:solidFill>
            <a:prstDash val="solid"/>
          </a:ln>
        </p:spPr>
      </p:sp>
      <p:sp>
        <p:nvSpPr>
          <p:cNvPr id="8" name="Text 6"/>
          <p:cNvSpPr txBox="1"/>
          <p:nvPr/>
        </p:nvSpPr>
        <p:spPr>
          <a:xfrm>
            <a:off x="4846320" y="1325880"/>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Data Warehouse</a:t>
            </a:r>
            <a:endParaRPr lang="en-US" sz="1300" dirty="0"/>
          </a:p>
        </p:txBody>
      </p:sp>
      <p:sp>
        <p:nvSpPr>
          <p:cNvPr id="9" name="Text 7"/>
          <p:cNvSpPr txBox="1"/>
          <p:nvPr/>
        </p:nvSpPr>
        <p:spPr>
          <a:xfrm>
            <a:off x="6400800" y="1325880"/>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Entrepôt de données propres et structurées (PostgreSQL)</a:t>
            </a:r>
            <a:endParaRPr lang="en-US" sz="1100" dirty="0"/>
          </a:p>
        </p:txBody>
      </p:sp>
      <p:sp>
        <p:nvSpPr>
          <p:cNvPr id="10" name="Shape 8"/>
          <p:cNvSpPr/>
          <p:nvPr/>
        </p:nvSpPr>
        <p:spPr>
          <a:xfrm>
            <a:off x="457200" y="2112264"/>
            <a:ext cx="4023360" cy="658368"/>
          </a:xfrm>
          <a:prstGeom prst="roundRect">
            <a:avLst>
              <a:gd name="adj" fmla="val 11111"/>
            </a:avLst>
          </a:prstGeom>
          <a:solidFill>
            <a:srgbClr val="EEF2F4"/>
          </a:solidFill>
          <a:ln w="12700">
            <a:solidFill>
              <a:srgbClr val="EEF2F4"/>
            </a:solidFill>
            <a:prstDash val="solid"/>
          </a:ln>
        </p:spPr>
      </p:sp>
      <p:sp>
        <p:nvSpPr>
          <p:cNvPr id="11" name="Text 9"/>
          <p:cNvSpPr txBox="1"/>
          <p:nvPr/>
        </p:nvSpPr>
        <p:spPr>
          <a:xfrm>
            <a:off x="640080" y="2112264"/>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Lakehouse</a:t>
            </a:r>
            <a:endParaRPr lang="en-US" sz="1300" dirty="0"/>
          </a:p>
        </p:txBody>
      </p:sp>
      <p:sp>
        <p:nvSpPr>
          <p:cNvPr id="12" name="Text 10"/>
          <p:cNvSpPr txBox="1"/>
          <p:nvPr/>
        </p:nvSpPr>
        <p:spPr>
          <a:xfrm>
            <a:off x="2194560" y="2112264"/>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Data Lake + tables et SQL d'un entrepôt, en un seul système</a:t>
            </a:r>
            <a:endParaRPr lang="en-US" sz="1100" dirty="0"/>
          </a:p>
        </p:txBody>
      </p:sp>
      <p:sp>
        <p:nvSpPr>
          <p:cNvPr id="13" name="Shape 11"/>
          <p:cNvSpPr/>
          <p:nvPr/>
        </p:nvSpPr>
        <p:spPr>
          <a:xfrm>
            <a:off x="4663440" y="2112264"/>
            <a:ext cx="4023360" cy="658368"/>
          </a:xfrm>
          <a:prstGeom prst="roundRect">
            <a:avLst>
              <a:gd name="adj" fmla="val 11111"/>
            </a:avLst>
          </a:prstGeom>
          <a:solidFill>
            <a:srgbClr val="EEF2F4"/>
          </a:solidFill>
          <a:ln w="12700">
            <a:solidFill>
              <a:srgbClr val="EEF2F4"/>
            </a:solidFill>
            <a:prstDash val="solid"/>
          </a:ln>
        </p:spPr>
      </p:sp>
      <p:sp>
        <p:nvSpPr>
          <p:cNvPr id="14" name="Text 12"/>
          <p:cNvSpPr txBox="1"/>
          <p:nvPr/>
        </p:nvSpPr>
        <p:spPr>
          <a:xfrm>
            <a:off x="4846320" y="2112264"/>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ETL</a:t>
            </a:r>
            <a:endParaRPr lang="en-US" sz="1300" dirty="0"/>
          </a:p>
        </p:txBody>
      </p:sp>
      <p:sp>
        <p:nvSpPr>
          <p:cNvPr id="15" name="Text 13"/>
          <p:cNvSpPr txBox="1"/>
          <p:nvPr/>
        </p:nvSpPr>
        <p:spPr>
          <a:xfrm>
            <a:off x="6400800" y="2112264"/>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Extract → Transform → Load : on nettoie avant de stocker</a:t>
            </a:r>
            <a:endParaRPr lang="en-US" sz="1100" dirty="0"/>
          </a:p>
        </p:txBody>
      </p:sp>
      <p:sp>
        <p:nvSpPr>
          <p:cNvPr id="16" name="Shape 14"/>
          <p:cNvSpPr/>
          <p:nvPr/>
        </p:nvSpPr>
        <p:spPr>
          <a:xfrm>
            <a:off x="457200" y="2898648"/>
            <a:ext cx="4023360" cy="658368"/>
          </a:xfrm>
          <a:prstGeom prst="roundRect">
            <a:avLst>
              <a:gd name="adj" fmla="val 11111"/>
            </a:avLst>
          </a:prstGeom>
          <a:solidFill>
            <a:srgbClr val="EEF2F4"/>
          </a:solidFill>
          <a:ln w="12700">
            <a:solidFill>
              <a:srgbClr val="EEF2F4"/>
            </a:solidFill>
            <a:prstDash val="solid"/>
          </a:ln>
        </p:spPr>
      </p:sp>
      <p:sp>
        <p:nvSpPr>
          <p:cNvPr id="17" name="Text 15"/>
          <p:cNvSpPr txBox="1"/>
          <p:nvPr/>
        </p:nvSpPr>
        <p:spPr>
          <a:xfrm>
            <a:off x="640080" y="2898648"/>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ELT</a:t>
            </a:r>
            <a:endParaRPr lang="en-US" sz="1300" dirty="0"/>
          </a:p>
        </p:txBody>
      </p:sp>
      <p:sp>
        <p:nvSpPr>
          <p:cNvPr id="18" name="Text 16"/>
          <p:cNvSpPr txBox="1"/>
          <p:nvPr/>
        </p:nvSpPr>
        <p:spPr>
          <a:xfrm>
            <a:off x="2194560" y="2898648"/>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Extract → Load → Transform : on stocke brut, on nettoie après</a:t>
            </a:r>
            <a:endParaRPr lang="en-US" sz="1100" dirty="0"/>
          </a:p>
        </p:txBody>
      </p:sp>
      <p:sp>
        <p:nvSpPr>
          <p:cNvPr id="19" name="Shape 17"/>
          <p:cNvSpPr/>
          <p:nvPr/>
        </p:nvSpPr>
        <p:spPr>
          <a:xfrm>
            <a:off x="4663440" y="2898648"/>
            <a:ext cx="4023360" cy="658368"/>
          </a:xfrm>
          <a:prstGeom prst="roundRect">
            <a:avLst>
              <a:gd name="adj" fmla="val 11111"/>
            </a:avLst>
          </a:prstGeom>
          <a:solidFill>
            <a:srgbClr val="EEF2F4"/>
          </a:solidFill>
          <a:ln w="12700">
            <a:solidFill>
              <a:srgbClr val="EEF2F4"/>
            </a:solidFill>
            <a:prstDash val="solid"/>
          </a:ln>
        </p:spPr>
      </p:sp>
      <p:sp>
        <p:nvSpPr>
          <p:cNvPr id="20" name="Text 18"/>
          <p:cNvSpPr txBox="1"/>
          <p:nvPr/>
        </p:nvSpPr>
        <p:spPr>
          <a:xfrm>
            <a:off x="4846320" y="2898648"/>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OLTP</a:t>
            </a:r>
            <a:endParaRPr lang="en-US" sz="1300" dirty="0"/>
          </a:p>
        </p:txBody>
      </p:sp>
      <p:sp>
        <p:nvSpPr>
          <p:cNvPr id="21" name="Text 19"/>
          <p:cNvSpPr txBox="1"/>
          <p:nvPr/>
        </p:nvSpPr>
        <p:spPr>
          <a:xfrm>
            <a:off x="6400800" y="2898648"/>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Base qui fait tourner un service : petites écritures en temps réel</a:t>
            </a:r>
            <a:endParaRPr lang="en-US" sz="1100" dirty="0"/>
          </a:p>
        </p:txBody>
      </p:sp>
      <p:sp>
        <p:nvSpPr>
          <p:cNvPr id="22" name="Shape 20"/>
          <p:cNvSpPr/>
          <p:nvPr/>
        </p:nvSpPr>
        <p:spPr>
          <a:xfrm>
            <a:off x="457200" y="3685032"/>
            <a:ext cx="4023360" cy="658368"/>
          </a:xfrm>
          <a:prstGeom prst="roundRect">
            <a:avLst>
              <a:gd name="adj" fmla="val 11111"/>
            </a:avLst>
          </a:prstGeom>
          <a:solidFill>
            <a:srgbClr val="EEF2F4"/>
          </a:solidFill>
          <a:ln w="12700">
            <a:solidFill>
              <a:srgbClr val="EEF2F4"/>
            </a:solidFill>
            <a:prstDash val="solid"/>
          </a:ln>
        </p:spPr>
      </p:sp>
      <p:sp>
        <p:nvSpPr>
          <p:cNvPr id="23" name="Text 21"/>
          <p:cNvSpPr txBox="1"/>
          <p:nvPr/>
        </p:nvSpPr>
        <p:spPr>
          <a:xfrm>
            <a:off x="640080" y="3685032"/>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OLAP</a:t>
            </a:r>
            <a:endParaRPr lang="en-US" sz="1300" dirty="0"/>
          </a:p>
        </p:txBody>
      </p:sp>
      <p:sp>
        <p:nvSpPr>
          <p:cNvPr id="24" name="Text 22"/>
          <p:cNvSpPr txBox="1"/>
          <p:nvPr/>
        </p:nvSpPr>
        <p:spPr>
          <a:xfrm>
            <a:off x="2194560" y="3685032"/>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Base pensée pour l'analyse : grosses agrégations sur l'historique</a:t>
            </a:r>
            <a:endParaRPr lang="en-US" sz="1100" dirty="0"/>
          </a:p>
        </p:txBody>
      </p:sp>
      <p:sp>
        <p:nvSpPr>
          <p:cNvPr id="25" name="Shape 23"/>
          <p:cNvSpPr/>
          <p:nvPr/>
        </p:nvSpPr>
        <p:spPr>
          <a:xfrm>
            <a:off x="4663440" y="3685032"/>
            <a:ext cx="4023360" cy="658368"/>
          </a:xfrm>
          <a:prstGeom prst="roundRect">
            <a:avLst>
              <a:gd name="adj" fmla="val 11111"/>
            </a:avLst>
          </a:prstGeom>
          <a:solidFill>
            <a:srgbClr val="EEF2F4"/>
          </a:solidFill>
          <a:ln w="12700">
            <a:solidFill>
              <a:srgbClr val="EEF2F4"/>
            </a:solidFill>
            <a:prstDash val="solid"/>
          </a:ln>
        </p:spPr>
      </p:sp>
      <p:sp>
        <p:nvSpPr>
          <p:cNvPr id="26" name="Text 24"/>
          <p:cNvSpPr txBox="1"/>
          <p:nvPr/>
        </p:nvSpPr>
        <p:spPr>
          <a:xfrm>
            <a:off x="4846320" y="3685032"/>
            <a:ext cx="1508760" cy="658368"/>
          </a:xfrm>
          <a:prstGeom prst="rect">
            <a:avLst/>
          </a:prstGeom>
          <a:noFill/>
          <a:ln/>
        </p:spPr>
        <p:txBody>
          <a:bodyPr wrap="square" lIns="0" tIns="0" rIns="0" bIns="0" rtlCol="0" anchor="ctr"/>
          <a:lstStyle/>
          <a:p>
            <a:pPr indent="0" marL="0">
              <a:buNone/>
            </a:pPr>
            <a:r>
              <a:rPr lang="en-US" sz="1300" b="1" dirty="0">
                <a:solidFill>
                  <a:srgbClr val="16222B"/>
                </a:solidFill>
                <a:latin typeface="Arial" pitchFamily="34" charset="0"/>
                <a:ea typeface="Arial" pitchFamily="34" charset="-122"/>
                <a:cs typeface="Arial" pitchFamily="34" charset="-120"/>
              </a:rPr>
              <a:t>BI</a:t>
            </a:r>
            <a:endParaRPr lang="en-US" sz="1300" dirty="0"/>
          </a:p>
        </p:txBody>
      </p:sp>
      <p:sp>
        <p:nvSpPr>
          <p:cNvPr id="27" name="Text 25"/>
          <p:cNvSpPr txBox="1"/>
          <p:nvPr/>
        </p:nvSpPr>
        <p:spPr>
          <a:xfrm>
            <a:off x="6400800" y="3685032"/>
            <a:ext cx="2148840" cy="658368"/>
          </a:xfrm>
          <a:prstGeom prst="rect">
            <a:avLst/>
          </a:prstGeom>
          <a:noFill/>
          <a:ln/>
        </p:spPr>
        <p:txBody>
          <a:bodyPr wrap="square" lIns="0" tIns="0" rIns="0" bIns="0" rtlCol="0" anchor="ctr"/>
          <a:lstStyle/>
          <a:p>
            <a:pPr indent="0" marL="0">
              <a:buNone/>
            </a:pPr>
            <a:r>
              <a:rPr lang="en-US" sz="1100" dirty="0">
                <a:solidFill>
                  <a:srgbClr val="5B6B74"/>
                </a:solidFill>
                <a:latin typeface="Arial" pitchFamily="34" charset="0"/>
                <a:ea typeface="Arial" pitchFamily="34" charset="-122"/>
                <a:cs typeface="Arial" pitchFamily="34" charset="-120"/>
              </a:rPr>
              <a:t>Tableaux de bord pour aider à décider (Metabase)</a:t>
            </a:r>
            <a:endParaRPr lang="en-US" sz="1100" dirty="0"/>
          </a:p>
        </p:txBody>
      </p:sp>
      <p:sp>
        <p:nvSpPr>
          <p:cNvPr id="28" name="Text 26"/>
          <p:cNvSpPr txBox="1"/>
          <p:nvPr/>
        </p:nvSpPr>
        <p:spPr>
          <a:xfrm>
            <a:off x="457200" y="4800600"/>
            <a:ext cx="4572000" cy="201168"/>
          </a:xfrm>
          <a:prstGeom prst="rect">
            <a:avLst/>
          </a:prstGeom>
          <a:noFill/>
          <a:ln/>
        </p:spPr>
        <p:txBody>
          <a:bodyPr wrap="square" lIns="0" tIns="0" rIns="0" bIns="0" rtlCol="0" anchor="t"/>
          <a:lstStyle/>
          <a:p>
            <a:pPr indent="0" marL="0">
              <a:buNone/>
            </a:pPr>
            <a:r>
              <a:rPr lang="en-US" sz="900" dirty="0">
                <a:solidFill>
                  <a:srgbClr val="5B6B74"/>
                </a:solidFill>
                <a:latin typeface="Arial" pitchFamily="34" charset="0"/>
                <a:ea typeface="Arial" pitchFamily="34" charset="-122"/>
                <a:cs typeface="Arial" pitchFamily="34" charset="-120"/>
              </a:rPr>
              <a:t>UrbanHub · jumeau numérique urbain</a:t>
            </a:r>
            <a:endParaRPr lang="en-US" sz="900" dirty="0"/>
          </a:p>
        </p:txBody>
      </p:sp>
      <p:sp>
        <p:nvSpPr>
          <p:cNvPr id="29" name="Text 27"/>
          <p:cNvSpPr txBox="1"/>
          <p:nvPr/>
        </p:nvSpPr>
        <p:spPr>
          <a:xfrm>
            <a:off x="7772400" y="4800600"/>
            <a:ext cx="914400" cy="201168"/>
          </a:xfrm>
          <a:prstGeom prst="rect">
            <a:avLst/>
          </a:prstGeom>
          <a:noFill/>
          <a:ln/>
        </p:spPr>
        <p:txBody>
          <a:bodyPr wrap="square" lIns="0" tIns="0" rIns="0" bIns="0" rtlCol="0" anchor="t"/>
          <a:lstStyle/>
          <a:p>
            <a:pPr algn="r" indent="0" marL="0">
              <a:buNone/>
            </a:pPr>
            <a:r>
              <a:rPr lang="en-US" sz="900" dirty="0">
                <a:solidFill>
                  <a:srgbClr val="5B6B74"/>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548640" y="1280160"/>
            <a:ext cx="8046720" cy="91440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Merci</a:t>
            </a:r>
            <a:endParaRPr lang="en-US" sz="5400" dirty="0"/>
          </a:p>
        </p:txBody>
      </p:sp>
      <p:sp>
        <p:nvSpPr>
          <p:cNvPr id="3" name="Text 1"/>
          <p:cNvSpPr txBox="1"/>
          <p:nvPr/>
        </p:nvSpPr>
        <p:spPr>
          <a:xfrm>
            <a:off x="548640" y="2194560"/>
            <a:ext cx="8046720" cy="457200"/>
          </a:xfrm>
          <a:prstGeom prst="rect">
            <a:avLst/>
          </a:prstGeom>
          <a:noFill/>
          <a:ln/>
        </p:spPr>
        <p:txBody>
          <a:bodyPr wrap="square" lIns="0" tIns="0" rIns="0" bIns="0" rtlCol="0" anchor="t"/>
          <a:lstStyle/>
          <a:p>
            <a:pPr indent="0" marL="0">
              <a:buNone/>
            </a:pPr>
            <a:r>
              <a:rPr lang="en-US" sz="2000" dirty="0">
                <a:solidFill>
                  <a:srgbClr val="AFC0C8"/>
                </a:solidFill>
                <a:latin typeface="Arial" pitchFamily="34" charset="0"/>
                <a:ea typeface="Arial" pitchFamily="34" charset="-122"/>
                <a:cs typeface="Arial" pitchFamily="34" charset="-120"/>
              </a:rPr>
              <a:t>Place aux questions, puis à la démo</a:t>
            </a:r>
            <a:endParaRPr lang="en-US" sz="2000" dirty="0"/>
          </a:p>
        </p:txBody>
      </p:sp>
      <p:sp>
        <p:nvSpPr>
          <p:cNvPr id="4" name="Shape 2"/>
          <p:cNvSpPr/>
          <p:nvPr/>
        </p:nvSpPr>
        <p:spPr>
          <a:xfrm>
            <a:off x="548640" y="3108960"/>
            <a:ext cx="256032" cy="256032"/>
          </a:xfrm>
          <a:prstGeom prst="ellipse">
            <a:avLst/>
          </a:prstGeom>
          <a:solidFill>
            <a:srgbClr val="3A7BD5"/>
          </a:solidFill>
          <a:ln w="12700">
            <a:solidFill>
              <a:srgbClr val="3A7BD5"/>
            </a:solidFill>
            <a:prstDash val="solid"/>
          </a:ln>
        </p:spPr>
      </p:sp>
      <p:sp>
        <p:nvSpPr>
          <p:cNvPr id="5" name="Shape 3"/>
          <p:cNvSpPr/>
          <p:nvPr/>
        </p:nvSpPr>
        <p:spPr>
          <a:xfrm>
            <a:off x="932688" y="3108960"/>
            <a:ext cx="256032" cy="256032"/>
          </a:xfrm>
          <a:prstGeom prst="ellipse">
            <a:avLst/>
          </a:prstGeom>
          <a:solidFill>
            <a:srgbClr val="E0A10F"/>
          </a:solidFill>
          <a:ln w="12700">
            <a:solidFill>
              <a:srgbClr val="E0A10F"/>
            </a:solidFill>
            <a:prstDash val="solid"/>
          </a:ln>
        </p:spPr>
      </p:sp>
      <p:sp>
        <p:nvSpPr>
          <p:cNvPr id="6" name="Shape 4"/>
          <p:cNvSpPr/>
          <p:nvPr/>
        </p:nvSpPr>
        <p:spPr>
          <a:xfrm>
            <a:off x="1316736" y="3108960"/>
            <a:ext cx="256032" cy="256032"/>
          </a:xfrm>
          <a:prstGeom prst="ellipse">
            <a:avLst/>
          </a:prstGeom>
          <a:solidFill>
            <a:srgbClr val="8A5CC2"/>
          </a:solidFill>
          <a:ln w="12700">
            <a:solidFill>
              <a:srgbClr val="8A5CC2"/>
            </a:solidFill>
            <a:prstDash val="solid"/>
          </a:ln>
        </p:spPr>
      </p:sp>
      <p:sp>
        <p:nvSpPr>
          <p:cNvPr id="7" name="Shape 5"/>
          <p:cNvSpPr/>
          <p:nvPr/>
        </p:nvSpPr>
        <p:spPr>
          <a:xfrm>
            <a:off x="1700784" y="3108960"/>
            <a:ext cx="256032" cy="256032"/>
          </a:xfrm>
          <a:prstGeom prst="ellipse">
            <a:avLst/>
          </a:prstGeom>
          <a:solidFill>
            <a:srgbClr val="1C9A8A"/>
          </a:solidFill>
          <a:ln w="12700">
            <a:solidFill>
              <a:srgbClr val="1C9A8A"/>
            </a:solidFill>
            <a:prstDash val="solid"/>
          </a:ln>
        </p:spPr>
      </p:sp>
      <p:sp>
        <p:nvSpPr>
          <p:cNvPr id="8" name="Text 6"/>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200" dirty="0">
                <a:solidFill>
                  <a:srgbClr val="AFC0C8"/>
                </a:solidFill>
                <a:latin typeface="Arial" pitchFamily="34" charset="0"/>
                <a:ea typeface="Arial" pitchFamily="34" charset="-122"/>
                <a:cs typeface="Arial" pitchFamily="34" charset="-120"/>
              </a:rPr>
              <a:t>Démos : Démo-UrbanHub-Partie1.mp4 · Démo-UrbanHub-Partie2.mp4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UrbanHub</dc:title>
  <dc:subject>Projet Big Data Smart City</dc:subject>
  <dc:creator>PptxGenJS</dc:creator>
  <cp:lastModifiedBy>PptxGenJS</cp:lastModifiedBy>
  <cp:revision>1</cp:revision>
  <dcterms:created xsi:type="dcterms:W3CDTF">2026-10-21T16:26:34Z</dcterms:created>
  <dcterms:modified xsi:type="dcterms:W3CDTF">2026-10-21T16:26:34Z</dcterms:modified>
</cp:coreProperties>
</file>